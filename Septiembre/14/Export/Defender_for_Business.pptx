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377440"/>
            <a:ext cx="11064240" cy="1097280"/>
          </a:xfrm>
          <a:prstGeom prst="rect">
            <a:avLst/>
          </a:prstGeom>
          <a:noFill/>
          <a:ln/>
        </p:spPr>
        <p:txBody>
          <a:bodyPr wrap="square" rtlCol="0" anchor="ctr"/>
          <a:lstStyle/>
          <a:p>
            <a:pPr indent="0" marL="0">
              <a:buNone/>
            </a:pPr>
            <a:r>
              <a:rPr lang="en-US" sz="3600" b="1" dirty="0">
                <a:solidFill>
                  <a:srgbClr val="1F3864"/>
                </a:solidFill>
                <a:latin typeface="Arial" pitchFamily="34" charset="0"/>
                <a:ea typeface="Arial" pitchFamily="34" charset="-122"/>
                <a:cs typeface="Arial" pitchFamily="34" charset="-120"/>
              </a:rPr>
              <a:t>Microsoft Defender for Business</a:t>
            </a:r>
            <a:endParaRPr lang="en-US" sz="3600" dirty="0"/>
          </a:p>
        </p:txBody>
      </p:sp>
      <p:sp>
        <p:nvSpPr>
          <p:cNvPr id="3" name="Text 1"/>
          <p:cNvSpPr txBox="1"/>
          <p:nvPr/>
        </p:nvSpPr>
        <p:spPr>
          <a:xfrm>
            <a:off x="548640" y="3429000"/>
            <a:ext cx="11064240" cy="731520"/>
          </a:xfrm>
          <a:prstGeom prst="rect">
            <a:avLst/>
          </a:prstGeom>
          <a:noFill/>
          <a:ln/>
        </p:spPr>
        <p:txBody>
          <a:bodyPr wrap="square" rtlCol="0" anchor="ctr"/>
          <a:lstStyle/>
          <a:p>
            <a:pPr indent="0" marL="0">
              <a:buNone/>
            </a:pPr>
            <a:r>
              <a:rPr lang="en-US" sz="1800" dirty="0">
                <a:solidFill>
                  <a:srgbClr val="555555"/>
                </a:solidFill>
                <a:latin typeface="Arial" pitchFamily="34" charset="0"/>
                <a:ea typeface="Arial" pitchFamily="34" charset="-122"/>
                <a:cs typeface="Arial" pitchFamily="34" charset="-120"/>
              </a:rPr>
              <a:t>Qué compramos y cómo se implementa — Guía de referencia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rtlCol="0" anchor="ctr"/>
          <a:lstStyle/>
          <a:p>
            <a:pPr indent="0" marL="0">
              <a:buNone/>
            </a:pPr>
            <a:r>
              <a:rPr lang="en-US" sz="2600" b="1" dirty="0">
                <a:solidFill>
                  <a:srgbClr val="1F3864"/>
                </a:solidFill>
                <a:latin typeface="Arial" pitchFamily="34" charset="0"/>
                <a:ea typeface="Arial" pitchFamily="34" charset="-122"/>
                <a:cs typeface="Arial" pitchFamily="34" charset="-120"/>
              </a:rPr>
              <a:t>Agenda</a:t>
            </a:r>
            <a:endParaRPr lang="en-US" sz="2600" dirty="0"/>
          </a:p>
        </p:txBody>
      </p:sp>
      <p:sp>
        <p:nvSpPr>
          <p:cNvPr id="3" name="Text 1"/>
          <p:cNvSpPr txBox="1"/>
          <p:nvPr/>
        </p:nvSpPr>
        <p:spPr>
          <a:xfrm>
            <a:off x="731520" y="1280160"/>
            <a:ext cx="10515600" cy="5029200"/>
          </a:xfrm>
          <a:prstGeom prst="rect">
            <a:avLst/>
          </a:prstGeom>
          <a:noFill/>
          <a:ln/>
        </p:spPr>
        <p:txBody>
          <a:bodyPr wrap="square" rtlCol="0" anchor="ctr"/>
          <a:lstStyle/>
          <a:p>
            <a:pPr indent="0" marL="0">
              <a:spcAft>
                <a:spcPts val="1400"/>
              </a:spcAft>
              <a:buNone/>
            </a:pPr>
            <a:r>
              <a:rPr lang="en-US" sz="1800" dirty="0">
                <a:solidFill>
                  <a:srgbClr val="222222"/>
                </a:solidFill>
                <a:latin typeface="Arial" pitchFamily="34" charset="0"/>
                <a:ea typeface="Arial" pitchFamily="34" charset="-122"/>
                <a:cs typeface="Arial" pitchFamily="34" charset="-120"/>
              </a:rPr>
              <a:t>1. Qué es Microsoft Defender for Business (MDB)</a:t>
            </a:r>
            <a:endParaRPr lang="en-US" sz="1800" dirty="0"/>
          </a:p>
          <a:p>
            <a:pPr indent="0" marL="0">
              <a:spcAft>
                <a:spcPts val="1400"/>
              </a:spcAft>
              <a:buNone/>
            </a:pPr>
            <a:r>
              <a:rPr lang="en-US" sz="1800" dirty="0">
                <a:solidFill>
                  <a:srgbClr val="222222"/>
                </a:solidFill>
                <a:latin typeface="Arial" pitchFamily="34" charset="0"/>
                <a:ea typeface="Arial" pitchFamily="34" charset="-122"/>
                <a:cs typeface="Arial" pitchFamily="34" charset="-120"/>
              </a:rPr>
              <a:t>2. Diferencia entre Business Standard y Defender for Business</a:t>
            </a:r>
            <a:endParaRPr lang="en-US" sz="1800" dirty="0"/>
          </a:p>
          <a:p>
            <a:pPr indent="0" marL="0">
              <a:spcAft>
                <a:spcPts val="1400"/>
              </a:spcAft>
              <a:buNone/>
            </a:pPr>
            <a:r>
              <a:rPr lang="en-US" sz="1800" dirty="0">
                <a:solidFill>
                  <a:srgbClr val="222222"/>
                </a:solidFill>
                <a:latin typeface="Arial" pitchFamily="34" charset="0"/>
                <a:ea typeface="Arial" pitchFamily="34" charset="-122"/>
                <a:cs typeface="Arial" pitchFamily="34" charset="-120"/>
              </a:rPr>
              <a:t>3. ¿Se necesita Intune? El mito y la realidad</a:t>
            </a:r>
            <a:endParaRPr lang="en-US" sz="1800" dirty="0"/>
          </a:p>
          <a:p>
            <a:pPr indent="0" marL="0">
              <a:spcAft>
                <a:spcPts val="1400"/>
              </a:spcAft>
              <a:buNone/>
            </a:pPr>
            <a:r>
              <a:rPr lang="en-US" sz="1800" dirty="0">
                <a:solidFill>
                  <a:srgbClr val="222222"/>
                </a:solidFill>
                <a:latin typeface="Arial" pitchFamily="34" charset="0"/>
                <a:ea typeface="Arial" pitchFamily="34" charset="-122"/>
                <a:cs typeface="Arial" pitchFamily="34" charset="-120"/>
              </a:rPr>
              <a:t>4. Qué SÍ se puede hacer sin Intune (validado)</a:t>
            </a:r>
            <a:endParaRPr lang="en-US" sz="1800" dirty="0"/>
          </a:p>
          <a:p>
            <a:pPr indent="0" marL="0">
              <a:spcAft>
                <a:spcPts val="1400"/>
              </a:spcAft>
              <a:buNone/>
            </a:pPr>
            <a:r>
              <a:rPr lang="en-US" sz="1800" dirty="0">
                <a:solidFill>
                  <a:srgbClr val="222222"/>
                </a:solidFill>
                <a:latin typeface="Arial" pitchFamily="34" charset="0"/>
                <a:ea typeface="Arial" pitchFamily="34" charset="-122"/>
                <a:cs typeface="Arial" pitchFamily="34" charset="-120"/>
              </a:rPr>
              <a:t>5. El matiz de los dispositivos móviles</a:t>
            </a:r>
            <a:endParaRPr lang="en-US" sz="1800" dirty="0"/>
          </a:p>
          <a:p>
            <a:pPr indent="0" marL="0">
              <a:spcAft>
                <a:spcPts val="1400"/>
              </a:spcAft>
              <a:buNone/>
            </a:pPr>
            <a:r>
              <a:rPr lang="en-US" sz="1800" dirty="0">
                <a:solidFill>
                  <a:srgbClr val="222222"/>
                </a:solidFill>
                <a:latin typeface="Arial" pitchFamily="34" charset="0"/>
                <a:ea typeface="Arial" pitchFamily="34" charset="-122"/>
                <a:cs typeface="Arial" pitchFamily="34" charset="-120"/>
              </a:rPr>
              <a:t>6. Métodos de onboarding disponibles</a:t>
            </a:r>
            <a:endParaRPr lang="en-US" sz="1800" dirty="0"/>
          </a:p>
          <a:p>
            <a:pPr indent="0" marL="0">
              <a:spcAft>
                <a:spcPts val="1400"/>
              </a:spcAft>
              <a:buNone/>
            </a:pPr>
            <a:r>
              <a:rPr lang="en-US" sz="1800" dirty="0">
                <a:solidFill>
                  <a:srgbClr val="222222"/>
                </a:solidFill>
                <a:latin typeface="Arial" pitchFamily="34" charset="0"/>
                <a:ea typeface="Arial" pitchFamily="34" charset="-122"/>
                <a:cs typeface="Arial" pitchFamily="34" charset="-120"/>
              </a:rPr>
              <a:t>7. Cuándo sí conviene agregar Intune</a:t>
            </a:r>
            <a:endParaRPr lang="en-US" sz="1800" dirty="0"/>
          </a:p>
          <a:p>
            <a:pPr indent="0" marL="0">
              <a:spcAft>
                <a:spcPts val="1400"/>
              </a:spcAft>
              <a:buNone/>
            </a:pPr>
            <a:r>
              <a:rPr lang="en-US" sz="1800" dirty="0">
                <a:solidFill>
                  <a:srgbClr val="222222"/>
                </a:solidFill>
                <a:latin typeface="Arial" pitchFamily="34" charset="0"/>
                <a:ea typeface="Arial" pitchFamily="34" charset="-122"/>
                <a:cs typeface="Arial" pitchFamily="34" charset="-120"/>
              </a:rPr>
              <a:t>8. Recomendación para este cliente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rtlCol="0" anchor="ctr"/>
          <a:lstStyle/>
          <a:p>
            <a:pPr indent="0" marL="0">
              <a:buNone/>
            </a:pPr>
            <a:r>
              <a:rPr lang="en-US" sz="2600" b="1" dirty="0">
                <a:solidFill>
                  <a:srgbClr val="1F3864"/>
                </a:solidFill>
                <a:latin typeface="Arial" pitchFamily="34" charset="0"/>
                <a:ea typeface="Arial" pitchFamily="34" charset="-122"/>
                <a:cs typeface="Arial" pitchFamily="34" charset="-120"/>
              </a:rPr>
              <a:t>¿Qué es Microsoft Defender for Business?</a:t>
            </a:r>
            <a:endParaRPr lang="en-US" sz="2600" dirty="0"/>
          </a:p>
        </p:txBody>
      </p:sp>
      <p:sp>
        <p:nvSpPr>
          <p:cNvPr id="3" name="Text 1"/>
          <p:cNvSpPr txBox="1"/>
          <p:nvPr/>
        </p:nvSpPr>
        <p:spPr>
          <a:xfrm>
            <a:off x="548640" y="1188720"/>
            <a:ext cx="11064240" cy="1005840"/>
          </a:xfrm>
          <a:prstGeom prst="rect">
            <a:avLst/>
          </a:prstGeom>
          <a:noFill/>
          <a:ln/>
        </p:spPr>
        <p:txBody>
          <a:bodyPr wrap="square" rtlCol="0" anchor="ctr"/>
          <a:lstStyle/>
          <a:p>
            <a:pPr indent="0" marL="0">
              <a:buNone/>
            </a:pPr>
            <a:r>
              <a:rPr lang="en-US" sz="1600" dirty="0">
                <a:solidFill>
                  <a:srgbClr val="222222"/>
                </a:solidFill>
                <a:latin typeface="Arial" pitchFamily="34" charset="0"/>
                <a:ea typeface="Arial" pitchFamily="34" charset="-122"/>
                <a:cs typeface="Arial" pitchFamily="34" charset="-120"/>
              </a:rPr>
              <a:t>Es la solución de seguridad de endpoints para PyMEs (hasta 300 usuarios), incluida dentro de Microsoft 365 Business Premium, o disponible como licencia standalone (independiente) para quienes no tienen Business Premium.</a:t>
            </a:r>
            <a:endParaRPr lang="en-US" sz="1600" dirty="0"/>
          </a:p>
        </p:txBody>
      </p:sp>
      <p:sp>
        <p:nvSpPr>
          <p:cNvPr id="4" name="Text 2"/>
          <p:cNvSpPr txBox="1"/>
          <p:nvPr/>
        </p:nvSpPr>
        <p:spPr>
          <a:xfrm>
            <a:off x="731520" y="2377440"/>
            <a:ext cx="10515600" cy="457200"/>
          </a:xfrm>
          <a:prstGeom prst="rect">
            <a:avLst/>
          </a:prstGeom>
          <a:noFill/>
          <a:ln/>
        </p:spPr>
        <p:txBody>
          <a:bodyPr wrap="square" rtlCol="0" anchor="ctr"/>
          <a:lstStyle/>
          <a:p>
            <a:pPr indent="0" marL="0">
              <a:buNone/>
            </a:pPr>
            <a:r>
              <a:rPr lang="en-US" sz="1600" dirty="0">
                <a:solidFill>
                  <a:srgbClr val="222222"/>
                </a:solidFill>
                <a:latin typeface="Arial" pitchFamily="34" charset="0"/>
                <a:ea typeface="Arial" pitchFamily="34" charset="-122"/>
                <a:cs typeface="Arial" pitchFamily="34" charset="-120"/>
              </a:rPr>
              <a:t>•  Antivirus de nueva generación (NGAV)</a:t>
            </a:r>
            <a:endParaRPr lang="en-US" sz="1600" dirty="0"/>
          </a:p>
        </p:txBody>
      </p:sp>
      <p:sp>
        <p:nvSpPr>
          <p:cNvPr id="5" name="Text 3"/>
          <p:cNvSpPr txBox="1"/>
          <p:nvPr/>
        </p:nvSpPr>
        <p:spPr>
          <a:xfrm>
            <a:off x="731520" y="2944368"/>
            <a:ext cx="10515600" cy="457200"/>
          </a:xfrm>
          <a:prstGeom prst="rect">
            <a:avLst/>
          </a:prstGeom>
          <a:noFill/>
          <a:ln/>
        </p:spPr>
        <p:txBody>
          <a:bodyPr wrap="square" rtlCol="0" anchor="ctr"/>
          <a:lstStyle/>
          <a:p>
            <a:pPr indent="0" marL="0">
              <a:buNone/>
            </a:pPr>
            <a:r>
              <a:rPr lang="en-US" sz="1600" dirty="0">
                <a:solidFill>
                  <a:srgbClr val="222222"/>
                </a:solidFill>
                <a:latin typeface="Arial" pitchFamily="34" charset="0"/>
                <a:ea typeface="Arial" pitchFamily="34" charset="-122"/>
                <a:cs typeface="Arial" pitchFamily="34" charset="-120"/>
              </a:rPr>
              <a:t>•  Detección y respuesta de endpoints (EDR)</a:t>
            </a:r>
            <a:endParaRPr lang="en-US" sz="1600" dirty="0"/>
          </a:p>
        </p:txBody>
      </p:sp>
      <p:sp>
        <p:nvSpPr>
          <p:cNvPr id="6" name="Text 4"/>
          <p:cNvSpPr txBox="1"/>
          <p:nvPr/>
        </p:nvSpPr>
        <p:spPr>
          <a:xfrm>
            <a:off x="731520" y="3511296"/>
            <a:ext cx="10515600" cy="457200"/>
          </a:xfrm>
          <a:prstGeom prst="rect">
            <a:avLst/>
          </a:prstGeom>
          <a:noFill/>
          <a:ln/>
        </p:spPr>
        <p:txBody>
          <a:bodyPr wrap="square" rtlCol="0" anchor="ctr"/>
          <a:lstStyle/>
          <a:p>
            <a:pPr indent="0" marL="0">
              <a:buNone/>
            </a:pPr>
            <a:r>
              <a:rPr lang="en-US" sz="1600" dirty="0">
                <a:solidFill>
                  <a:srgbClr val="222222"/>
                </a:solidFill>
                <a:latin typeface="Arial" pitchFamily="34" charset="0"/>
                <a:ea typeface="Arial" pitchFamily="34" charset="-122"/>
                <a:cs typeface="Arial" pitchFamily="34" charset="-120"/>
              </a:rPr>
              <a:t>•  Investigación y remediación automatizada</a:t>
            </a:r>
            <a:endParaRPr lang="en-US" sz="1600" dirty="0"/>
          </a:p>
        </p:txBody>
      </p:sp>
      <p:sp>
        <p:nvSpPr>
          <p:cNvPr id="7" name="Text 5"/>
          <p:cNvSpPr txBox="1"/>
          <p:nvPr/>
        </p:nvSpPr>
        <p:spPr>
          <a:xfrm>
            <a:off x="731520" y="4078224"/>
            <a:ext cx="10515600" cy="457200"/>
          </a:xfrm>
          <a:prstGeom prst="rect">
            <a:avLst/>
          </a:prstGeom>
          <a:noFill/>
          <a:ln/>
        </p:spPr>
        <p:txBody>
          <a:bodyPr wrap="square" rtlCol="0" anchor="ctr"/>
          <a:lstStyle/>
          <a:p>
            <a:pPr indent="0" marL="0">
              <a:buNone/>
            </a:pPr>
            <a:r>
              <a:rPr lang="en-US" sz="1600" dirty="0">
                <a:solidFill>
                  <a:srgbClr val="222222"/>
                </a:solidFill>
                <a:latin typeface="Arial" pitchFamily="34" charset="0"/>
                <a:ea typeface="Arial" pitchFamily="34" charset="-122"/>
                <a:cs typeface="Arial" pitchFamily="34" charset="-120"/>
              </a:rPr>
              <a:t>•  Gestión de vulnerabilidades (TVM)</a:t>
            </a:r>
            <a:endParaRPr lang="en-US" sz="1600" dirty="0"/>
          </a:p>
        </p:txBody>
      </p:sp>
      <p:sp>
        <p:nvSpPr>
          <p:cNvPr id="8" name="Text 6"/>
          <p:cNvSpPr txBox="1"/>
          <p:nvPr/>
        </p:nvSpPr>
        <p:spPr>
          <a:xfrm>
            <a:off x="731520" y="4645152"/>
            <a:ext cx="10515600" cy="457200"/>
          </a:xfrm>
          <a:prstGeom prst="rect">
            <a:avLst/>
          </a:prstGeom>
          <a:noFill/>
          <a:ln/>
        </p:spPr>
        <p:txBody>
          <a:bodyPr wrap="square" rtlCol="0" anchor="ctr"/>
          <a:lstStyle/>
          <a:p>
            <a:pPr indent="0" marL="0">
              <a:buNone/>
            </a:pPr>
            <a:r>
              <a:rPr lang="en-US" sz="1600" dirty="0">
                <a:solidFill>
                  <a:srgbClr val="222222"/>
                </a:solidFill>
                <a:latin typeface="Arial" pitchFamily="34" charset="0"/>
                <a:ea typeface="Arial" pitchFamily="34" charset="-122"/>
                <a:cs typeface="Arial" pitchFamily="34" charset="-120"/>
              </a:rPr>
              <a:t>•  Firewall y reducción de superficie de ataque</a:t>
            </a:r>
            <a:endParaRPr lang="en-US" sz="1600" dirty="0"/>
          </a:p>
        </p:txBody>
      </p:sp>
      <p:sp>
        <p:nvSpPr>
          <p:cNvPr id="9" name="Text 7"/>
          <p:cNvSpPr txBox="1"/>
          <p:nvPr/>
        </p:nvSpPr>
        <p:spPr>
          <a:xfrm>
            <a:off x="731520" y="5212080"/>
            <a:ext cx="10515600" cy="457200"/>
          </a:xfrm>
          <a:prstGeom prst="rect">
            <a:avLst/>
          </a:prstGeom>
          <a:noFill/>
          <a:ln/>
        </p:spPr>
        <p:txBody>
          <a:bodyPr wrap="square" rtlCol="0" anchor="ctr"/>
          <a:lstStyle/>
          <a:p>
            <a:pPr indent="0" marL="0">
              <a:buNone/>
            </a:pPr>
            <a:r>
              <a:rPr lang="en-US" sz="1600" dirty="0">
                <a:solidFill>
                  <a:srgbClr val="222222"/>
                </a:solidFill>
                <a:latin typeface="Arial" pitchFamily="34" charset="0"/>
                <a:ea typeface="Arial" pitchFamily="34" charset="-122"/>
                <a:cs typeface="Arial" pitchFamily="34" charset="-120"/>
              </a:rPr>
              <a:t>•  Portal de seguridad unificado (security.microsoft.com)</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rtlCol="0" anchor="ctr"/>
          <a:lstStyle/>
          <a:p>
            <a:pPr indent="0" marL="0">
              <a:buNone/>
            </a:pPr>
            <a:r>
              <a:rPr lang="en-US" sz="2600" b="1" dirty="0">
                <a:solidFill>
                  <a:srgbClr val="1F3864"/>
                </a:solidFill>
                <a:latin typeface="Arial" pitchFamily="34" charset="0"/>
                <a:ea typeface="Arial" pitchFamily="34" charset="-122"/>
                <a:cs typeface="Arial" pitchFamily="34" charset="-120"/>
              </a:rPr>
              <a:t>Business Standard vs. Defender for Business</a:t>
            </a:r>
            <a:endParaRPr lang="en-US" sz="2600" dirty="0"/>
          </a:p>
        </p:txBody>
      </p:sp>
      <p:sp>
        <p:nvSpPr>
          <p:cNvPr id="3" name="Text 1"/>
          <p:cNvSpPr txBox="1"/>
          <p:nvPr/>
        </p:nvSpPr>
        <p:spPr>
          <a:xfrm>
            <a:off x="548640" y="1097280"/>
            <a:ext cx="11064240" cy="457200"/>
          </a:xfrm>
          <a:prstGeom prst="rect">
            <a:avLst/>
          </a:prstGeom>
          <a:noFill/>
          <a:ln/>
        </p:spPr>
        <p:txBody>
          <a:bodyPr wrap="square" rtlCol="0" anchor="ctr"/>
          <a:lstStyle/>
          <a:p>
            <a:pPr indent="0" marL="0">
              <a:buNone/>
            </a:pPr>
            <a:r>
              <a:rPr lang="en-US" sz="1600" i="1" dirty="0">
                <a:solidFill>
                  <a:srgbClr val="555555"/>
                </a:solidFill>
                <a:latin typeface="Arial" pitchFamily="34" charset="0"/>
                <a:ea typeface="Arial" pitchFamily="34" charset="-122"/>
                <a:cs typeface="Arial" pitchFamily="34" charset="-120"/>
              </a:rPr>
              <a:t>No son lo mismo — son complementarios.</a:t>
            </a:r>
            <a:endParaRPr lang="en-US" sz="1600" dirty="0"/>
          </a:p>
        </p:txBody>
      </p:sp>
      <p:sp>
        <p:nvSpPr>
          <p:cNvPr id="4" name="Shape 2"/>
          <p:cNvSpPr/>
          <p:nvPr/>
        </p:nvSpPr>
        <p:spPr>
          <a:xfrm>
            <a:off x="548640" y="1737360"/>
            <a:ext cx="5212080" cy="4206240"/>
          </a:xfrm>
          <a:prstGeom prst="roundRect">
            <a:avLst>
              <a:gd name="adj" fmla="val 1739"/>
            </a:avLst>
          </a:prstGeom>
          <a:solidFill>
            <a:srgbClr val="F4F6F8"/>
          </a:solidFill>
          <a:ln w="12700">
            <a:solidFill>
              <a:srgbClr val="F4F6F8"/>
            </a:solidFill>
            <a:prstDash val="solid"/>
          </a:ln>
        </p:spPr>
      </p:sp>
      <p:sp>
        <p:nvSpPr>
          <p:cNvPr id="5" name="Text 3"/>
          <p:cNvSpPr txBox="1"/>
          <p:nvPr/>
        </p:nvSpPr>
        <p:spPr>
          <a:xfrm>
            <a:off x="822960" y="2011680"/>
            <a:ext cx="4663440" cy="457200"/>
          </a:xfrm>
          <a:prstGeom prst="rect">
            <a:avLst/>
          </a:prstGeom>
          <a:noFill/>
          <a:ln/>
        </p:spPr>
        <p:txBody>
          <a:bodyPr wrap="square" rtlCol="0" anchor="ctr"/>
          <a:lstStyle/>
          <a:p>
            <a:pPr indent="0" marL="0">
              <a:buNone/>
            </a:pPr>
            <a:r>
              <a:rPr lang="en-US" sz="1800" b="1" dirty="0">
                <a:solidFill>
                  <a:srgbClr val="1F3864"/>
                </a:solidFill>
                <a:latin typeface="Arial" pitchFamily="34" charset="0"/>
                <a:ea typeface="Arial" pitchFamily="34" charset="-122"/>
                <a:cs typeface="Arial" pitchFamily="34" charset="-120"/>
              </a:rPr>
              <a:t>Microsoft 365 Business Standard</a:t>
            </a:r>
            <a:endParaRPr lang="en-US" sz="1800" dirty="0"/>
          </a:p>
        </p:txBody>
      </p:sp>
      <p:sp>
        <p:nvSpPr>
          <p:cNvPr id="6" name="Text 4"/>
          <p:cNvSpPr txBox="1"/>
          <p:nvPr/>
        </p:nvSpPr>
        <p:spPr>
          <a:xfrm>
            <a:off x="822960" y="2560320"/>
            <a:ext cx="4663440" cy="3108960"/>
          </a:xfrm>
          <a:prstGeom prst="rect">
            <a:avLst/>
          </a:prstGeom>
          <a:noFill/>
          <a:ln/>
        </p:spPr>
        <p:txBody>
          <a:bodyPr wrap="square" rtlCol="0" anchor="ctr"/>
          <a:lstStyle/>
          <a:p>
            <a:pPr marL="342900" indent="-342900">
              <a:spcAft>
                <a:spcPts val="1000"/>
              </a:spcAft>
              <a:buSzPct val="100000"/>
              <a:buChar char="•"/>
            </a:pPr>
            <a:r>
              <a:rPr lang="en-US" sz="1400" dirty="0">
                <a:solidFill>
                  <a:srgbClr val="222222"/>
                </a:solidFill>
                <a:latin typeface="Arial" pitchFamily="34" charset="0"/>
                <a:ea typeface="Arial" pitchFamily="34" charset="-122"/>
                <a:cs typeface="Arial" pitchFamily="34" charset="-120"/>
              </a:rPr>
              <a:t>Correo electrónico (Exchange Online)</a:t>
            </a:r>
            <a:endParaRPr lang="en-US" sz="1400" dirty="0"/>
          </a:p>
          <a:p>
            <a:pPr marL="342900" indent="-342900">
              <a:spcAft>
                <a:spcPts val="1000"/>
              </a:spcAft>
              <a:buSzPct val="100000"/>
              <a:buChar char="•"/>
            </a:pPr>
            <a:r>
              <a:rPr lang="en-US" sz="1400" dirty="0">
                <a:solidFill>
                  <a:srgbClr val="222222"/>
                </a:solidFill>
                <a:latin typeface="Arial" pitchFamily="34" charset="0"/>
                <a:ea typeface="Arial" pitchFamily="34" charset="-122"/>
                <a:cs typeface="Arial" pitchFamily="34" charset="-120"/>
              </a:rPr>
              <a:t>Office / apps de productividad (Word, Excel, PowerPoint)</a:t>
            </a:r>
            <a:endParaRPr lang="en-US" sz="1400" dirty="0"/>
          </a:p>
          <a:p>
            <a:pPr marL="342900" indent="-342900">
              <a:spcAft>
                <a:spcPts val="1000"/>
              </a:spcAft>
              <a:buSzPct val="100000"/>
              <a:buChar char="•"/>
            </a:pPr>
            <a:r>
              <a:rPr lang="en-US" sz="1400" dirty="0">
                <a:solidFill>
                  <a:srgbClr val="222222"/>
                </a:solidFill>
                <a:latin typeface="Arial" pitchFamily="34" charset="0"/>
                <a:ea typeface="Arial" pitchFamily="34" charset="-122"/>
                <a:cs typeface="Arial" pitchFamily="34" charset="-120"/>
              </a:rPr>
              <a:t>Teams, SharePoint, OneDrive</a:t>
            </a:r>
            <a:endParaRPr lang="en-US" sz="1400" dirty="0"/>
          </a:p>
          <a:p>
            <a:pPr marL="342900" indent="-342900">
              <a:spcAft>
                <a:spcPts val="1000"/>
              </a:spcAft>
              <a:buSzPct val="100000"/>
              <a:buChar char="•"/>
            </a:pPr>
            <a:r>
              <a:rPr lang="en-US" sz="1400" dirty="0">
                <a:solidFill>
                  <a:srgbClr val="222222"/>
                </a:solidFill>
                <a:latin typeface="Arial" pitchFamily="34" charset="0"/>
                <a:ea typeface="Arial" pitchFamily="34" charset="-122"/>
                <a:cs typeface="Arial" pitchFamily="34" charset="-120"/>
              </a:rPr>
              <a:t>NO incluye protección de endpoints (antivirus/EDR)</a:t>
            </a:r>
            <a:endParaRPr lang="en-US" sz="1400" dirty="0"/>
          </a:p>
        </p:txBody>
      </p:sp>
      <p:sp>
        <p:nvSpPr>
          <p:cNvPr id="7" name="Shape 5"/>
          <p:cNvSpPr/>
          <p:nvPr/>
        </p:nvSpPr>
        <p:spPr>
          <a:xfrm>
            <a:off x="6309360" y="1737360"/>
            <a:ext cx="5212080" cy="4206240"/>
          </a:xfrm>
          <a:prstGeom prst="roundRect">
            <a:avLst>
              <a:gd name="adj" fmla="val 1739"/>
            </a:avLst>
          </a:prstGeom>
          <a:solidFill>
            <a:srgbClr val="F4F6F8"/>
          </a:solidFill>
          <a:ln w="12700">
            <a:solidFill>
              <a:srgbClr val="F4F6F8"/>
            </a:solidFill>
            <a:prstDash val="solid"/>
          </a:ln>
        </p:spPr>
      </p:sp>
      <p:sp>
        <p:nvSpPr>
          <p:cNvPr id="8" name="Text 6"/>
          <p:cNvSpPr txBox="1"/>
          <p:nvPr/>
        </p:nvSpPr>
        <p:spPr>
          <a:xfrm>
            <a:off x="6583680" y="2011680"/>
            <a:ext cx="4663440" cy="457200"/>
          </a:xfrm>
          <a:prstGeom prst="rect">
            <a:avLst/>
          </a:prstGeom>
          <a:noFill/>
          <a:ln/>
        </p:spPr>
        <p:txBody>
          <a:bodyPr wrap="square" rtlCol="0" anchor="ctr"/>
          <a:lstStyle/>
          <a:p>
            <a:pPr indent="0" marL="0">
              <a:buNone/>
            </a:pPr>
            <a:r>
              <a:rPr lang="en-US" sz="1800" b="1" dirty="0">
                <a:solidFill>
                  <a:srgbClr val="1F3864"/>
                </a:solidFill>
                <a:latin typeface="Arial" pitchFamily="34" charset="0"/>
                <a:ea typeface="Arial" pitchFamily="34" charset="-122"/>
                <a:cs typeface="Arial" pitchFamily="34" charset="-120"/>
              </a:rPr>
              <a:t>Defender for Business</a:t>
            </a:r>
            <a:endParaRPr lang="en-US" sz="1800" dirty="0"/>
          </a:p>
        </p:txBody>
      </p:sp>
      <p:sp>
        <p:nvSpPr>
          <p:cNvPr id="9" name="Text 7"/>
          <p:cNvSpPr txBox="1"/>
          <p:nvPr/>
        </p:nvSpPr>
        <p:spPr>
          <a:xfrm>
            <a:off x="6583680" y="2560320"/>
            <a:ext cx="4663440" cy="3108960"/>
          </a:xfrm>
          <a:prstGeom prst="rect">
            <a:avLst/>
          </a:prstGeom>
          <a:noFill/>
          <a:ln/>
        </p:spPr>
        <p:txBody>
          <a:bodyPr wrap="square" rtlCol="0" anchor="ctr"/>
          <a:lstStyle/>
          <a:p>
            <a:pPr marL="342900" indent="-342900">
              <a:spcAft>
                <a:spcPts val="1000"/>
              </a:spcAft>
              <a:buSzPct val="100000"/>
              <a:buChar char="•"/>
            </a:pPr>
            <a:r>
              <a:rPr lang="en-US" sz="1400" dirty="0">
                <a:solidFill>
                  <a:srgbClr val="222222"/>
                </a:solidFill>
                <a:latin typeface="Arial" pitchFamily="34" charset="0"/>
                <a:ea typeface="Arial" pitchFamily="34" charset="-122"/>
                <a:cs typeface="Arial" pitchFamily="34" charset="-120"/>
              </a:rPr>
              <a:t>Protección de endpoints (Windows, macOS, iOS, Android)</a:t>
            </a:r>
            <a:endParaRPr lang="en-US" sz="1400" dirty="0"/>
          </a:p>
          <a:p>
            <a:pPr marL="342900" indent="-342900">
              <a:spcAft>
                <a:spcPts val="1000"/>
              </a:spcAft>
              <a:buSzPct val="100000"/>
              <a:buChar char="•"/>
            </a:pPr>
            <a:r>
              <a:rPr lang="en-US" sz="1400" dirty="0">
                <a:solidFill>
                  <a:srgbClr val="222222"/>
                </a:solidFill>
                <a:latin typeface="Arial" pitchFamily="34" charset="0"/>
                <a:ea typeface="Arial" pitchFamily="34" charset="-122"/>
                <a:cs typeface="Arial" pitchFamily="34" charset="-120"/>
              </a:rPr>
              <a:t>Antivirus de nueva generación + EDR</a:t>
            </a:r>
            <a:endParaRPr lang="en-US" sz="1400" dirty="0"/>
          </a:p>
          <a:p>
            <a:pPr marL="342900" indent="-342900">
              <a:spcAft>
                <a:spcPts val="1000"/>
              </a:spcAft>
              <a:buSzPct val="100000"/>
              <a:buChar char="•"/>
            </a:pPr>
            <a:r>
              <a:rPr lang="en-US" sz="1400" dirty="0">
                <a:solidFill>
                  <a:srgbClr val="222222"/>
                </a:solidFill>
                <a:latin typeface="Arial" pitchFamily="34" charset="0"/>
                <a:ea typeface="Arial" pitchFamily="34" charset="-122"/>
                <a:cs typeface="Arial" pitchFamily="34" charset="-120"/>
              </a:rPr>
              <a:t>Gestión de vulnerabilidades</a:t>
            </a:r>
            <a:endParaRPr lang="en-US" sz="1400" dirty="0"/>
          </a:p>
          <a:p>
            <a:pPr marL="342900" indent="-342900">
              <a:spcAft>
                <a:spcPts val="1000"/>
              </a:spcAft>
              <a:buSzPct val="100000"/>
              <a:buChar char="•"/>
            </a:pPr>
            <a:r>
              <a:rPr lang="en-US" sz="1400" dirty="0">
                <a:solidFill>
                  <a:srgbClr val="222222"/>
                </a:solidFill>
                <a:latin typeface="Arial" pitchFamily="34" charset="0"/>
                <a:ea typeface="Arial" pitchFamily="34" charset="-122"/>
                <a:cs typeface="Arial" pitchFamily="34" charset="-120"/>
              </a:rPr>
              <a:t>NO incluye correo, Office ni licencias de productividad</a:t>
            </a:r>
            <a:endParaRPr lang="en-US" sz="1400" dirty="0"/>
          </a:p>
        </p:txBody>
      </p:sp>
      <p:sp>
        <p:nvSpPr>
          <p:cNvPr id="10" name="Text 8"/>
          <p:cNvSpPr txBox="1"/>
          <p:nvPr/>
        </p:nvSpPr>
        <p:spPr>
          <a:xfrm>
            <a:off x="548640" y="6126480"/>
            <a:ext cx="11064240" cy="548640"/>
          </a:xfrm>
          <a:prstGeom prst="rect">
            <a:avLst/>
          </a:prstGeom>
          <a:noFill/>
          <a:ln/>
        </p:spPr>
        <p:txBody>
          <a:bodyPr wrap="square" rtlCol="0" anchor="ctr"/>
          <a:lstStyle/>
          <a:p>
            <a:pPr indent="0" marL="0">
              <a:buNone/>
            </a:pPr>
            <a:r>
              <a:rPr lang="en-US" sz="1300" i="1" dirty="0">
                <a:solidFill>
                  <a:srgbClr val="555555"/>
                </a:solidFill>
                <a:latin typeface="Arial" pitchFamily="34" charset="0"/>
                <a:ea typeface="Arial" pitchFamily="34" charset="-122"/>
                <a:cs typeface="Arial" pitchFamily="34" charset="-120"/>
              </a:rPr>
              <a:t>El cliente adquirió ambas licencias por separado para cubrir productividad + seguridad, sin pagar por Business Premium completo.</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rtlCol="0" anchor="ctr"/>
          <a:lstStyle/>
          <a:p>
            <a:pPr indent="0" marL="0">
              <a:buNone/>
            </a:pPr>
            <a:r>
              <a:rPr lang="en-US" sz="2600" b="1" dirty="0">
                <a:solidFill>
                  <a:srgbClr val="1F3864"/>
                </a:solidFill>
                <a:latin typeface="Arial" pitchFamily="34" charset="0"/>
                <a:ea typeface="Arial" pitchFamily="34" charset="-122"/>
                <a:cs typeface="Arial" pitchFamily="34" charset="-120"/>
              </a:rPr>
              <a:t>¿Se necesita Intune obligatoriamente?</a:t>
            </a:r>
            <a:endParaRPr lang="en-US" sz="2600" dirty="0"/>
          </a:p>
        </p:txBody>
      </p:sp>
      <p:sp>
        <p:nvSpPr>
          <p:cNvPr id="3" name="Text 1"/>
          <p:cNvSpPr txBox="1"/>
          <p:nvPr/>
        </p:nvSpPr>
        <p:spPr>
          <a:xfrm>
            <a:off x="548640" y="1188720"/>
            <a:ext cx="11064240" cy="548640"/>
          </a:xfrm>
          <a:prstGeom prst="rect">
            <a:avLst/>
          </a:prstGeom>
          <a:noFill/>
          <a:ln/>
        </p:spPr>
        <p:txBody>
          <a:bodyPr wrap="square" rtlCol="0" anchor="ctr"/>
          <a:lstStyle/>
          <a:p>
            <a:pPr indent="0" marL="0">
              <a:buNone/>
            </a:pPr>
            <a:r>
              <a:rPr lang="en-US" sz="2000" b="1" dirty="0">
                <a:solidFill>
                  <a:srgbClr val="2E7D32"/>
                </a:solidFill>
                <a:latin typeface="Arial" pitchFamily="34" charset="0"/>
                <a:ea typeface="Arial" pitchFamily="34" charset="-122"/>
                <a:cs typeface="Arial" pitchFamily="34" charset="-120"/>
              </a:rPr>
              <a:t>Respuesta corta: NO es obligatorio para la protección básica.</a:t>
            </a:r>
            <a:endParaRPr lang="en-US" sz="2000" dirty="0"/>
          </a:p>
        </p:txBody>
      </p:sp>
      <p:sp>
        <p:nvSpPr>
          <p:cNvPr id="4" name="Text 2"/>
          <p:cNvSpPr txBox="1"/>
          <p:nvPr/>
        </p:nvSpPr>
        <p:spPr>
          <a:xfrm>
            <a:off x="548640" y="1920240"/>
            <a:ext cx="11064240" cy="1188720"/>
          </a:xfrm>
          <a:prstGeom prst="rect">
            <a:avLst/>
          </a:prstGeom>
          <a:noFill/>
          <a:ln/>
        </p:spPr>
        <p:txBody>
          <a:bodyPr wrap="square" rtlCol="0" anchor="ctr"/>
          <a:lstStyle/>
          <a:p>
            <a:pPr indent="0" marL="0">
              <a:buNone/>
            </a:pPr>
            <a:r>
              <a:rPr lang="en-US" sz="1600" dirty="0">
                <a:solidFill>
                  <a:srgbClr val="222222"/>
                </a:solidFill>
                <a:latin typeface="Arial" pitchFamily="34" charset="0"/>
                <a:ea typeface="Arial" pitchFamily="34" charset="-122"/>
                <a:cs typeface="Arial" pitchFamily="34" charset="-120"/>
              </a:rPr>
              <a:t>Existe confusión porque el proceso de onboarding usa por debajo una versión reducida de Intune, incluso cuando el cliente nunca abre esa consola. Esto genera la idea equivocada de que 'se necesita Intune' como producto separado que hay que comprar y administrar.</a:t>
            </a:r>
            <a:endParaRPr lang="en-US" sz="1600" dirty="0"/>
          </a:p>
        </p:txBody>
      </p:sp>
      <p:sp>
        <p:nvSpPr>
          <p:cNvPr id="5" name="Text 3"/>
          <p:cNvSpPr txBox="1"/>
          <p:nvPr/>
        </p:nvSpPr>
        <p:spPr>
          <a:xfrm>
            <a:off x="548640" y="3291840"/>
            <a:ext cx="11064240" cy="1463040"/>
          </a:xfrm>
          <a:prstGeom prst="rect">
            <a:avLst/>
          </a:prstGeom>
          <a:noFill/>
          <a:ln/>
        </p:spPr>
        <p:txBody>
          <a:bodyPr wrap="square" rtlCol="0" anchor="ctr"/>
          <a:lstStyle/>
          <a:p>
            <a:pPr indent="0" marL="0">
              <a:buNone/>
            </a:pPr>
            <a:r>
              <a:rPr lang="en-US" sz="1500" i="1" dirty="0">
                <a:solidFill>
                  <a:srgbClr val="222222"/>
                </a:solidFill>
                <a:latin typeface="Arial" pitchFamily="34" charset="0"/>
                <a:ea typeface="Arial" pitchFamily="34" charset="-122"/>
                <a:cs typeface="Arial" pitchFamily="34" charset="-120"/>
              </a:rPr>
              <a:t>Dato técnico clave: cuando se corre el script de onboarding en un dispositivo, este crea una relación de confianza con Microsoft Entra ID (si no existe) e inscribe el dispositivo en Microsoft Intune (si no está inscrito ya), y después lo da de alta en Defender for Business. Esto ocurre en automático, como parte del método recomendado, sin que el admin gestione Intune manualmente.</a:t>
            </a:r>
            <a:endParaRPr lang="en-US" sz="1500" dirty="0"/>
          </a:p>
        </p:txBody>
      </p:sp>
      <p:sp>
        <p:nvSpPr>
          <p:cNvPr id="6" name="Text 4"/>
          <p:cNvSpPr txBox="1"/>
          <p:nvPr/>
        </p:nvSpPr>
        <p:spPr>
          <a:xfrm>
            <a:off x="548640" y="5029200"/>
            <a:ext cx="11064240" cy="914400"/>
          </a:xfrm>
          <a:prstGeom prst="rect">
            <a:avLst/>
          </a:prstGeom>
          <a:noFill/>
          <a:ln/>
        </p:spPr>
        <p:txBody>
          <a:bodyPr wrap="square" rtlCol="0" anchor="ctr"/>
          <a:lstStyle/>
          <a:p>
            <a:pPr indent="0" marL="0">
              <a:buNone/>
            </a:pPr>
            <a:r>
              <a:rPr lang="en-US" sz="1500" b="1" dirty="0">
                <a:solidFill>
                  <a:srgbClr val="222222"/>
                </a:solidFill>
                <a:latin typeface="Arial" pitchFamily="34" charset="0"/>
                <a:ea typeface="Arial" pitchFamily="34" charset="-122"/>
                <a:cs typeface="Arial" pitchFamily="34" charset="-120"/>
              </a:rPr>
              <a:t>Si el cliente no está usando Intune, el método de script local es el método de onboarding recomendado para clientes de Defender for Business.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rtlCol="0" anchor="ctr"/>
          <a:lstStyle/>
          <a:p>
            <a:pPr indent="0" marL="0">
              <a:buNone/>
            </a:pPr>
            <a:r>
              <a:rPr lang="en-US" sz="2600" b="1" dirty="0">
                <a:solidFill>
                  <a:srgbClr val="1F3864"/>
                </a:solidFill>
                <a:latin typeface="Arial" pitchFamily="34" charset="0"/>
                <a:ea typeface="Arial" pitchFamily="34" charset="-122"/>
                <a:cs typeface="Arial" pitchFamily="34" charset="-120"/>
              </a:rPr>
              <a:t>Qué SÍ se puede hacer sin Intune (Windows y macOS)</a:t>
            </a:r>
            <a:endParaRPr lang="en-US" sz="2600" dirty="0"/>
          </a:p>
        </p:txBody>
      </p:sp>
      <p:sp>
        <p:nvSpPr>
          <p:cNvPr id="3" name="Text 1"/>
          <p:cNvSpPr txBox="1"/>
          <p:nvPr/>
        </p:nvSpPr>
        <p:spPr>
          <a:xfrm>
            <a:off x="548640" y="1280160"/>
            <a:ext cx="8686800" cy="502920"/>
          </a:xfrm>
          <a:prstGeom prst="rect">
            <a:avLst/>
          </a:prstGeom>
          <a:noFill/>
          <a:ln/>
        </p:spPr>
        <p:txBody>
          <a:bodyPr wrap="square" rtlCol="0" anchor="ctr"/>
          <a:lstStyle/>
          <a:p>
            <a:pPr indent="0" marL="0">
              <a:buNone/>
            </a:pPr>
            <a:r>
              <a:rPr lang="en-US" sz="1500" dirty="0">
                <a:solidFill>
                  <a:srgbClr val="222222"/>
                </a:solidFill>
                <a:latin typeface="Arial" pitchFamily="34" charset="0"/>
                <a:ea typeface="Arial" pitchFamily="34" charset="-122"/>
                <a:cs typeface="Arial" pitchFamily="34" charset="-120"/>
              </a:rPr>
              <a:t>NGAV (antivirus de nueva generación)</a:t>
            </a:r>
            <a:endParaRPr lang="en-US" sz="1500" dirty="0"/>
          </a:p>
        </p:txBody>
      </p:sp>
      <p:sp>
        <p:nvSpPr>
          <p:cNvPr id="4" name="Text 2"/>
          <p:cNvSpPr txBox="1"/>
          <p:nvPr/>
        </p:nvSpPr>
        <p:spPr>
          <a:xfrm>
            <a:off x="9418320" y="1280160"/>
            <a:ext cx="2194560" cy="502920"/>
          </a:xfrm>
          <a:prstGeom prst="rect">
            <a:avLst/>
          </a:prstGeom>
          <a:noFill/>
          <a:ln/>
        </p:spPr>
        <p:txBody>
          <a:bodyPr wrap="square" rtlCol="0" anchor="ctr"/>
          <a:lstStyle/>
          <a:p>
            <a:pPr indent="0" marL="0">
              <a:buNone/>
            </a:pPr>
            <a:r>
              <a:rPr lang="en-US" sz="1500" b="1" dirty="0">
                <a:solidFill>
                  <a:srgbClr val="2E7D32"/>
                </a:solidFill>
                <a:latin typeface="Arial" pitchFamily="34" charset="0"/>
                <a:ea typeface="Arial" pitchFamily="34" charset="-122"/>
                <a:cs typeface="Arial" pitchFamily="34" charset="-120"/>
              </a:rPr>
              <a:t>Sí</a:t>
            </a:r>
            <a:endParaRPr lang="en-US" sz="1500" dirty="0"/>
          </a:p>
        </p:txBody>
      </p:sp>
      <p:sp>
        <p:nvSpPr>
          <p:cNvPr id="5" name="Text 3"/>
          <p:cNvSpPr txBox="1"/>
          <p:nvPr/>
        </p:nvSpPr>
        <p:spPr>
          <a:xfrm>
            <a:off x="548640" y="1883664"/>
            <a:ext cx="8686800" cy="502920"/>
          </a:xfrm>
          <a:prstGeom prst="rect">
            <a:avLst/>
          </a:prstGeom>
          <a:noFill/>
          <a:ln/>
        </p:spPr>
        <p:txBody>
          <a:bodyPr wrap="square" rtlCol="0" anchor="ctr"/>
          <a:lstStyle/>
          <a:p>
            <a:pPr indent="0" marL="0">
              <a:buNone/>
            </a:pPr>
            <a:r>
              <a:rPr lang="en-US" sz="1500" dirty="0">
                <a:solidFill>
                  <a:srgbClr val="222222"/>
                </a:solidFill>
                <a:latin typeface="Arial" pitchFamily="34" charset="0"/>
                <a:ea typeface="Arial" pitchFamily="34" charset="-122"/>
                <a:cs typeface="Arial" pitchFamily="34" charset="-120"/>
              </a:rPr>
              <a:t>EDR (detección y respuesta)</a:t>
            </a:r>
            <a:endParaRPr lang="en-US" sz="1500" dirty="0"/>
          </a:p>
        </p:txBody>
      </p:sp>
      <p:sp>
        <p:nvSpPr>
          <p:cNvPr id="6" name="Text 4"/>
          <p:cNvSpPr txBox="1"/>
          <p:nvPr/>
        </p:nvSpPr>
        <p:spPr>
          <a:xfrm>
            <a:off x="9418320" y="1883664"/>
            <a:ext cx="2194560" cy="502920"/>
          </a:xfrm>
          <a:prstGeom prst="rect">
            <a:avLst/>
          </a:prstGeom>
          <a:noFill/>
          <a:ln/>
        </p:spPr>
        <p:txBody>
          <a:bodyPr wrap="square" rtlCol="0" anchor="ctr"/>
          <a:lstStyle/>
          <a:p>
            <a:pPr indent="0" marL="0">
              <a:buNone/>
            </a:pPr>
            <a:r>
              <a:rPr lang="en-US" sz="1500" b="1" dirty="0">
                <a:solidFill>
                  <a:srgbClr val="2E7D32"/>
                </a:solidFill>
                <a:latin typeface="Arial" pitchFamily="34" charset="0"/>
                <a:ea typeface="Arial" pitchFamily="34" charset="-122"/>
                <a:cs typeface="Arial" pitchFamily="34" charset="-120"/>
              </a:rPr>
              <a:t>Sí</a:t>
            </a:r>
            <a:endParaRPr lang="en-US" sz="1500" dirty="0"/>
          </a:p>
        </p:txBody>
      </p:sp>
      <p:sp>
        <p:nvSpPr>
          <p:cNvPr id="7" name="Text 5"/>
          <p:cNvSpPr txBox="1"/>
          <p:nvPr/>
        </p:nvSpPr>
        <p:spPr>
          <a:xfrm>
            <a:off x="548640" y="2487168"/>
            <a:ext cx="8686800" cy="502920"/>
          </a:xfrm>
          <a:prstGeom prst="rect">
            <a:avLst/>
          </a:prstGeom>
          <a:noFill/>
          <a:ln/>
        </p:spPr>
        <p:txBody>
          <a:bodyPr wrap="square" rtlCol="0" anchor="ctr"/>
          <a:lstStyle/>
          <a:p>
            <a:pPr indent="0" marL="0">
              <a:buNone/>
            </a:pPr>
            <a:r>
              <a:rPr lang="en-US" sz="1500" dirty="0">
                <a:solidFill>
                  <a:srgbClr val="222222"/>
                </a:solidFill>
                <a:latin typeface="Arial" pitchFamily="34" charset="0"/>
                <a:ea typeface="Arial" pitchFamily="34" charset="-122"/>
                <a:cs typeface="Arial" pitchFamily="34" charset="-120"/>
              </a:rPr>
              <a:t>Investigación y remediación automatizada</a:t>
            </a:r>
            <a:endParaRPr lang="en-US" sz="1500" dirty="0"/>
          </a:p>
        </p:txBody>
      </p:sp>
      <p:sp>
        <p:nvSpPr>
          <p:cNvPr id="8" name="Text 6"/>
          <p:cNvSpPr txBox="1"/>
          <p:nvPr/>
        </p:nvSpPr>
        <p:spPr>
          <a:xfrm>
            <a:off x="9418320" y="2487168"/>
            <a:ext cx="2194560" cy="502920"/>
          </a:xfrm>
          <a:prstGeom prst="rect">
            <a:avLst/>
          </a:prstGeom>
          <a:noFill/>
          <a:ln/>
        </p:spPr>
        <p:txBody>
          <a:bodyPr wrap="square" rtlCol="0" anchor="ctr"/>
          <a:lstStyle/>
          <a:p>
            <a:pPr indent="0" marL="0">
              <a:buNone/>
            </a:pPr>
            <a:r>
              <a:rPr lang="en-US" sz="1500" b="1" dirty="0">
                <a:solidFill>
                  <a:srgbClr val="2E7D32"/>
                </a:solidFill>
                <a:latin typeface="Arial" pitchFamily="34" charset="0"/>
                <a:ea typeface="Arial" pitchFamily="34" charset="-122"/>
                <a:cs typeface="Arial" pitchFamily="34" charset="-120"/>
              </a:rPr>
              <a:t>Sí</a:t>
            </a:r>
            <a:endParaRPr lang="en-US" sz="1500" dirty="0"/>
          </a:p>
        </p:txBody>
      </p:sp>
      <p:sp>
        <p:nvSpPr>
          <p:cNvPr id="9" name="Text 7"/>
          <p:cNvSpPr txBox="1"/>
          <p:nvPr/>
        </p:nvSpPr>
        <p:spPr>
          <a:xfrm>
            <a:off x="548640" y="3090672"/>
            <a:ext cx="8686800" cy="502920"/>
          </a:xfrm>
          <a:prstGeom prst="rect">
            <a:avLst/>
          </a:prstGeom>
          <a:noFill/>
          <a:ln/>
        </p:spPr>
        <p:txBody>
          <a:bodyPr wrap="square" rtlCol="0" anchor="ctr"/>
          <a:lstStyle/>
          <a:p>
            <a:pPr indent="0" marL="0">
              <a:buNone/>
            </a:pPr>
            <a:r>
              <a:rPr lang="en-US" sz="1500" dirty="0">
                <a:solidFill>
                  <a:srgbClr val="222222"/>
                </a:solidFill>
                <a:latin typeface="Arial" pitchFamily="34" charset="0"/>
                <a:ea typeface="Arial" pitchFamily="34" charset="-122"/>
                <a:cs typeface="Arial" pitchFamily="34" charset="-120"/>
              </a:rPr>
              <a:t>Gestión de vulnerabilidades</a:t>
            </a:r>
            <a:endParaRPr lang="en-US" sz="1500" dirty="0"/>
          </a:p>
        </p:txBody>
      </p:sp>
      <p:sp>
        <p:nvSpPr>
          <p:cNvPr id="10" name="Text 8"/>
          <p:cNvSpPr txBox="1"/>
          <p:nvPr/>
        </p:nvSpPr>
        <p:spPr>
          <a:xfrm>
            <a:off x="9418320" y="3090672"/>
            <a:ext cx="2194560" cy="502920"/>
          </a:xfrm>
          <a:prstGeom prst="rect">
            <a:avLst/>
          </a:prstGeom>
          <a:noFill/>
          <a:ln/>
        </p:spPr>
        <p:txBody>
          <a:bodyPr wrap="square" rtlCol="0" anchor="ctr"/>
          <a:lstStyle/>
          <a:p>
            <a:pPr indent="0" marL="0">
              <a:buNone/>
            </a:pPr>
            <a:r>
              <a:rPr lang="en-US" sz="1500" b="1" dirty="0">
                <a:solidFill>
                  <a:srgbClr val="2E7D32"/>
                </a:solidFill>
                <a:latin typeface="Arial" pitchFamily="34" charset="0"/>
                <a:ea typeface="Arial" pitchFamily="34" charset="-122"/>
                <a:cs typeface="Arial" pitchFamily="34" charset="-120"/>
              </a:rPr>
              <a:t>Sí</a:t>
            </a:r>
            <a:endParaRPr lang="en-US" sz="1500" dirty="0"/>
          </a:p>
        </p:txBody>
      </p:sp>
      <p:sp>
        <p:nvSpPr>
          <p:cNvPr id="11" name="Text 9"/>
          <p:cNvSpPr txBox="1"/>
          <p:nvPr/>
        </p:nvSpPr>
        <p:spPr>
          <a:xfrm>
            <a:off x="548640" y="3694176"/>
            <a:ext cx="8686800" cy="502920"/>
          </a:xfrm>
          <a:prstGeom prst="rect">
            <a:avLst/>
          </a:prstGeom>
          <a:noFill/>
          <a:ln/>
        </p:spPr>
        <p:txBody>
          <a:bodyPr wrap="square" rtlCol="0" anchor="ctr"/>
          <a:lstStyle/>
          <a:p>
            <a:pPr indent="0" marL="0">
              <a:buNone/>
            </a:pPr>
            <a:r>
              <a:rPr lang="en-US" sz="1500" dirty="0">
                <a:solidFill>
                  <a:srgbClr val="222222"/>
                </a:solidFill>
                <a:latin typeface="Arial" pitchFamily="34" charset="0"/>
                <a:ea typeface="Arial" pitchFamily="34" charset="-122"/>
                <a:cs typeface="Arial" pitchFamily="34" charset="-120"/>
              </a:rPr>
              <a:t>Inventario de dispositivos</a:t>
            </a:r>
            <a:endParaRPr lang="en-US" sz="1500" dirty="0"/>
          </a:p>
        </p:txBody>
      </p:sp>
      <p:sp>
        <p:nvSpPr>
          <p:cNvPr id="12" name="Text 10"/>
          <p:cNvSpPr txBox="1"/>
          <p:nvPr/>
        </p:nvSpPr>
        <p:spPr>
          <a:xfrm>
            <a:off x="9418320" y="3694176"/>
            <a:ext cx="2194560" cy="502920"/>
          </a:xfrm>
          <a:prstGeom prst="rect">
            <a:avLst/>
          </a:prstGeom>
          <a:noFill/>
          <a:ln/>
        </p:spPr>
        <p:txBody>
          <a:bodyPr wrap="square" rtlCol="0" anchor="ctr"/>
          <a:lstStyle/>
          <a:p>
            <a:pPr indent="0" marL="0">
              <a:buNone/>
            </a:pPr>
            <a:r>
              <a:rPr lang="en-US" sz="1500" b="1" dirty="0">
                <a:solidFill>
                  <a:srgbClr val="2E7D32"/>
                </a:solidFill>
                <a:latin typeface="Arial" pitchFamily="34" charset="0"/>
                <a:ea typeface="Arial" pitchFamily="34" charset="-122"/>
                <a:cs typeface="Arial" pitchFamily="34" charset="-120"/>
              </a:rPr>
              <a:t>Sí</a:t>
            </a:r>
            <a:endParaRPr lang="en-US" sz="1500" dirty="0"/>
          </a:p>
        </p:txBody>
      </p:sp>
      <p:sp>
        <p:nvSpPr>
          <p:cNvPr id="13" name="Text 11"/>
          <p:cNvSpPr txBox="1"/>
          <p:nvPr/>
        </p:nvSpPr>
        <p:spPr>
          <a:xfrm>
            <a:off x="548640" y="4297680"/>
            <a:ext cx="8686800" cy="502920"/>
          </a:xfrm>
          <a:prstGeom prst="rect">
            <a:avLst/>
          </a:prstGeom>
          <a:noFill/>
          <a:ln/>
        </p:spPr>
        <p:txBody>
          <a:bodyPr wrap="square" rtlCol="0" anchor="ctr"/>
          <a:lstStyle/>
          <a:p>
            <a:pPr indent="0" marL="0">
              <a:buNone/>
            </a:pPr>
            <a:r>
              <a:rPr lang="en-US" sz="1500" dirty="0">
                <a:solidFill>
                  <a:srgbClr val="222222"/>
                </a:solidFill>
                <a:latin typeface="Arial" pitchFamily="34" charset="0"/>
                <a:ea typeface="Arial" pitchFamily="34" charset="-122"/>
                <a:cs typeface="Arial" pitchFamily="34" charset="-120"/>
              </a:rPr>
              <a:t>Portal de seguridad unificado</a:t>
            </a:r>
            <a:endParaRPr lang="en-US" sz="1500" dirty="0"/>
          </a:p>
        </p:txBody>
      </p:sp>
      <p:sp>
        <p:nvSpPr>
          <p:cNvPr id="14" name="Text 12"/>
          <p:cNvSpPr txBox="1"/>
          <p:nvPr/>
        </p:nvSpPr>
        <p:spPr>
          <a:xfrm>
            <a:off x="9418320" y="4297680"/>
            <a:ext cx="2194560" cy="502920"/>
          </a:xfrm>
          <a:prstGeom prst="rect">
            <a:avLst/>
          </a:prstGeom>
          <a:noFill/>
          <a:ln/>
        </p:spPr>
        <p:txBody>
          <a:bodyPr wrap="square" rtlCol="0" anchor="ctr"/>
          <a:lstStyle/>
          <a:p>
            <a:pPr indent="0" marL="0">
              <a:buNone/>
            </a:pPr>
            <a:r>
              <a:rPr lang="en-US" sz="1500" b="1" dirty="0">
                <a:solidFill>
                  <a:srgbClr val="2E7D32"/>
                </a:solidFill>
                <a:latin typeface="Arial" pitchFamily="34" charset="0"/>
                <a:ea typeface="Arial" pitchFamily="34" charset="-122"/>
                <a:cs typeface="Arial" pitchFamily="34" charset="-120"/>
              </a:rPr>
              <a:t>Sí</a:t>
            </a:r>
            <a:endParaRPr lang="en-US" sz="1500" dirty="0"/>
          </a:p>
        </p:txBody>
      </p:sp>
      <p:sp>
        <p:nvSpPr>
          <p:cNvPr id="15" name="Text 13"/>
          <p:cNvSpPr txBox="1"/>
          <p:nvPr/>
        </p:nvSpPr>
        <p:spPr>
          <a:xfrm>
            <a:off x="548640" y="4901184"/>
            <a:ext cx="8686800" cy="502920"/>
          </a:xfrm>
          <a:prstGeom prst="rect">
            <a:avLst/>
          </a:prstGeom>
          <a:noFill/>
          <a:ln/>
        </p:spPr>
        <p:txBody>
          <a:bodyPr wrap="square" rtlCol="0" anchor="ctr"/>
          <a:lstStyle/>
          <a:p>
            <a:pPr indent="0" marL="0">
              <a:buNone/>
            </a:pPr>
            <a:r>
              <a:rPr lang="en-US" sz="1500" dirty="0">
                <a:solidFill>
                  <a:srgbClr val="222222"/>
                </a:solidFill>
                <a:latin typeface="Arial" pitchFamily="34" charset="0"/>
                <a:ea typeface="Arial" pitchFamily="34" charset="-122"/>
                <a:cs typeface="Arial" pitchFamily="34" charset="-120"/>
              </a:rPr>
              <a:t>Onboarding vía script local / GPO / herramientas de despliegue</a:t>
            </a:r>
            <a:endParaRPr lang="en-US" sz="1500" dirty="0"/>
          </a:p>
        </p:txBody>
      </p:sp>
      <p:sp>
        <p:nvSpPr>
          <p:cNvPr id="16" name="Text 14"/>
          <p:cNvSpPr txBox="1"/>
          <p:nvPr/>
        </p:nvSpPr>
        <p:spPr>
          <a:xfrm>
            <a:off x="9418320" y="4901184"/>
            <a:ext cx="2194560" cy="502920"/>
          </a:xfrm>
          <a:prstGeom prst="rect">
            <a:avLst/>
          </a:prstGeom>
          <a:noFill/>
          <a:ln/>
        </p:spPr>
        <p:txBody>
          <a:bodyPr wrap="square" rtlCol="0" anchor="ctr"/>
          <a:lstStyle/>
          <a:p>
            <a:pPr indent="0" marL="0">
              <a:buNone/>
            </a:pPr>
            <a:r>
              <a:rPr lang="en-US" sz="1500" b="1" dirty="0">
                <a:solidFill>
                  <a:srgbClr val="2E7D32"/>
                </a:solidFill>
                <a:latin typeface="Arial" pitchFamily="34" charset="0"/>
                <a:ea typeface="Arial" pitchFamily="34" charset="-122"/>
                <a:cs typeface="Arial" pitchFamily="34" charset="-120"/>
              </a:rPr>
              <a:t>Sí</a:t>
            </a:r>
            <a:endParaRPr lang="en-US" sz="1500" dirty="0"/>
          </a:p>
        </p:txBody>
      </p:sp>
      <p:sp>
        <p:nvSpPr>
          <p:cNvPr id="17" name="Text 15"/>
          <p:cNvSpPr txBox="1"/>
          <p:nvPr/>
        </p:nvSpPr>
        <p:spPr>
          <a:xfrm>
            <a:off x="548640" y="6126480"/>
            <a:ext cx="11064240" cy="457200"/>
          </a:xfrm>
          <a:prstGeom prst="rect">
            <a:avLst/>
          </a:prstGeom>
          <a:noFill/>
          <a:ln/>
        </p:spPr>
        <p:txBody>
          <a:bodyPr wrap="square" rtlCol="0" anchor="ctr"/>
          <a:lstStyle/>
          <a:p>
            <a:pPr indent="0" marL="0">
              <a:buNone/>
            </a:pPr>
            <a:r>
              <a:rPr lang="en-US" sz="1200" i="1" dirty="0">
                <a:solidFill>
                  <a:srgbClr val="555555"/>
                </a:solidFill>
                <a:latin typeface="Arial" pitchFamily="34" charset="0"/>
                <a:ea typeface="Arial" pitchFamily="34" charset="-122"/>
                <a:cs typeface="Arial" pitchFamily="34" charset="-120"/>
              </a:rPr>
              <a:t>Confirmado con la documentación oficial de Microsoft Learn (requisitos y guía de onboarding de MDB).</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rtlCol="0" anchor="ctr"/>
          <a:lstStyle/>
          <a:p>
            <a:pPr indent="0" marL="0">
              <a:buNone/>
            </a:pPr>
            <a:r>
              <a:rPr lang="en-US" sz="2600" b="1" dirty="0">
                <a:solidFill>
                  <a:srgbClr val="1F3864"/>
                </a:solidFill>
                <a:latin typeface="Arial" pitchFamily="34" charset="0"/>
                <a:ea typeface="Arial" pitchFamily="34" charset="-122"/>
                <a:cs typeface="Arial" pitchFamily="34" charset="-120"/>
              </a:rPr>
              <a:t>El matiz: dispositivos móviles (iOS / Android)</a:t>
            </a:r>
            <a:endParaRPr lang="en-US" sz="2600" dirty="0"/>
          </a:p>
        </p:txBody>
      </p:sp>
      <p:sp>
        <p:nvSpPr>
          <p:cNvPr id="3" name="Text 1"/>
          <p:cNvSpPr txBox="1"/>
          <p:nvPr/>
        </p:nvSpPr>
        <p:spPr>
          <a:xfrm>
            <a:off x="548640" y="1188720"/>
            <a:ext cx="11064240" cy="457200"/>
          </a:xfrm>
          <a:prstGeom prst="rect">
            <a:avLst/>
          </a:prstGeom>
          <a:noFill/>
          <a:ln/>
        </p:spPr>
        <p:txBody>
          <a:bodyPr wrap="square" rtlCol="0" anchor="ctr"/>
          <a:lstStyle/>
          <a:p>
            <a:pPr indent="0" marL="0">
              <a:buNone/>
            </a:pPr>
            <a:r>
              <a:rPr lang="en-US" sz="1800" b="1" dirty="0">
                <a:solidFill>
                  <a:srgbClr val="1F3864"/>
                </a:solidFill>
                <a:latin typeface="Arial" pitchFamily="34" charset="0"/>
                <a:ea typeface="Arial" pitchFamily="34" charset="-122"/>
                <a:cs typeface="Arial" pitchFamily="34" charset="-120"/>
              </a:rPr>
              <a:t>Protección básica (MTD)</a:t>
            </a:r>
            <a:endParaRPr lang="en-US" sz="1800" dirty="0"/>
          </a:p>
        </p:txBody>
      </p:sp>
      <p:sp>
        <p:nvSpPr>
          <p:cNvPr id="4" name="Text 2"/>
          <p:cNvSpPr txBox="1"/>
          <p:nvPr/>
        </p:nvSpPr>
        <p:spPr>
          <a:xfrm>
            <a:off x="548640" y="1691640"/>
            <a:ext cx="11064240" cy="914400"/>
          </a:xfrm>
          <a:prstGeom prst="rect">
            <a:avLst/>
          </a:prstGeom>
          <a:noFill/>
          <a:ln/>
        </p:spPr>
        <p:txBody>
          <a:bodyPr wrap="square" rtlCol="0" anchor="ctr"/>
          <a:lstStyle/>
          <a:p>
            <a:pPr indent="0" marL="0">
              <a:buNone/>
            </a:pPr>
            <a:r>
              <a:rPr lang="en-US" sz="1500" dirty="0">
                <a:solidFill>
                  <a:srgbClr val="222222"/>
                </a:solidFill>
                <a:latin typeface="Arial" pitchFamily="34" charset="0"/>
                <a:ea typeface="Arial" pitchFamily="34" charset="-122"/>
                <a:cs typeface="Arial" pitchFamily="34" charset="-120"/>
              </a:rPr>
              <a:t>Para onboarding de dispositivos móviles se pueden usar las capacidades de 'Mobile threat defense', disponibles de forma general sin necesitar una implementación completa de Intune.</a:t>
            </a:r>
            <a:endParaRPr lang="en-US" sz="1500" dirty="0"/>
          </a:p>
        </p:txBody>
      </p:sp>
      <p:sp>
        <p:nvSpPr>
          <p:cNvPr id="5" name="Text 3"/>
          <p:cNvSpPr txBox="1"/>
          <p:nvPr/>
        </p:nvSpPr>
        <p:spPr>
          <a:xfrm>
            <a:off x="548640" y="2743200"/>
            <a:ext cx="11064240" cy="457200"/>
          </a:xfrm>
          <a:prstGeom prst="rect">
            <a:avLst/>
          </a:prstGeom>
          <a:noFill/>
          <a:ln/>
        </p:spPr>
        <p:txBody>
          <a:bodyPr wrap="square" rtlCol="0" anchor="ctr"/>
          <a:lstStyle/>
          <a:p>
            <a:pPr indent="0" marL="0">
              <a:buNone/>
            </a:pPr>
            <a:r>
              <a:rPr lang="en-US" sz="1800" b="1" dirty="0">
                <a:solidFill>
                  <a:srgbClr val="B8860B"/>
                </a:solidFill>
                <a:latin typeface="Arial" pitchFamily="34" charset="0"/>
                <a:ea typeface="Arial" pitchFamily="34" charset="-122"/>
                <a:cs typeface="Arial" pitchFamily="34" charset="-120"/>
              </a:rPr>
              <a:t>Gestión avanzada de políticas</a:t>
            </a:r>
            <a:endParaRPr lang="en-US" sz="1800" dirty="0"/>
          </a:p>
        </p:txBody>
      </p:sp>
      <p:sp>
        <p:nvSpPr>
          <p:cNvPr id="6" name="Text 4"/>
          <p:cNvSpPr txBox="1"/>
          <p:nvPr/>
        </p:nvSpPr>
        <p:spPr>
          <a:xfrm>
            <a:off x="548640" y="3246120"/>
            <a:ext cx="11064240" cy="1463040"/>
          </a:xfrm>
          <a:prstGeom prst="rect">
            <a:avLst/>
          </a:prstGeom>
          <a:noFill/>
          <a:ln/>
        </p:spPr>
        <p:txBody>
          <a:bodyPr wrap="square" rtlCol="0" anchor="ctr"/>
          <a:lstStyle/>
          <a:p>
            <a:pPr indent="0" marL="0">
              <a:buNone/>
            </a:pPr>
            <a:r>
              <a:rPr lang="en-US" sz="1500" dirty="0">
                <a:solidFill>
                  <a:srgbClr val="222222"/>
                </a:solidFill>
                <a:latin typeface="Arial" pitchFamily="34" charset="0"/>
                <a:ea typeface="Arial" pitchFamily="34" charset="-122"/>
                <a:cs typeface="Arial" pitchFamily="34" charset="-120"/>
              </a:rPr>
              <a:t>Cuando Intune está disponible, los administradores pueden desplegar políticas de seguridad de endpoints, antivirus, firewall, reglas de reducción de superficie de ataque y configuraciones de onboarding mediante gestión de dispositivos basada en la nube. Es decir: en móvil, la gestión de políticas más robusta y la evaluación de cumplimiento sí dependen de Intune.</a:t>
            </a:r>
            <a:endParaRPr lang="en-US" sz="1500" dirty="0"/>
          </a:p>
        </p:txBody>
      </p:sp>
      <p:sp>
        <p:nvSpPr>
          <p:cNvPr id="7" name="Text 5"/>
          <p:cNvSpPr txBox="1"/>
          <p:nvPr/>
        </p:nvSpPr>
        <p:spPr>
          <a:xfrm>
            <a:off x="548640" y="5029200"/>
            <a:ext cx="11064240" cy="914400"/>
          </a:xfrm>
          <a:prstGeom prst="rect">
            <a:avLst/>
          </a:prstGeom>
          <a:noFill/>
          <a:ln/>
        </p:spPr>
        <p:txBody>
          <a:bodyPr wrap="square" rtlCol="0" anchor="ctr"/>
          <a:lstStyle/>
          <a:p>
            <a:pPr indent="0" marL="0">
              <a:buNone/>
            </a:pPr>
            <a:r>
              <a:rPr lang="en-US" sz="1500" b="1" dirty="0">
                <a:solidFill>
                  <a:srgbClr val="222222"/>
                </a:solidFill>
                <a:latin typeface="Arial" pitchFamily="34" charset="0"/>
                <a:ea typeface="Arial" pitchFamily="34" charset="-122"/>
                <a:cs typeface="Arial" pitchFamily="34" charset="-120"/>
              </a:rPr>
              <a:t>Conclusión: protección básica en móvil = sin Intune. Gestión y cumplimiento avanzado en móvil = requiere Intune.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rtlCol="0" anchor="ctr"/>
          <a:lstStyle/>
          <a:p>
            <a:pPr indent="0" marL="0">
              <a:buNone/>
            </a:pPr>
            <a:r>
              <a:rPr lang="en-US" sz="2600" b="1" dirty="0">
                <a:solidFill>
                  <a:srgbClr val="1F3864"/>
                </a:solidFill>
                <a:latin typeface="Arial" pitchFamily="34" charset="0"/>
                <a:ea typeface="Arial" pitchFamily="34" charset="-122"/>
                <a:cs typeface="Arial" pitchFamily="34" charset="-120"/>
              </a:rPr>
              <a:t>Métodos de onboarding disponibles</a:t>
            </a:r>
            <a:endParaRPr lang="en-US" sz="2600" dirty="0"/>
          </a:p>
        </p:txBody>
      </p:sp>
      <p:sp>
        <p:nvSpPr>
          <p:cNvPr id="3" name="Text 1"/>
          <p:cNvSpPr txBox="1"/>
          <p:nvPr/>
        </p:nvSpPr>
        <p:spPr>
          <a:xfrm>
            <a:off x="548640" y="1280160"/>
            <a:ext cx="3291840" cy="822960"/>
          </a:xfrm>
          <a:prstGeom prst="rect">
            <a:avLst/>
          </a:prstGeom>
          <a:noFill/>
          <a:ln/>
        </p:spPr>
        <p:txBody>
          <a:bodyPr wrap="square" rtlCol="0" anchor="t"/>
          <a:lstStyle/>
          <a:p>
            <a:pPr indent="0" marL="0">
              <a:buNone/>
            </a:pPr>
            <a:r>
              <a:rPr lang="en-US" sz="1500" b="1" dirty="0">
                <a:solidFill>
                  <a:srgbClr val="1F3864"/>
                </a:solidFill>
                <a:latin typeface="Arial" pitchFamily="34" charset="0"/>
                <a:ea typeface="Arial" pitchFamily="34" charset="-122"/>
                <a:cs typeface="Arial" pitchFamily="34" charset="-120"/>
              </a:rPr>
              <a:t>Script local</a:t>
            </a:r>
            <a:endParaRPr lang="en-US" sz="1500" dirty="0"/>
          </a:p>
        </p:txBody>
      </p:sp>
      <p:sp>
        <p:nvSpPr>
          <p:cNvPr id="4" name="Text 2"/>
          <p:cNvSpPr txBox="1"/>
          <p:nvPr/>
        </p:nvSpPr>
        <p:spPr>
          <a:xfrm>
            <a:off x="4023360" y="1280160"/>
            <a:ext cx="7589520" cy="822960"/>
          </a:xfrm>
          <a:prstGeom prst="rect">
            <a:avLst/>
          </a:prstGeom>
          <a:noFill/>
          <a:ln/>
        </p:spPr>
        <p:txBody>
          <a:bodyPr wrap="square" rtlCol="0" anchor="t"/>
          <a:lstStyle/>
          <a:p>
            <a:pPr indent="0" marL="0">
              <a:buNone/>
            </a:pPr>
            <a:r>
              <a:rPr lang="en-US" sz="1400" dirty="0">
                <a:solidFill>
                  <a:srgbClr val="222222"/>
                </a:solidFill>
                <a:latin typeface="Arial" pitchFamily="34" charset="0"/>
                <a:ea typeface="Arial" pitchFamily="34" charset="-122"/>
                <a:cs typeface="Arial" pitchFamily="34" charset="-120"/>
              </a:rPr>
              <a:t>Windows y Mac. Recomendado si el cliente no usa Intune. Hasta 10 dispositivos a la vez.</a:t>
            </a:r>
            <a:endParaRPr lang="en-US" sz="1400" dirty="0"/>
          </a:p>
        </p:txBody>
      </p:sp>
      <p:sp>
        <p:nvSpPr>
          <p:cNvPr id="5" name="Text 3"/>
          <p:cNvSpPr txBox="1"/>
          <p:nvPr/>
        </p:nvSpPr>
        <p:spPr>
          <a:xfrm>
            <a:off x="548640" y="2194560"/>
            <a:ext cx="3291840" cy="822960"/>
          </a:xfrm>
          <a:prstGeom prst="rect">
            <a:avLst/>
          </a:prstGeom>
          <a:noFill/>
          <a:ln/>
        </p:spPr>
        <p:txBody>
          <a:bodyPr wrap="square" rtlCol="0" anchor="t"/>
          <a:lstStyle/>
          <a:p>
            <a:pPr indent="0" marL="0">
              <a:buNone/>
            </a:pPr>
            <a:r>
              <a:rPr lang="en-US" sz="1500" b="1" dirty="0">
                <a:solidFill>
                  <a:srgbClr val="1F3864"/>
                </a:solidFill>
                <a:latin typeface="Arial" pitchFamily="34" charset="0"/>
                <a:ea typeface="Arial" pitchFamily="34" charset="-122"/>
                <a:cs typeface="Arial" pitchFamily="34" charset="-120"/>
              </a:rPr>
              <a:t>GPO (Directiva de grupo)</a:t>
            </a:r>
            <a:endParaRPr lang="en-US" sz="1500" dirty="0"/>
          </a:p>
        </p:txBody>
      </p:sp>
      <p:sp>
        <p:nvSpPr>
          <p:cNvPr id="6" name="Text 4"/>
          <p:cNvSpPr txBox="1"/>
          <p:nvPr/>
        </p:nvSpPr>
        <p:spPr>
          <a:xfrm>
            <a:off x="4023360" y="2194560"/>
            <a:ext cx="7589520" cy="822960"/>
          </a:xfrm>
          <a:prstGeom prst="rect">
            <a:avLst/>
          </a:prstGeom>
          <a:noFill/>
          <a:ln/>
        </p:spPr>
        <p:txBody>
          <a:bodyPr wrap="square" rtlCol="0" anchor="t"/>
          <a:lstStyle/>
          <a:p>
            <a:pPr indent="0" marL="0">
              <a:buNone/>
            </a:pPr>
            <a:r>
              <a:rPr lang="en-US" sz="1400" dirty="0">
                <a:solidFill>
                  <a:srgbClr val="222222"/>
                </a:solidFill>
                <a:latin typeface="Arial" pitchFamily="34" charset="0"/>
                <a:ea typeface="Arial" pitchFamily="34" charset="-122"/>
                <a:cs typeface="Arial" pitchFamily="34" charset="-120"/>
              </a:rPr>
              <a:t>Para entornos con Active Directory on-premises.</a:t>
            </a:r>
            <a:endParaRPr lang="en-US" sz="1400" dirty="0"/>
          </a:p>
        </p:txBody>
      </p:sp>
      <p:sp>
        <p:nvSpPr>
          <p:cNvPr id="7" name="Text 5"/>
          <p:cNvSpPr txBox="1"/>
          <p:nvPr/>
        </p:nvSpPr>
        <p:spPr>
          <a:xfrm>
            <a:off x="548640" y="3108960"/>
            <a:ext cx="3291840" cy="822960"/>
          </a:xfrm>
          <a:prstGeom prst="rect">
            <a:avLst/>
          </a:prstGeom>
          <a:noFill/>
          <a:ln/>
        </p:spPr>
        <p:txBody>
          <a:bodyPr wrap="square" rtlCol="0" anchor="t"/>
          <a:lstStyle/>
          <a:p>
            <a:pPr indent="0" marL="0">
              <a:buNone/>
            </a:pPr>
            <a:r>
              <a:rPr lang="en-US" sz="1500" b="1" dirty="0">
                <a:solidFill>
                  <a:srgbClr val="1F3864"/>
                </a:solidFill>
                <a:latin typeface="Arial" pitchFamily="34" charset="0"/>
                <a:ea typeface="Arial" pitchFamily="34" charset="-122"/>
                <a:cs typeface="Arial" pitchFamily="34" charset="-120"/>
              </a:rPr>
              <a:t>Herramientas de despliegue</a:t>
            </a:r>
            <a:endParaRPr lang="en-US" sz="1500" dirty="0"/>
          </a:p>
        </p:txBody>
      </p:sp>
      <p:sp>
        <p:nvSpPr>
          <p:cNvPr id="8" name="Text 6"/>
          <p:cNvSpPr txBox="1"/>
          <p:nvPr/>
        </p:nvSpPr>
        <p:spPr>
          <a:xfrm>
            <a:off x="4023360" y="3108960"/>
            <a:ext cx="7589520" cy="822960"/>
          </a:xfrm>
          <a:prstGeom prst="rect">
            <a:avLst/>
          </a:prstGeom>
          <a:noFill/>
          <a:ln/>
        </p:spPr>
        <p:txBody>
          <a:bodyPr wrap="square" rtlCol="0" anchor="t"/>
          <a:lstStyle/>
          <a:p>
            <a:pPr indent="0" marL="0">
              <a:buNone/>
            </a:pPr>
            <a:r>
              <a:rPr lang="en-US" sz="1400" dirty="0">
                <a:solidFill>
                  <a:srgbClr val="222222"/>
                </a:solidFill>
                <a:latin typeface="Arial" pitchFamily="34" charset="0"/>
                <a:ea typeface="Arial" pitchFamily="34" charset="-122"/>
                <a:cs typeface="Arial" pitchFamily="34" charset="-120"/>
              </a:rPr>
              <a:t>Configuration Manager u otras herramientas de distribución de software.</a:t>
            </a:r>
            <a:endParaRPr lang="en-US" sz="1400" dirty="0"/>
          </a:p>
        </p:txBody>
      </p:sp>
      <p:sp>
        <p:nvSpPr>
          <p:cNvPr id="9" name="Text 7"/>
          <p:cNvSpPr txBox="1"/>
          <p:nvPr/>
        </p:nvSpPr>
        <p:spPr>
          <a:xfrm>
            <a:off x="548640" y="4023360"/>
            <a:ext cx="3291840" cy="822960"/>
          </a:xfrm>
          <a:prstGeom prst="rect">
            <a:avLst/>
          </a:prstGeom>
          <a:noFill/>
          <a:ln/>
        </p:spPr>
        <p:txBody>
          <a:bodyPr wrap="square" rtlCol="0" anchor="t"/>
          <a:lstStyle/>
          <a:p>
            <a:pPr indent="0" marL="0">
              <a:buNone/>
            </a:pPr>
            <a:r>
              <a:rPr lang="en-US" sz="1500" b="1" dirty="0">
                <a:solidFill>
                  <a:srgbClr val="1F3864"/>
                </a:solidFill>
                <a:latin typeface="Arial" pitchFamily="34" charset="0"/>
                <a:ea typeface="Arial" pitchFamily="34" charset="-122"/>
                <a:cs typeface="Arial" pitchFamily="34" charset="-120"/>
              </a:rPr>
              <a:t>Onboarding automático</a:t>
            </a:r>
            <a:endParaRPr lang="en-US" sz="1500" dirty="0"/>
          </a:p>
        </p:txBody>
      </p:sp>
      <p:sp>
        <p:nvSpPr>
          <p:cNvPr id="10" name="Text 8"/>
          <p:cNvSpPr txBox="1"/>
          <p:nvPr/>
        </p:nvSpPr>
        <p:spPr>
          <a:xfrm>
            <a:off x="4023360" y="4023360"/>
            <a:ext cx="7589520" cy="822960"/>
          </a:xfrm>
          <a:prstGeom prst="rect">
            <a:avLst/>
          </a:prstGeom>
          <a:noFill/>
          <a:ln/>
        </p:spPr>
        <p:txBody>
          <a:bodyPr wrap="square" rtlCol="0" anchor="t"/>
          <a:lstStyle/>
          <a:p>
            <a:pPr indent="0" marL="0">
              <a:buNone/>
            </a:pPr>
            <a:r>
              <a:rPr lang="en-US" sz="1400" dirty="0">
                <a:solidFill>
                  <a:srgbClr val="222222"/>
                </a:solidFill>
                <a:latin typeface="Arial" pitchFamily="34" charset="0"/>
                <a:ea typeface="Arial" pitchFamily="34" charset="-122"/>
                <a:cs typeface="Arial" pitchFamily="34" charset="-120"/>
              </a:rPr>
              <a:t>Solo si el dispositivo Windows ya está inscrito en Intune.</a:t>
            </a:r>
            <a:endParaRPr lang="en-US" sz="1400" dirty="0"/>
          </a:p>
        </p:txBody>
      </p:sp>
      <p:sp>
        <p:nvSpPr>
          <p:cNvPr id="11" name="Text 9"/>
          <p:cNvSpPr txBox="1"/>
          <p:nvPr/>
        </p:nvSpPr>
        <p:spPr>
          <a:xfrm>
            <a:off x="548640" y="4937760"/>
            <a:ext cx="3291840" cy="822960"/>
          </a:xfrm>
          <a:prstGeom prst="rect">
            <a:avLst/>
          </a:prstGeom>
          <a:noFill/>
          <a:ln/>
        </p:spPr>
        <p:txBody>
          <a:bodyPr wrap="square" rtlCol="0" anchor="t"/>
          <a:lstStyle/>
          <a:p>
            <a:pPr indent="0" marL="0">
              <a:buNone/>
            </a:pPr>
            <a:r>
              <a:rPr lang="en-US" sz="1500" b="1" dirty="0">
                <a:solidFill>
                  <a:srgbClr val="1F3864"/>
                </a:solidFill>
                <a:latin typeface="Arial" pitchFamily="34" charset="0"/>
                <a:ea typeface="Arial" pitchFamily="34" charset="-122"/>
                <a:cs typeface="Arial" pitchFamily="34" charset="-120"/>
              </a:rPr>
              <a:t>Microsoft Defender app</a:t>
            </a:r>
            <a:endParaRPr lang="en-US" sz="1500" dirty="0"/>
          </a:p>
        </p:txBody>
      </p:sp>
      <p:sp>
        <p:nvSpPr>
          <p:cNvPr id="12" name="Text 10"/>
          <p:cNvSpPr txBox="1"/>
          <p:nvPr/>
        </p:nvSpPr>
        <p:spPr>
          <a:xfrm>
            <a:off x="4023360" y="4937760"/>
            <a:ext cx="7589520" cy="822960"/>
          </a:xfrm>
          <a:prstGeom prst="rect">
            <a:avLst/>
          </a:prstGeom>
          <a:noFill/>
          <a:ln/>
        </p:spPr>
        <p:txBody>
          <a:bodyPr wrap="square" rtlCol="0" anchor="t"/>
          <a:lstStyle/>
          <a:p>
            <a:pPr indent="0" marL="0">
              <a:buNone/>
            </a:pPr>
            <a:r>
              <a:rPr lang="en-US" sz="1400" dirty="0">
                <a:solidFill>
                  <a:srgbClr val="222222"/>
                </a:solidFill>
                <a:latin typeface="Arial" pitchFamily="34" charset="0"/>
                <a:ea typeface="Arial" pitchFamily="34" charset="-122"/>
                <a:cs typeface="Arial" pitchFamily="34" charset="-120"/>
              </a:rPr>
              <a:t>Para dispositivos móviles (iOS / Android), vía Mobile Threat Defense.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rtlCol="0" anchor="ctr"/>
          <a:lstStyle/>
          <a:p>
            <a:pPr indent="0" marL="0">
              <a:buNone/>
            </a:pPr>
            <a:r>
              <a:rPr lang="en-US" sz="2600" b="1" dirty="0">
                <a:solidFill>
                  <a:srgbClr val="1F3864"/>
                </a:solidFill>
                <a:latin typeface="Arial" pitchFamily="34" charset="0"/>
                <a:ea typeface="Arial" pitchFamily="34" charset="-122"/>
                <a:cs typeface="Arial" pitchFamily="34" charset="-120"/>
              </a:rPr>
              <a:t>¿Cuándo sí conviene agregar Intune?</a:t>
            </a:r>
            <a:endParaRPr lang="en-US" sz="2600" dirty="0"/>
          </a:p>
        </p:txBody>
      </p:sp>
      <p:sp>
        <p:nvSpPr>
          <p:cNvPr id="3" name="Text 1"/>
          <p:cNvSpPr txBox="1"/>
          <p:nvPr/>
        </p:nvSpPr>
        <p:spPr>
          <a:xfrm>
            <a:off x="731520" y="1371600"/>
            <a:ext cx="10515600" cy="4114800"/>
          </a:xfrm>
          <a:prstGeom prst="rect">
            <a:avLst/>
          </a:prstGeom>
          <a:noFill/>
          <a:ln/>
        </p:spPr>
        <p:txBody>
          <a:bodyPr wrap="square" rtlCol="0" anchor="ctr"/>
          <a:lstStyle/>
          <a:p>
            <a:pPr marL="342900" indent="-342900">
              <a:spcAft>
                <a:spcPts val="1600"/>
              </a:spcAft>
              <a:buSzPct val="100000"/>
              <a:buChar char="•"/>
            </a:pPr>
            <a:r>
              <a:rPr lang="en-US" sz="1700" dirty="0">
                <a:solidFill>
                  <a:srgbClr val="222222"/>
                </a:solidFill>
                <a:latin typeface="Arial" pitchFamily="34" charset="0"/>
                <a:ea typeface="Arial" pitchFamily="34" charset="-122"/>
                <a:cs typeface="Arial" pitchFamily="34" charset="-120"/>
              </a:rPr>
              <a:t>El cliente quiere gestión centralizada de todos sus dispositivos (no solo seguridad).</a:t>
            </a:r>
            <a:endParaRPr lang="en-US" sz="1700" dirty="0"/>
          </a:p>
          <a:p>
            <a:pPr marL="342900" indent="-342900">
              <a:spcAft>
                <a:spcPts val="1600"/>
              </a:spcAft>
              <a:buSzPct val="100000"/>
              <a:buChar char="•"/>
            </a:pPr>
            <a:r>
              <a:rPr lang="en-US" sz="1700" dirty="0">
                <a:solidFill>
                  <a:srgbClr val="222222"/>
                </a:solidFill>
                <a:latin typeface="Arial" pitchFamily="34" charset="0"/>
                <a:ea typeface="Arial" pitchFamily="34" charset="-122"/>
                <a:cs typeface="Arial" pitchFamily="34" charset="-120"/>
              </a:rPr>
              <a:t>Necesita políticas de cumplimiento (compliance) evaluadas y reportadas.</a:t>
            </a:r>
            <a:endParaRPr lang="en-US" sz="1700" dirty="0"/>
          </a:p>
          <a:p>
            <a:pPr marL="342900" indent="-342900">
              <a:spcAft>
                <a:spcPts val="1600"/>
              </a:spcAft>
              <a:buSzPct val="100000"/>
              <a:buChar char="•"/>
            </a:pPr>
            <a:r>
              <a:rPr lang="en-US" sz="1700" dirty="0">
                <a:solidFill>
                  <a:srgbClr val="222222"/>
                </a:solidFill>
                <a:latin typeface="Arial" pitchFamily="34" charset="0"/>
                <a:ea typeface="Arial" pitchFamily="34" charset="-122"/>
                <a:cs typeface="Arial" pitchFamily="34" charset="-120"/>
              </a:rPr>
              <a:t>Administra una flota significativa de dispositivos móviles corporativos.</a:t>
            </a:r>
            <a:endParaRPr lang="en-US" sz="1700" dirty="0"/>
          </a:p>
          <a:p>
            <a:pPr marL="342900" indent="-342900">
              <a:spcAft>
                <a:spcPts val="1600"/>
              </a:spcAft>
              <a:buSzPct val="100000"/>
              <a:buChar char="•"/>
            </a:pPr>
            <a:r>
              <a:rPr lang="en-US" sz="1700" dirty="0">
                <a:solidFill>
                  <a:srgbClr val="222222"/>
                </a:solidFill>
                <a:latin typeface="Arial" pitchFamily="34" charset="0"/>
                <a:ea typeface="Arial" pitchFamily="34" charset="-122"/>
                <a:cs typeface="Arial" pitchFamily="34" charset="-120"/>
              </a:rPr>
              <a:t>Quiere aplicar configuraciones, restricciones y apps de forma remota (MDM/MAM).</a:t>
            </a:r>
            <a:endParaRPr lang="en-US" sz="1700" dirty="0"/>
          </a:p>
          <a:p>
            <a:pPr marL="342900" indent="-342900">
              <a:spcAft>
                <a:spcPts val="1600"/>
              </a:spcAft>
              <a:buSzPct val="100000"/>
              <a:buChar char="•"/>
            </a:pPr>
            <a:r>
              <a:rPr lang="en-US" sz="1700" dirty="0">
                <a:solidFill>
                  <a:srgbClr val="222222"/>
                </a:solidFill>
                <a:latin typeface="Arial" pitchFamily="34" charset="0"/>
                <a:ea typeface="Arial" pitchFamily="34" charset="-122"/>
                <a:cs typeface="Arial" pitchFamily="34" charset="-120"/>
              </a:rPr>
              <a:t>Busca automatizar el ciclo de vida completo del dispositivo (alta, gestión, baja).</a:t>
            </a:r>
            <a:endParaRPr lang="en-US" sz="1700" dirty="0"/>
          </a:p>
        </p:txBody>
      </p:sp>
      <p:sp>
        <p:nvSpPr>
          <p:cNvPr id="4" name="Text 2"/>
          <p:cNvSpPr txBox="1"/>
          <p:nvPr/>
        </p:nvSpPr>
        <p:spPr>
          <a:xfrm>
            <a:off x="548640" y="5760720"/>
            <a:ext cx="11064240" cy="731520"/>
          </a:xfrm>
          <a:prstGeom prst="rect">
            <a:avLst/>
          </a:prstGeom>
          <a:noFill/>
          <a:ln/>
        </p:spPr>
        <p:txBody>
          <a:bodyPr wrap="square" rtlCol="0" anchor="ctr"/>
          <a:lstStyle/>
          <a:p>
            <a:pPr indent="0" marL="0">
              <a:buNone/>
            </a:pPr>
            <a:r>
              <a:rPr lang="en-US" sz="1500" i="1" dirty="0">
                <a:solidFill>
                  <a:srgbClr val="555555"/>
                </a:solidFill>
                <a:latin typeface="Arial" pitchFamily="34" charset="0"/>
                <a:ea typeface="Arial" pitchFamily="34" charset="-122"/>
                <a:cs typeface="Arial" pitchFamily="34" charset="-120"/>
              </a:rPr>
              <a:t>En ese caso, Intune se vende como complemento (add-on), no como requisito para que Defender for Business funcione.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rtlCol="0" anchor="ctr"/>
          <a:lstStyle/>
          <a:p>
            <a:pPr indent="0" marL="0">
              <a:buNone/>
            </a:pPr>
            <a:r>
              <a:rPr lang="en-US" sz="2600" b="1" dirty="0">
                <a:solidFill>
                  <a:srgbClr val="1F3864"/>
                </a:solidFill>
                <a:latin typeface="Arial" pitchFamily="34" charset="0"/>
                <a:ea typeface="Arial" pitchFamily="34" charset="-122"/>
                <a:cs typeface="Arial" pitchFamily="34" charset="-120"/>
              </a:rPr>
              <a:t>Recomendación para este cliente</a:t>
            </a:r>
            <a:endParaRPr lang="en-US" sz="2600" dirty="0"/>
          </a:p>
        </p:txBody>
      </p:sp>
      <p:sp>
        <p:nvSpPr>
          <p:cNvPr id="3" name="Text 1"/>
          <p:cNvSpPr txBox="1"/>
          <p:nvPr/>
        </p:nvSpPr>
        <p:spPr>
          <a:xfrm>
            <a:off x="548640" y="1280160"/>
            <a:ext cx="11064240" cy="1097280"/>
          </a:xfrm>
          <a:prstGeom prst="rect">
            <a:avLst/>
          </a:prstGeom>
          <a:noFill/>
          <a:ln/>
        </p:spPr>
        <p:txBody>
          <a:bodyPr wrap="square" rtlCol="0" anchor="ctr"/>
          <a:lstStyle/>
          <a:p>
            <a:pPr indent="0" marL="0">
              <a:buNone/>
            </a:pPr>
            <a:r>
              <a:rPr lang="en-US" sz="1700" dirty="0">
                <a:solidFill>
                  <a:srgbClr val="222222"/>
                </a:solidFill>
                <a:latin typeface="Arial" pitchFamily="34" charset="0"/>
                <a:ea typeface="Arial" pitchFamily="34" charset="-122"/>
                <a:cs typeface="Arial" pitchFamily="34" charset="-120"/>
              </a:rPr>
              <a:t>Con Business Standard + Defender for Business (standalone) ya adquiridos, el cliente puede implementar protección funcional en Windows y macOS usando el método de script local, sin necesidad de administrar Intune.</a:t>
            </a:r>
            <a:endParaRPr lang="en-US" sz="1700" dirty="0"/>
          </a:p>
        </p:txBody>
      </p:sp>
      <p:sp>
        <p:nvSpPr>
          <p:cNvPr id="4" name="Text 2"/>
          <p:cNvSpPr txBox="1"/>
          <p:nvPr/>
        </p:nvSpPr>
        <p:spPr>
          <a:xfrm>
            <a:off x="548640" y="2651760"/>
            <a:ext cx="11064240" cy="1188720"/>
          </a:xfrm>
          <a:prstGeom prst="rect">
            <a:avLst/>
          </a:prstGeom>
          <a:noFill/>
          <a:ln/>
        </p:spPr>
        <p:txBody>
          <a:bodyPr wrap="square" rtlCol="0" anchor="ctr"/>
          <a:lstStyle/>
          <a:p>
            <a:pPr indent="0" marL="0">
              <a:buNone/>
            </a:pPr>
            <a:r>
              <a:rPr lang="en-US" sz="1700" dirty="0">
                <a:solidFill>
                  <a:srgbClr val="222222"/>
                </a:solidFill>
                <a:latin typeface="Arial" pitchFamily="34" charset="0"/>
                <a:ea typeface="Arial" pitchFamily="34" charset="-122"/>
                <a:cs typeface="Arial" pitchFamily="34" charset="-120"/>
              </a:rPr>
              <a:t>Si tiene dispositivos móviles corporativos, puede habilitar protección básica vía Mobile Threat Defense sin Intune, pero si busca gestión de políticas avanzada en esos móviles, ahí sí conviene evaluar el add-on de Intune Plan 1.</a:t>
            </a:r>
            <a:endParaRPr lang="en-US" sz="1700" dirty="0"/>
          </a:p>
        </p:txBody>
      </p:sp>
      <p:sp>
        <p:nvSpPr>
          <p:cNvPr id="5" name="Text 3"/>
          <p:cNvSpPr txBox="1"/>
          <p:nvPr/>
        </p:nvSpPr>
        <p:spPr>
          <a:xfrm>
            <a:off x="548640" y="4114800"/>
            <a:ext cx="11064240" cy="914400"/>
          </a:xfrm>
          <a:prstGeom prst="rect">
            <a:avLst/>
          </a:prstGeom>
          <a:noFill/>
          <a:ln/>
        </p:spPr>
        <p:txBody>
          <a:bodyPr wrap="square" rtlCol="0" anchor="ctr"/>
          <a:lstStyle/>
          <a:p>
            <a:pPr indent="0" marL="0">
              <a:buNone/>
            </a:pPr>
            <a:r>
              <a:rPr lang="en-US" sz="1700" b="1" dirty="0">
                <a:solidFill>
                  <a:srgbClr val="1F3864"/>
                </a:solidFill>
                <a:latin typeface="Arial" pitchFamily="34" charset="0"/>
                <a:ea typeface="Arial" pitchFamily="34" charset="-122"/>
                <a:cs typeface="Arial" pitchFamily="34" charset="-120"/>
              </a:rPr>
              <a:t>Próximo paso sugerido: iniciar onboarding piloto con 5-10 equipos vía script local desde el portal de Defender (security.microsoft.com).</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2026-09-16T21:44:41Z</dcterms:created>
  <dcterms:modified xsi:type="dcterms:W3CDTF">2026-09-16T21:44:41Z</dcterms:modified>
</cp:coreProperties>
</file>