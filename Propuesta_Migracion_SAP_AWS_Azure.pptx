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137160" y="109728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PROPUESTA DE SERVICIO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6400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SAP Landscape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0" y="13258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→ Microsoft Azure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5303520" cy="36576"/>
          </a:xfrm>
          <a:prstGeom prst="rect">
            <a:avLst/>
          </a:prstGeom>
          <a:solidFill>
            <a:srgbClr val="50A0DC"/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148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BD5E1"/>
                </a:solidFill>
              </a:rPr>
              <a:t>Estrategia técnica · Arquitectura · Alcances · Recursos · Tiempos · Costos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788920"/>
            <a:ext cx="1353312" cy="347472"/>
          </a:xfrm>
          <a:prstGeom prst="roundRect">
            <a:avLst>
              <a:gd name="adj" fmla="val 13158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7889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SAP HANA Productivo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2788920"/>
            <a:ext cx="1353312" cy="347472"/>
          </a:xfrm>
          <a:prstGeom prst="roundRect">
            <a:avLst>
              <a:gd name="adj" fmla="val 13158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7889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NetWeaver / APS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2788920"/>
            <a:ext cx="1353312" cy="347472"/>
          </a:xfrm>
          <a:prstGeom prst="roundRect">
            <a:avLst>
              <a:gd name="adj" fmla="val 13158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7889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SolMan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89520" y="2788920"/>
            <a:ext cx="1353312" cy="347472"/>
          </a:xfrm>
          <a:prstGeom prst="roundRect">
            <a:avLst>
              <a:gd name="adj" fmla="val 13158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7889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Dev / QA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Versión 1.0  | 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Contenido de la Propuesta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23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Situación Actual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Landscape SAP en AWS — estado actual y contexto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73352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73352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73352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7282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Objetivo de la Migración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0208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Metas, beneficios esperados y motivadores clave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478024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78024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78024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5328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Arquitectura Propuesta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8254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Diseño AWS origen → Azure destino por sistema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282696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82696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82696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337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Alcances y Fuera de Alcance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630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Qué incluye y qué no incluye esta propuesta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08736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87368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87368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1422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Recursos Técnicos y Humanos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434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Equipo requerido, roles y responsabilidades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86868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868680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868680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923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Plan de Trabajo y Tiempos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12161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Fases, hitos y cronograma estimado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673352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673352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673352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17282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Calculadora de Costos Azure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20208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Estimación económica AWS vs Azure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478024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478024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478024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03520" y="25328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Supuestos y Riesgos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28254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Supuestos base y matriz de riesgos principales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282696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282696"/>
            <a:ext cx="475488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282696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03520" y="3337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Próximos Pasos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3520" y="3630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Acciones inmediatas para arrancar 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 |  Situación Actual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Landscape SAP actualmente en AWS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7315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52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N-HANA-PRO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14996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r6i.12xlarge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" y="17007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48 vCPU / 384 GB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44475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4447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Productivo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84832"/>
            <a:ext cx="7315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130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N-APS-PRO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2377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r6i.4xlarge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624" y="2578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vCPU / 128 GB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2322576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3225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Productivo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62656"/>
            <a:ext cx="73152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008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N-HANA Dev/QA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0624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r6i.12xlarge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" y="34564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48 vCPU / 384 GB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320040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 Prod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40480"/>
            <a:ext cx="73152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886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N-APS Dev/QA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0624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r6i.4xlarge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" y="43342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vCPU / 128 GB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0" y="4078224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40782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 Prod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26280" y="1207008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26280" y="1207008"/>
            <a:ext cx="7315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72584" y="1252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SOLMAN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72584" y="14996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r5.2xlarge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72584" y="17007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vCPU / 64 GB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60920" y="144475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14447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26280" y="2084832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26280" y="2084832"/>
            <a:ext cx="73152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2130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MIDDLEWARE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672584" y="2377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t3.large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72584" y="2578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vCPU / 8 GB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60920" y="2322576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23225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 Prod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26280" y="296265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26280" y="2962656"/>
            <a:ext cx="7315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72584" y="3008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NOMIPLUS .NET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672584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m4.large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72584" y="34564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vCPU / 8 GB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60920" y="320040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5902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⚠  Motivadores de migración: fin de contrato AWS, optimización de costos, alineación con ecosistema Microsoft 365 / Azure AD, y EOL de SolMan en 2027.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|  Objetivo de la Migración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8696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Migrar el landscape SAP completo desde AWS EC2 hacia Azure Virtual Machines de forma segura, ordenada y con mínimo impacto al negocio, aprovechando las VMs certificadas para SAP HANA de Microsoft Azure y optimizando el costo total de operación.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74320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0665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029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Reducción de Costos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1480" y="23957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Ahorro estimado 30–45% vs AWS con Reserved Instances Azure de 1 o 3 años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1920240"/>
            <a:ext cx="274320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0665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2029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Integración Microsoft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337560" y="23957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Alineación con Azure AD, Microsoft 365, Sentinel y ecosistema Microsoft ya contratado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1920240"/>
            <a:ext cx="274320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6654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02552" y="2029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HA / DR Mejorado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263640" y="23957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Availability Zones Azure + Pacemaker SLES, con RPO/RTO definidos por sistema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20040" y="3200400"/>
            <a:ext cx="274320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4670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0392" y="3310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Hoja de Ruta SAP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11480" y="36758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Preparación para S/4HANA y transición planificada de SolMan a SAP Cloud ALM (2027)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246120" y="3200400"/>
            <a:ext cx="274320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34670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76472" y="3310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Infraestructura como Código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337560" y="36758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Toda la infra Azure provisionada con Terraform / Bicep — reproducible y auditable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346704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02552" y="3310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Rendimiento Garantizado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263640" y="36758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VMs M-series y E-series certificadas SAP HANA con Premium SSD v2 (sub-ms latency)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  |  Arquitectura Propuesta  —  AWS Origen → Azure Destino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47472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— ORIGEN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777240"/>
            <a:ext cx="1645920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MIGRACIÓN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40680" y="777240"/>
            <a:ext cx="347472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777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— DESTINO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207008"/>
            <a:ext cx="3474720" cy="685800"/>
          </a:xfrm>
          <a:prstGeom prst="rect">
            <a:avLst/>
          </a:prstGeom>
          <a:solidFill>
            <a:srgbClr val="FFF0D6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207008"/>
            <a:ext cx="73152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225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N-HANA-PRO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14813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r6i.12xlarge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48 vCPU / 384 GB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SUSE 15 SP5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1207008"/>
            <a:ext cx="16459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20700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HSR Cross-Cloud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↓ Downtime 4–8h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40680" y="1207008"/>
            <a:ext cx="3474720" cy="685800"/>
          </a:xfrm>
          <a:prstGeom prst="rect">
            <a:avLst/>
          </a:prstGeom>
          <a:solidFill>
            <a:srgbClr val="D6EA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1207008"/>
            <a:ext cx="73152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125272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Standard_M64ms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64 vCPU / 1.7 TB RAM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Premium SSD v2 2 TB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965960"/>
            <a:ext cx="3474720" cy="685800"/>
          </a:xfrm>
          <a:prstGeom prst="rect">
            <a:avLst/>
          </a:prstGeom>
          <a:solidFill>
            <a:srgbClr val="FFF0D6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65960"/>
            <a:ext cx="73152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984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N-APS-PRO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r6i.4xlarge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 vCPU / 128 GB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Windows 2023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49040" y="1965960"/>
            <a:ext cx="16459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9659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rsync + reinstall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↓ Downtime 4–8h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40680" y="1965960"/>
            <a:ext cx="3474720" cy="685800"/>
          </a:xfrm>
          <a:prstGeom prst="rect">
            <a:avLst/>
          </a:prstGeom>
          <a:solidFill>
            <a:srgbClr val="D6EA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1965960"/>
            <a:ext cx="73152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201168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Standard_E16ds_v5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16 vCPU / 128 GB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Premium SSD v2 1 TB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724912"/>
            <a:ext cx="3474720" cy="685800"/>
          </a:xfrm>
          <a:prstGeom prst="rect">
            <a:avLst/>
          </a:prstGeom>
          <a:solidFill>
            <a:srgbClr val="FFF0D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724912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SOLMAN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2999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r5.2xlarge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vCPU / 64 GB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Windows 2016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49040" y="2724912"/>
            <a:ext cx="16459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72491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rsync dual-stack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↓ Downtime 6–8h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2724912"/>
            <a:ext cx="3474720" cy="685800"/>
          </a:xfrm>
          <a:prstGeom prst="rect">
            <a:avLst/>
          </a:prstGeom>
          <a:solidFill>
            <a:srgbClr val="D6EAFF"/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40680" y="2724912"/>
            <a:ext cx="73152" cy="685800"/>
          </a:xfrm>
          <a:prstGeom prst="rect">
            <a:avLst/>
          </a:prstGeom>
          <a:solidFill>
            <a:srgbClr val="50A0DC"/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277063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Standard_E8ds_v5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8 vCPU / 64 GB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Premium SSD v1 1 TB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3483864"/>
            <a:ext cx="3474720" cy="685800"/>
          </a:xfrm>
          <a:prstGeom prst="rect">
            <a:avLst/>
          </a:prstGeom>
          <a:solidFill>
            <a:srgbClr val="FFF0D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3483864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502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HANA DEV/QA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4048" y="37581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r6i.12xlarge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48 vCPU / 384 GB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SUSE 15 SP5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49040" y="3483864"/>
            <a:ext cx="16459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3483864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Backup/Restore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↓ Downtime no crítico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3483864"/>
            <a:ext cx="3474720" cy="685800"/>
          </a:xfrm>
          <a:prstGeom prst="rect">
            <a:avLst/>
          </a:prstGeom>
          <a:solidFill>
            <a:srgbClr val="D6EAFF"/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40680" y="3483864"/>
            <a:ext cx="73152" cy="685800"/>
          </a:xfrm>
          <a:prstGeom prst="rect">
            <a:avLst/>
          </a:prstGeom>
          <a:solidFill>
            <a:srgbClr val="50A0DC"/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3529584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Standard_M32ts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32 vCPU / 192 GB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Premium SSD v2 500 GB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4242816"/>
            <a:ext cx="3474720" cy="685800"/>
          </a:xfrm>
          <a:prstGeom prst="rect">
            <a:avLst/>
          </a:prstGeom>
          <a:solidFill>
            <a:srgbClr val="FFF0D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4242816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2611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MIDDLEWARE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.NET / APS Dev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84048" y="45171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t3.large / m4.large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2–16 vCPU / mix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749040" y="4242816"/>
            <a:ext cx="16459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0" y="424281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Lift &amp; Shift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3D3D"/>
                </a:solidFill>
              </a:rPr>
              <a:t>↓ Herramientas estándar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40680" y="4242816"/>
            <a:ext cx="3474720" cy="685800"/>
          </a:xfrm>
          <a:prstGeom prst="rect">
            <a:avLst/>
          </a:prstGeom>
          <a:solidFill>
            <a:srgbClr val="D6EAFF"/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40680" y="4242816"/>
            <a:ext cx="73152" cy="685800"/>
          </a:xfrm>
          <a:prstGeom prst="rect">
            <a:avLst/>
          </a:prstGeom>
          <a:solidFill>
            <a:srgbClr val="50A0DC"/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96128" y="428853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B4ms / D2ds_v5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Standard SSD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Pay-as-you-go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28600" y="4800600"/>
            <a:ext cx="8686800" cy="219456"/>
          </a:xfrm>
          <a:prstGeom prst="rect">
            <a:avLst/>
          </a:prstGeom>
          <a:solidFill>
            <a:srgbClr val="D6EA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809744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Storage: EBS gp3 → Premium SSD v2 (HANA cert.) | Networking: Direct Connect → ExpressRoute | DNS: Route 53 → Azure Private DNS | Monitoring: CloudWatch → Azure Monitor for SAP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|  Alcances y Fuera de Alcance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DENTRO DEL ALCANCE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16152"/>
            <a:ext cx="420624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Diseño y provisión de infraestructura Azure (VNet, VMs, Storage, NSG, ExpressRoute)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545336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6362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Migración de SAP HANA Productivo mediante HSR Cross-Cloud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20624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928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Migración de capa de aplicación SAP NetWeaver (ASCS, PAS, AAS)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203704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219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Migración de SAP Solution Manager (ABAP + Java stacks)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532888"/>
            <a:ext cx="420624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511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Migración de sistemas no-productivos (Dev, QA, Sandbox)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862072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03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Configuración de Alta Disponibilidad con Pacemaker en Azure Availability Zones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191256"/>
            <a:ext cx="420624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95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Configuración de Backup Policy con Azure Backup for SAP HANA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387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Configuración de Azure Monitor for SAP (monitoreo equivalente a CloudWatch)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849624"/>
            <a:ext cx="420624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679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Reconexión de Diagnostic Agents y validación LMDB / SLD post-migración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970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Plan de cutover, runbook, pruebas funcionales y go-live de cada sistema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507992"/>
            <a:ext cx="420624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262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Documentación técnica de la arquitectura final en Azure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 FUERA DEL ALCANCE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1216152"/>
            <a:ext cx="420624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2435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Upgrade de versión SAP (ECC a S/4HANA) — proyecto separado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563624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591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Migración a SAP Cloud ALM (requiere proyecto independiente post-2025)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1911096"/>
            <a:ext cx="420624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938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Desarrollo o modificación de programas ABAP / customizaciones SAP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258568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286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Cambios en procesos de negocio o reingeniería funcional SAP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606040"/>
            <a:ext cx="420624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633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Soporte funcional SAP (MM, FI, HR, etc.) durante o post-migración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953512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Migración de servicios AWS no-SAP (RDS, Lambda, S3 propios de IT)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300984"/>
            <a:ext cx="420624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328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Renegociación de contratos de licencias SAP con SAP AG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648456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Gestión del cambio organizacional (usuarios finales, capacitación funcional)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3995928"/>
            <a:ext cx="420624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023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Mantenimiento post-migración continuo (servicio separado)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434340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370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Migración de ambientes de Business Objects / SAP Analytics Cloud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 |  Recursos Técnicos y Humanos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303520" cy="320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Equipo de Proyecto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5303520" cy="39319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73152" cy="3931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887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Project Manager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24912" y="1243584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24358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Coordinación general, comunicación, gestión de riesgos y cronograma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618488"/>
            <a:ext cx="5303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618488"/>
            <a:ext cx="73152" cy="3931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367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SAP Basis Senior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24912" y="169164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69164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181965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Migración HANA (HSR), capa app NetWeaver, SolMan, ajustes OS/kernel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2066544"/>
            <a:ext cx="5303520" cy="39319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066544"/>
            <a:ext cx="73152" cy="3931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0848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Azure Cloud Engineer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24912" y="2139696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213969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26771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Provisión IaC (Terraform), VNet, VMs, storage, NSG, ExpressRoute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2514600"/>
            <a:ext cx="5303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514600"/>
            <a:ext cx="73152" cy="3931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5328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HANA DBA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24912" y="2587752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2587752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27157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Configuración HSR, backup policy, performance HANA post-migración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2962656"/>
            <a:ext cx="5303520" cy="39319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962656"/>
            <a:ext cx="73152" cy="393192"/>
          </a:xfrm>
          <a:prstGeom prst="rect">
            <a:avLst/>
          </a:prstGeom>
          <a:solidFill>
            <a:srgbClr val="50A0DC"/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9809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Network Specialist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24912" y="3035808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24912" y="30358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316382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ExpressRoute / VPN, DNS, routing AWS↔Azure durante co-existencia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3410712"/>
            <a:ext cx="5303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3410712"/>
            <a:ext cx="73152" cy="393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429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SAP Funcional (Key User)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24912" y="3483864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24912" y="348386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" y="361188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Validación funcional por módulo (FI, MM, HR, etc.) en cada go-live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3858768"/>
            <a:ext cx="5303520" cy="39319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3858768"/>
            <a:ext cx="73152" cy="3931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8770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QA / Testing Lead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24912" y="393192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24912" y="393192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4048" y="405993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Definición y ejecución de smoke tests, regresión y pruebas de carga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4306824"/>
            <a:ext cx="5303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" y="4306824"/>
            <a:ext cx="73152" cy="3931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325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Seguridad (SecOps)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24912" y="4379976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24912" y="437997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84048" y="450799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NSG, Azure Firewall, hardening OS, cifrado discos, accesos privilegiados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669280" y="777240"/>
            <a:ext cx="3246120" cy="320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0" y="777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Recursos Técnicos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669280" y="1170432"/>
            <a:ext cx="324612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06440" y="118872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Azure ExpressRoute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06440" y="1353312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 Gbps mínimo, dedicado migración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669280" y="1563624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06440" y="158191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VMs Azure (Staging)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806440" y="174650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M64ms, M32ts, E16ds_v5, E8ds_v5, D2ds_v5, B4ms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669280" y="1956816"/>
            <a:ext cx="324612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1975104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Premium SSD v2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806440" y="2139696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Volúmenes /hana/data, /hana/log certificados SAP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669280" y="2350008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06440" y="2368296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Azure NetApp Files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806440" y="2532888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Para /hana/shared en scale-out (si aplica)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669280" y="2743200"/>
            <a:ext cx="324612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276148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Azure DevOps / Git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806440" y="2926080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Repositorio IaC (Terraform / Bicep), runbooks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669280" y="3136392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315468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Terraform Cloud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806440" y="3319272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Gestión de estado y pipelines de infra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669280" y="3529584"/>
            <a:ext cx="324612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06440" y="354787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SAP HANA Studio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806440" y="371246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Configuración HSR, monitoreo replicación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669280" y="3922776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06440" y="3941064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Azure Monitor for SAP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806440" y="4105656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Reemplazo de CloudWatch, alertas y dashboards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669280" y="4315968"/>
            <a:ext cx="324612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06440" y="4334256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niping + hdbsql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806440" y="4498848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Validación de latencia red y performance HANA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669280" y="470916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806440" y="472744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AzCopy + rsync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806440" y="4892040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Transferencia backups y binarios SAP entre nubes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|  Plan de Trabajo y Tiempos Estimados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627632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412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113385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4–6 sem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1627632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71600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Discovery e Inventario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920240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920240"/>
            <a:ext cx="54864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75104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Inventario completo de SIDs y dependencias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" y="2670048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670048"/>
            <a:ext cx="54864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24912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Sizing actual AWS y mapeo a Azure VMs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" y="3419856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3419856"/>
            <a:ext cx="54864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74720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TCO comparativo AWS vs Azure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4169664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4169664"/>
            <a:ext cx="54864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24528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RACI, cronograma y plan de comunicación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83664" y="1033272"/>
            <a:ext cx="109728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3392" y="804672"/>
            <a:ext cx="1627632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8412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93392" y="113385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6–8 sem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93392" y="1371600"/>
            <a:ext cx="1627632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1371600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Diseño de Arquitectura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93392" y="1920240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93392" y="1920240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1975104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Diseño VNet, subnets, NSG, ExpressRoute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93392" y="2670048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93392" y="2670048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2724912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Definición VM sizes, storage, HA/DR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993392" y="3419856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93392" y="3419856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474720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IaC Terraform / Bicep del ambiente Azure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993392" y="4169664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93392" y="4169664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4224528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Revisión de seguridad y hardening plan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21024" y="1033272"/>
            <a:ext cx="109728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30752" y="804672"/>
            <a:ext cx="162763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0752" y="8412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30752" y="113385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8–12 sem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30752" y="1371600"/>
            <a:ext cx="1627632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30752" y="1371600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Migración No-Productivos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0752" y="1920240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30752" y="1920240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1975104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Provisión infra Azure (Dev/QA/Sandbox)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730752" y="2670048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30752" y="2670048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0" y="2724912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Migración HANA Dev/QA (Backup/Restore)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30752" y="3419856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30752" y="3419856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0" y="3474720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Migración Middleware y TA.NET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730752" y="4169664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30752" y="4169664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0" y="4224528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Pruebas funcionales y ajuste sizing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58384" y="1033272"/>
            <a:ext cx="109728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68112" y="804672"/>
            <a:ext cx="1627632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68112" y="8412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468112" y="113385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4–6 sem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68112" y="1371600"/>
            <a:ext cx="1627632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68112" y="1371600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Migración Productivo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68112" y="1920240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68112" y="1920240"/>
            <a:ext cx="54864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0" y="1975104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Migración SolMan (freeze ChaRM)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468112" y="2670048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68112" y="2670048"/>
            <a:ext cx="54864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77840" y="2724912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HSR Cross-Cloud N-HANA-PRO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468112" y="3419856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68112" y="3419856"/>
            <a:ext cx="54864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77840" y="3474720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Cutover N-APS-PRO + DNS switch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68112" y="4169664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68112" y="4169664"/>
            <a:ext cx="54864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77840" y="4224528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Smoke tests, go-live, validación negocio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095744" y="1033272"/>
            <a:ext cx="109728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05472" y="804672"/>
            <a:ext cx="1627632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05472" y="8412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7205472" y="113385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2–4 sem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205472" y="1371600"/>
            <a:ext cx="1627632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05472" y="1371600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Hypercare y Cierre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205472" y="1920240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05472" y="1920240"/>
            <a:ext cx="54864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0" y="1975104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Monitoreo intensivo post go-live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205472" y="2670048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05472" y="2670048"/>
            <a:ext cx="54864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0" y="2724912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Decommission gradual recursos AWS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205472" y="3419856"/>
            <a:ext cx="1627632" cy="694944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05472" y="3419856"/>
            <a:ext cx="54864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0" y="3474720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Reserved Instances + optimización costos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205472" y="4169664"/>
            <a:ext cx="1627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05472" y="4169664"/>
            <a:ext cx="54864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0" y="4224528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Documentación final y handover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estimado: 24 – 36 semanas  |  Sujeto a validación en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  |  Estimación de Costos Azure  (USD / mes)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28016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Sistema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14630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7772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VM Azure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777240"/>
            <a:ext cx="10058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7772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Modalidad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77640" y="777240"/>
            <a:ext cx="8686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77724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VM/Compute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777240"/>
            <a:ext cx="8686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77724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Storage/Net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777240"/>
            <a:ext cx="8686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77724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Total/mes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777240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777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Notas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170432"/>
            <a:ext cx="128016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170432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N-HANA-PRO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08760" y="1170432"/>
            <a:ext cx="14630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11704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Standard_M64ms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71800" y="1170432"/>
            <a:ext cx="10058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170432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Reserved 1Y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77640" y="1170432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170432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$ 7,200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170432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170432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$ 2,100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1170432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170432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$ 9,300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1170432"/>
            <a:ext cx="19202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170432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Prod / HANA Certified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164592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1645920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N-APS-PRO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508760" y="1645920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4480" y="16459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Standard_E16ds_v5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71800" y="1645920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1645920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Reserved 1Y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77640" y="1645920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1645920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820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1645920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1645920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180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15000" y="1645920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1645920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$ 1,000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164592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64592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Prod / NetWeaver App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2121408"/>
            <a:ext cx="128016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121408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N-HANA-DEV/QA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508760" y="2121408"/>
            <a:ext cx="14630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54480" y="212140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Standard_M32ts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971800" y="2121408"/>
            <a:ext cx="10058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2121408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Pay-as-you-go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977640" y="2121408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0" y="2121408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$ 3,100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2121408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2121408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450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15000" y="2121408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2121408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$ 3,550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83680" y="2121408"/>
            <a:ext cx="19202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9400" y="212140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Dev/QA — reducido vs Prod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8600" y="2596896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2596896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N-APS DEV/QA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508760" y="2596896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259689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Standard_E8ds_v5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971800" y="2596896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259689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Pay-as-you-go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977640" y="2596896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3360" y="259689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410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46320" y="2596896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92040" y="259689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 80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715000" y="2596896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259689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$   490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583680" y="259689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29400" y="25968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Dev/QA App Layer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28600" y="3072384"/>
            <a:ext cx="128016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3072384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SOLMAN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508760" y="3072384"/>
            <a:ext cx="14630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54480" y="307238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Standard_E8ds_v5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971800" y="3072384"/>
            <a:ext cx="10058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17520" y="3072384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Reserved 1Y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977640" y="3072384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23360" y="3072384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310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846320" y="3072384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92040" y="3072384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160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715000" y="3072384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60720" y="3072384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$   470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583680" y="3072384"/>
            <a:ext cx="19202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29400" y="3072384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Dual-stack ABAP+Java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28600" y="3547872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3547872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MIDDLEWARE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508760" y="3547872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554480" y="354787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Standard_B4ms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971800" y="3547872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017520" y="3547872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Pay-as-you-go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977640" y="3547872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23360" y="3547872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 95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846320" y="3547872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92040" y="3547872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 30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715000" y="3547872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760720" y="3547872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$   125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583680" y="354787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629400" y="3547872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No productivo / burstable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28600" y="4023360"/>
            <a:ext cx="128016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4320" y="4023360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NOMIPLUS .NET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508760" y="4023360"/>
            <a:ext cx="14630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554480" y="402336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Standard_D2ds_v5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971800" y="4023360"/>
            <a:ext cx="10058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017520" y="4023360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Pay-as-you-go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3977640" y="4023360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23360" y="4023360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 85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4846320" y="4023360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892040" y="4023360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$    60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5715000" y="4023360"/>
            <a:ext cx="86868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760720" y="4023360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$   145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6583680" y="4023360"/>
            <a:ext cx="1920240" cy="438912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629400" y="402336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App .NET no-SAP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228600" y="4498848"/>
            <a:ext cx="86868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74320" y="4498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ESTIMADO MENSUAL AZURE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4800600" y="44988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$ 11,020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5669280" y="44988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$ 3,060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6537960" y="44988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</a:rPr>
              <a:t>$ 15,080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228600" y="4937760"/>
            <a:ext cx="8686800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5760" y="495604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Ahorro estimado vs AWS:  </a:t>
            </a:r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30–45%</a:t>
            </a:r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  aplicando Reserved Instances 1Y para sistemas productivos  |  </a:t>
            </a:r>
            <a:pPr indent="0" marL="0">
              <a:buNone/>
            </a:pPr>
            <a:r>
              <a:rPr lang="en-US" sz="850" b="1" dirty="0">
                <a:solidFill>
                  <a:srgbClr val="0078D4"/>
                </a:solidFill>
              </a:rPr>
              <a:t>Azure Hybrid Benefit</a:t>
            </a:r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 para Windows Server reduce OS hasta 40%  |  Costos de migración one-time: </a:t>
            </a:r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~$ 45,000–80,000 USD</a:t>
            </a:r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 (recursos humanos + herramientas + ExpressRoute durante migración)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  |  Supuestos y Matriz de Riesgos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566160" cy="320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Supuestos del Proyecto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3566160" cy="365760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97864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1.  Se contará con acceso administrativo completo a los sistemas SAP en AWS durante la migración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572768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2.  ExpressRoute (≥1 Gbps) estará disponible antes del inicio de la Fase 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975104"/>
            <a:ext cx="3566160" cy="365760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02536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3.  El cliente gestionará la migración de licencias SAP con SAP AG antes del cutover productivo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2377440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0487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4.  Las versiones de OS (SUSE 15 SP5, Windows) son compatibles con Azure sin actualización previa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779776"/>
            <a:ext cx="3566160" cy="365760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07208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5.  La ventana de mantenimiento productivo es de mínimo 8 horas los fines de semana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3182112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209544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6.  Los recursos humanos del cliente (key users, funcional SAP) estarán disponibles para pruebas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3584448"/>
            <a:ext cx="3566160" cy="365760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1188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7.  No se realizarán cambios funcionales SAP durante el periodo de migración (freeze de cambios)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3986784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14216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8.  El cliente tiene contrato de soporte SAP activo y puede abrir mensajes OSS durante la migración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4389120"/>
            <a:ext cx="3566160" cy="365760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41655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9.  Azure Subscription estará provisionada con cuotas suficientes para VMs M-series antes del inicio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31920" y="777240"/>
            <a:ext cx="49834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7772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Matriz de Riesgos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1170432"/>
            <a:ext cx="1828800" cy="2743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Riesgo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60720" y="1170432"/>
            <a:ext cx="640080" cy="2743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1704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Prob.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1170432"/>
            <a:ext cx="777240" cy="2743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1704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78040" y="1170432"/>
            <a:ext cx="1664208" cy="2743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17043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Mitigación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931920" y="1499616"/>
            <a:ext cx="182880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1499616"/>
            <a:ext cx="64008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499616"/>
            <a:ext cx="77724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78040" y="1499616"/>
            <a:ext cx="1664208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68496" y="15179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Hardware Key SAP inválida en Azure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806440" y="1572768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15727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Alta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437376" y="1572768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7376" y="1572768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Crítico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214616" y="151790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</a:rPr>
              <a:t>Tramitar migración de licencia con SAP AG antes del cutover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931920" y="1938528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60720" y="1938528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1938528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78040" y="1938528"/>
            <a:ext cx="16642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68496" y="19568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Latencia ExpressRoute insuficiente (HSR)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806440" y="201168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06440" y="20116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437376" y="2011680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7376" y="201168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214616" y="195681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</a:rPr>
              <a:t>Medir latencia AWS↔Azure antes de configurar HSR; mínimo 1 Gbps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931920" y="2377440"/>
            <a:ext cx="182880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60720" y="2377440"/>
            <a:ext cx="64008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2377440"/>
            <a:ext cx="77724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78040" y="2377440"/>
            <a:ext cx="1664208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68496" y="23957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Parámetros OS no optimizados en Azure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806440" y="245059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06440" y="245059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Alta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437376" y="2450592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37376" y="245059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214616" y="23957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</a:rPr>
              <a:t>Aplicar saptune profile Azure + SAP Notes 2578899, 2684254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931920" y="2816352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60720" y="2816352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0" y="2816352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2816352"/>
            <a:ext cx="16642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68496" y="2834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Downtime mayor al esperado en cutover prod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806440" y="2889504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6440" y="288950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Baja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437376" y="2889504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37376" y="2889504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Crítico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214616" y="28346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</a:rPr>
              <a:t>Rehearsal de cutover en Dev/QA. Rollback a AWS disponible 4 semanas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931920" y="3255264"/>
            <a:ext cx="182880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760720" y="3255264"/>
            <a:ext cx="64008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0" y="3255264"/>
            <a:ext cx="77724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78040" y="3255264"/>
            <a:ext cx="1664208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68496" y="32735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Datos de LMDB desincronizados post-migración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806440" y="3328416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06440" y="332841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Alta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437376" y="3328416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37376" y="3328416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214616" y="327355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</a:rPr>
              <a:t>Reconectar Diagnostic Agents + verificar SOLMAN_SETUP post-cutover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931920" y="3694176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60720" y="3694176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00800" y="3694176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78040" y="3694176"/>
            <a:ext cx="16642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68496" y="37124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Transferencia de datos lenta (&gt;1 TB HANA)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806440" y="3767328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806440" y="376732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Media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437376" y="3767328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37376" y="3767328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7214616" y="371246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</a:rPr>
              <a:t>Usar HSR para producción; backup comprimido paralelo para dev/QA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931920" y="4133088"/>
            <a:ext cx="182880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0" y="4133088"/>
            <a:ext cx="64008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00800" y="4133088"/>
            <a:ext cx="77724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178040" y="4133088"/>
            <a:ext cx="1664208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68496" y="41513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Pérdida de datos durante cutover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806440" y="420624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806440" y="42062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Baja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437376" y="4206240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37376" y="420624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Crítico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214616" y="415137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</a:rPr>
              <a:t>Backup completo verificado + AWS activo como fallback 4 semanas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931920" y="4572000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0" y="4572000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00800" y="4572000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178040" y="4572000"/>
            <a:ext cx="16642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68496" y="45902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628"/>
                </a:solidFill>
              </a:rPr>
              <a:t>SolMan EOL 2027 sin plan transición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5806440" y="464515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806440" y="464515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Alta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6437376" y="4645152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437376" y="464515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7214616" y="459028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</a:rPr>
              <a:t>Ejecutar Readiness Check Cloud ALM en Fase 1 y planificar transición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09  |  Próximos Pasos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9436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896112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89611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Semana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05840" y="9326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Aprobación de Propuesta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29844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Revisión, ajustes y firma de la propuesta de servicio por ambas partes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60520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59436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22960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92440" y="896112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89611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Semana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440680" y="9326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Kick-off de Proyecto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129844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Reunión de arranque: equipo, RACI, canales de comunicación y herramientas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121408"/>
            <a:ext cx="4160520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121408"/>
            <a:ext cx="59436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21408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0" y="21945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194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Semanas 2–6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05840" y="2231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Inventario y Discovery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259689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Levantamiento completo de SIDs, sizing AWS, dependencias e integraciones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121408"/>
            <a:ext cx="4160520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121408"/>
            <a:ext cx="59436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21408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92440" y="21945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2194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Semana 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440680" y="2231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Provisión Azure Sandbox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259689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Crear ambiente de pruebas Azure para validar conectividad y configuración 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419856"/>
            <a:ext cx="4160520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419856"/>
            <a:ext cx="59436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419856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657600" y="34930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349300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Semana 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05840" y="35295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Contratación ExpressRoute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89534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Iniciar proceso con Microsoft/partner para ExpressRoute ≥1 Gbps AWS↔Azure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419856"/>
            <a:ext cx="4160520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419856"/>
            <a:ext cx="59436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419856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092440" y="34930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078D4">
              <a:alpha val="40000"/>
            </a:srgbClr>
          </a:solidFill>
          <a:ln w="12700">
            <a:solidFill>
              <a:srgbClr val="50A0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349300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Semana 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440680" y="35295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Migración Licencias SAP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40680" y="389534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Abrir petición formal con SAP AG para migrar Hardware Key al nuevo entorno Azure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¡Listos para Iniciar la Migración!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Esta propuesta ha sido diseñada con base en tu landscape SAP actual en AWS,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los estándares de migración recomendados por Microsoft y SAP,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y las mejores prácticas para asegurar continuidad del negocio.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2194560" cy="841248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88950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87121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Entregables Garantizados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88720" y="32004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Arquitectura documentada, runbooks y ambiente estable en Azure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566160" y="2834640"/>
            <a:ext cx="2194560" cy="841248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88950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287121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Equipo Especializado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657600" y="32004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Basis Senior, Azure Engineer, HANA DBA y PM dedicados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035040" y="2834640"/>
            <a:ext cx="2194560" cy="841248"/>
          </a:xfrm>
          <a:prstGeom prst="rect">
            <a:avLst/>
          </a:prstGeom>
          <a:solidFill>
            <a:srgbClr val="0A2540"/>
          </a:solidFill>
          <a:ln w="12700">
            <a:solidFill>
              <a:srgbClr val="50A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88950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87121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Riesgo Controlado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126480" y="32004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Rollback a AWS disponible, backup completo y pruebas previas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57200" y="39502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Propuesta de Servicio Confidencial  —  Migración SAP AWS → Azure  —  v1.0  —  2025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Preparado con base en el landscape SAP CLS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Servicio — Migración SAP AWS a Azure</dc:title>
  <dc:subject>PptxGenJS Presentation</dc:subject>
  <dc:creator>PptxGenJS</dc:creator>
  <cp:lastModifiedBy>PptxGenJS</cp:lastModifiedBy>
  <cp:revision>1</cp:revision>
  <dcterms:created xsi:type="dcterms:W3CDTF">2026-03-31T05:38:19Z</dcterms:created>
  <dcterms:modified xsi:type="dcterms:W3CDTF">2026-03-31T05:38:19Z</dcterms:modified>
</cp:coreProperties>
</file>