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058A3"/>
          </a:solidFill>
          <a:ln w="12700">
            <a:solidFill>
              <a:srgbClr val="0058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54864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09728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64592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19456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74320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329184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84048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438912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4937760"/>
            <a:ext cx="3474720" cy="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7496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73568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0"/>
            <a:ext cx="0" cy="5143500"/>
          </a:xfrm>
          <a:prstGeom prst="line">
            <a:avLst/>
          </a:prstGeom>
          <a:noFill/>
          <a:ln w="6350">
            <a:solidFill>
              <a:srgbClr val="004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640080"/>
            <a:ext cx="1737360" cy="1737360"/>
          </a:xfrm>
          <a:prstGeom prst="ellipse">
            <a:avLst/>
          </a:prstGeom>
          <a:solidFill>
            <a:srgbClr val="0078D4">
              <a:alpha val="40000"/>
            </a:srgbClr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914400"/>
            <a:ext cx="1188720" cy="2560320"/>
          </a:xfrm>
          <a:prstGeom prst="ellipse">
            <a:avLst/>
          </a:prstGeom>
          <a:solidFill>
            <a:srgbClr val="00B0F0">
              <a:alpha val="20000"/>
            </a:srgbClr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103120"/>
            <a:ext cx="2560320" cy="1005840"/>
          </a:xfrm>
          <a:prstGeom prst="ellipse">
            <a:avLst/>
          </a:prstGeom>
          <a:solidFill>
            <a:srgbClr val="00B294">
              <a:alpha val="25000"/>
            </a:srgbClr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011680"/>
            <a:ext cx="1371600" cy="1371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MAPS</a:t>
            </a:r>
            <a:endParaRPr lang="en-US" sz="5200" dirty="0"/>
          </a:p>
        </p:txBody>
      </p:sp>
      <p:sp>
        <p:nvSpPr>
          <p:cNvPr id="26" name="Text 23"/>
          <p:cNvSpPr/>
          <p:nvPr/>
        </p:nvSpPr>
        <p:spPr>
          <a:xfrm>
            <a:off x="36576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Geoespacial de Microsoft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65760" y="2606040"/>
            <a:ext cx="4114800" cy="0"/>
          </a:xfrm>
          <a:prstGeom prst="line">
            <a:avLst/>
          </a:prstGeom>
          <a:noFill/>
          <a:ln w="25400">
            <a:solidFill>
              <a:srgbClr val="00B2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de mapas inteligentes para la empresa moderna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28600" y="42976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78D4">
              <a:alpha val="70000"/>
            </a:srgbClr>
          </a:solidFill>
          <a:ln w="10160">
            <a:solidFill>
              <a:srgbClr val="00B0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Fundamentos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11680" y="42976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78D4">
              <a:alpha val="70000"/>
            </a:srgbClr>
          </a:solidFill>
          <a:ln w="10160">
            <a:solidFill>
              <a:srgbClr val="00B0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1168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Mapas &amp; Visualización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794760" y="42976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78D4">
              <a:alpha val="70000"/>
            </a:srgbClr>
          </a:solidFill>
          <a:ln w="10160">
            <a:solidFill>
              <a:srgbClr val="00B0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9476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APIs Esenciales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77840" y="42976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78D4">
              <a:alpha val="70000"/>
            </a:srgbClr>
          </a:solidFill>
          <a:ln w="10160">
            <a:solidFill>
              <a:srgbClr val="00B0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778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Servicios Avanzados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360920" y="42976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78D4">
              <a:alpha val="70000"/>
            </a:srgbClr>
          </a:solidFill>
          <a:ln w="10160">
            <a:solidFill>
              <a:srgbClr val="00B0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6092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7BD"/>
                </a:solidFill>
              </a:rPr>
              <a:t>2025  ·  Presentación Ejecutiva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459"/>
          </a:solidFill>
          <a:ln w="12700">
            <a:solidFill>
              <a:srgbClr val="0034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Introducción y Fundamentos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Geoespacial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24028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de mapas en la nube de Microsoft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zoom del 0 (global) al 22 (detalle edificio)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mundial con datos actualizados constantemente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nativamente con el ecosistema Azure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51560"/>
            <a:ext cx="2788920" cy="54864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Azure Maps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224028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REST API basados en la nube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regiones globales para baja latencia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con SLA empresarial de 99.9%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 según demanda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1051560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051560"/>
            <a:ext cx="27889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Servicio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24028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rápida desde Azure Portal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suscripción (Primary/Secondary Keys)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con Azure RBAC y AAD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S0 y S1 según necesidades de uso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💡  Azure Maps ofrece más de 30 APIs y SDKs para web, iOS y Android con más de 1 billón de transacciones procesadas mensualmente.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8A3"/>
          </a:solidFill>
          <a:ln w="12700">
            <a:solidFill>
              <a:srgbClr val="0058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Servicios de Mapas y Visualización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1920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de Mapas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Vectoriales: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personalizables, carga rápida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Trama (Raster):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universal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por Satélite: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resolución, vista aérea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00584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005840"/>
            <a:ext cx="64008" cy="192024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Mapas Web &amp; SDKs Móviles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727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Web: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JavaScript/TypeScript, React integrado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Android: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Nativo, interactividad táctil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iOS: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Swift/Obj-C, SwiftUI soportado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de Mapa Disponibles: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" y="3429000"/>
            <a:ext cx="1627632" cy="822960"/>
          </a:xfrm>
          <a:prstGeom prst="rect">
            <a:avLst/>
          </a:prstGeom>
          <a:solidFill>
            <a:srgbClr val="D6EEFF"/>
          </a:solidFill>
          <a:ln w="381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28600" y="4160520"/>
            <a:ext cx="16276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993392" y="3429000"/>
            <a:ext cx="1627632" cy="822960"/>
          </a:xfrm>
          <a:prstGeom prst="rect">
            <a:avLst/>
          </a:prstGeom>
          <a:solidFill>
            <a:srgbClr val="2C5F2D"/>
          </a:solidFill>
          <a:ln w="381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993392" y="4160520"/>
            <a:ext cx="16276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758184" y="3429000"/>
            <a:ext cx="1627632" cy="822960"/>
          </a:xfrm>
          <a:prstGeom prst="rect">
            <a:avLst/>
          </a:prstGeom>
          <a:solidFill>
            <a:srgbClr val="1A2232"/>
          </a:solidFill>
          <a:ln w="381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758184" y="4160520"/>
            <a:ext cx="16276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522976" y="3429000"/>
            <a:ext cx="1627632" cy="822960"/>
          </a:xfrm>
          <a:prstGeom prst="rect">
            <a:avLst/>
          </a:prstGeom>
          <a:solidFill>
            <a:srgbClr val="9E9E9E"/>
          </a:solidFill>
          <a:ln w="381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522976" y="4160520"/>
            <a:ext cx="16276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287768" y="3429000"/>
            <a:ext cx="1627632" cy="822960"/>
          </a:xfrm>
          <a:prstGeom prst="rect">
            <a:avLst/>
          </a:prstGeom>
          <a:solidFill>
            <a:srgbClr val="333333"/>
          </a:solidFill>
          <a:ln w="381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287768" y="4160520"/>
            <a:ext cx="1627632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💡  Los SDKs de Azure Maps permiten la misma experiencia de mapa en web, Android e iOS con una única suscripción.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459"/>
          </a:solidFill>
          <a:ln w="12700">
            <a:solidFill>
              <a:srgbClr val="0034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APIs y Servicios Geoespaciales Esenciales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20624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612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4356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Geocodificación &amp; POI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70992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Geocodificación directa e inversa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fuzzy con tolerancia a errores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interés (POI) por categoría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estructurada por dirección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90872" y="10515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1051560"/>
            <a:ext cx="4206240" cy="4572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1612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Service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85232" y="14356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Avanzado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82312" y="170992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punto a punto y multipunto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trayectos (TSP)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isócronos (alcance por tiempo)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eléctricos (carga/rango)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28600" y="29718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971800"/>
            <a:ext cx="420624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8152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Incidentes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2960" y="33558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en Tiempo Real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20040" y="36301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vehicular en tiempo real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incidentes viales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Velocidades promedio por segmento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capa de mapa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90872" y="29718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90872" y="2971800"/>
            <a:ext cx="4206240" cy="457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08152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85232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Operations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285232" y="33558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Espacial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782312" y="36301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geoespaciales (distancia, área)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proximidad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Geocercas (Geofencing) en tiempo real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dentro de polígono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💡  Todas las APIs retornan JSON estándar y están disponibles con autenticación por clave o Azure Active Directory.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8A3"/>
          </a:solidFill>
          <a:ln w="12700">
            <a:solidFill>
              <a:srgbClr val="0058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Servicios Especializados Avanzados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283464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789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07899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Maps Creator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" y="14173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Interiores (Indoor Mapping)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10896" y="1755648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publica mapas detallados del interior de edificios. Ideal para centros comerciales, hospitales, aeropuertos y campus corporativos.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" y="2816352"/>
            <a:ext cx="2615184" cy="0"/>
          </a:xfrm>
          <a:prstGeom prst="line">
            <a:avLst/>
          </a:prstGeom>
          <a:noFill/>
          <a:ln w="10160">
            <a:solidFill>
              <a:srgbClr val="E8EF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DWG/GeoJSON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682496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82496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Tileset personalizado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0896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inteligentes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82496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82496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indoor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182112" y="1005840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82112" y="1005840"/>
            <a:ext cx="2834640" cy="68580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078992"/>
            <a:ext cx="475488" cy="4754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107899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Services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840480" y="14173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Meteorología Integrada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291840" y="1755648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condiciones climáticas actuales, pronósticos y alertas a lo largo de cualquier ruta o área geográfica.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91840" y="2816352"/>
            <a:ext cx="2615184" cy="0"/>
          </a:xfrm>
          <a:prstGeom prst="line">
            <a:avLst/>
          </a:prstGeom>
          <a:noFill/>
          <a:ln w="10160">
            <a:solidFill>
              <a:srgbClr val="E8EFF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91840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B29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9184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15 días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663440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B29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6344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91840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B29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918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ruta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63440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00B29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UV y calidad aire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6163056" y="1005840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163056" y="1005840"/>
            <a:ext cx="2834640" cy="685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78992"/>
            <a:ext cx="475488" cy="4754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821424" y="107899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Services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821424" y="14173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Público &amp; Geolocalización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72784" y="1755648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viajes en transporte público con rutas multimodales y geolocalización precisa por dirección IP.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272784" y="2816352"/>
            <a:ext cx="2615184" cy="0"/>
          </a:xfrm>
          <a:prstGeom prst="line">
            <a:avLst/>
          </a:prstGeom>
          <a:noFill/>
          <a:ln w="10160">
            <a:solidFill>
              <a:srgbClr val="E8EFF5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272784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72784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multimodales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7644384" y="29077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644384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en tiempo real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6272784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272784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cercanas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7644384" y="32735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6EEFF"/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644384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Geoloc. por IP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💡  Azure Maps Creator permite convertir planos DWG existentes a mapas de interiores publicados en minutos.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Integración con Power BI y Análisis de 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Capas Visuales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389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8EF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54864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44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Burbujas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escalados por valor métrico. Ideal para comparar volúmenes por ubicación.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185416"/>
            <a:ext cx="4389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8EF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85416"/>
            <a:ext cx="54864" cy="65836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 coloreadas por intensidad de datos. Perfecto para KPIs por territorio.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53512"/>
            <a:ext cx="4389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8EF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53512"/>
            <a:ext cx="54864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809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Térmico (Heatmap)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datos visualizada como gradiente de calor. Excelente para concentraciones.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721608"/>
            <a:ext cx="4389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8EF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721608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49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automática de puntos cercanos con conteo. Optimiza visualizaciones masivas.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4069080" cy="3657600"/>
          </a:xfrm>
          <a:prstGeom prst="rect">
            <a:avLst/>
          </a:prstGeom>
          <a:solidFill>
            <a:srgbClr val="003459"/>
          </a:solidFill>
          <a:ln w="12700">
            <a:solidFill>
              <a:srgbClr val="0034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Avanzadas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1508760"/>
            <a:ext cx="3657600" cy="0"/>
          </a:xfrm>
          <a:prstGeom prst="line">
            <a:avLst/>
          </a:prstGeom>
          <a:noFill/>
          <a:ln w="19050">
            <a:solidFill>
              <a:srgbClr val="F2C8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Mapas 3D (Columnas)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métricas como columnas tridimensionales sobre el mapa para análisis de profundidad.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Object Interaction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el diseño de cada objeto en el mapa mediante reglas de formato condicional.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Tooltips Dinámicos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3364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tooltips interactivos con KPIs, imágenes y medidas personalizadas por región.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Filtros Cruzados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4096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bidireccional con otros visuales de Power BI para análisis correlacionado.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Configuración: Habilitar 'Azure Maps' en Configuración del inquilino → Objeto Visual de Power BI → Activar.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D6EEFF"/>
          </a:solidFill>
          <a:ln w="12700">
            <a:solidFill>
              <a:srgbClr val="D6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8A3"/>
                </a:solidFill>
              </a:rPr>
              <a:t>💡  Azure Maps en Power BI es un objeto visual nativo disponible desde Power BI Desktop 2.87+ sin instalación adicional.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003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Cómo Comenzar – Trial y Primeros Escenarios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00B2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960120"/>
            <a:ext cx="4206240" cy="1691640"/>
          </a:xfrm>
          <a:prstGeom prst="rect">
            <a:avLst/>
          </a:prstGeom>
          <a:solidFill>
            <a:srgbClr val="001A3A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" y="1097280"/>
            <a:ext cx="594360" cy="5943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 de Azure gratuita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1737360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azure.com/free · $200 USD en créditos por 30 días · 12 meses de servicios gratuitos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" y="24231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azure.com/free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90872" y="960120"/>
            <a:ext cx="4206240" cy="1691640"/>
          </a:xfrm>
          <a:prstGeom prst="rect">
            <a:avLst/>
          </a:prstGeom>
          <a:solidFill>
            <a:srgbClr val="001A3A"/>
          </a:solidFill>
          <a:ln w="19050">
            <a:solidFill>
              <a:srgbClr val="00B29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097280"/>
            <a:ext cx="594360" cy="594360"/>
          </a:xfrm>
          <a:prstGeom prst="ellipse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95544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recurso Azure Maps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737360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Azure → Crear recurso → Buscar 'Azure Maps' → Plan S0 (gratis para pruebas) → Obtener clave de suscripción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4231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portal.azure.com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834640"/>
            <a:ext cx="4206240" cy="1691640"/>
          </a:xfrm>
          <a:prstGeom prst="rect">
            <a:avLst/>
          </a:prstGeom>
          <a:solidFill>
            <a:srgbClr val="001A3A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" y="2971800"/>
            <a:ext cx="594360" cy="59436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" y="2971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demos interactivos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" y="3611880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Maps Samples: más de 400 ejemplos de código en vivo con React, JavaScript y HTML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" y="429768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samples.azuremaps.com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90872" y="2834640"/>
            <a:ext cx="4206240" cy="1691640"/>
          </a:xfrm>
          <a:prstGeom prst="rect">
            <a:avLst/>
          </a:prstGeom>
          <a:solidFill>
            <a:srgbClr val="001A3A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971800"/>
            <a:ext cx="594360" cy="59436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95544" y="2971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escenarios piloto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611880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de flota · Rutas optimizadas · Heatmaps en Power BI · Mapas de interiores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29768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docs.microsoft.com/azure/azure-maps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7BD"/>
                </a:solidFill>
              </a:rPr>
              <a:t>Con una cuenta Azure Free obtienes hasta 500,000 transacciones gratuitas de Azure Maps por mes.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Empresariales &amp; Próximos Pasos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6968" y="11247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&amp; Cadena de Suministro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459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 de flota, rutas optimizadas, geofencing de almacenes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05156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11247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&amp; Hospitales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interiores para navegación de pacientes, recursos por zona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5624" y="105156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7064" y="1124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93992" y="11247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&amp; Smart Cities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6459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urbana, incidentes viales, análisis de cobertura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46888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" y="25420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Comercio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0632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maps de afluencia, análisis de micro-mercados, cobertura de tiendas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246888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73552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0" y="25420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Energía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activos en campo, rutas de inspección, alertas climáticas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5624" y="2468880"/>
            <a:ext cx="2834640" cy="1261872"/>
          </a:xfrm>
          <a:prstGeom prst="rect">
            <a:avLst/>
          </a:prstGeom>
          <a:solidFill>
            <a:srgbClr val="001A3A"/>
          </a:solidFill>
          <a:ln w="10160">
            <a:solidFill>
              <a:srgbClr val="003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27064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93992" y="25420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306324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geoespaciales en Power BI, análisis territorial de KPIs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0078D4">
              <a:alpha val="80000"/>
            </a:srgbClr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explorar Azure Maps?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Regístrate en azure.com/free · Accede a documentación en docs.microsoft.com/azure/azure-maps · Prueba los 400+ demos en samples.azuremaps.com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Maps – Presentación Ejecutiva</dc:title>
  <dc:subject>PptxGenJS Presentation</dc:subject>
  <dc:creator>Microsoft Azure</dc:creator>
  <cp:lastModifiedBy>Microsoft Azure</cp:lastModifiedBy>
  <cp:revision>1</cp:revision>
  <dcterms:created xsi:type="dcterms:W3CDTF">2026-05-13T05:31:34Z</dcterms:created>
  <dcterms:modified xsi:type="dcterms:W3CDTF">2026-05-13T05:31:34Z</dcterms:modified>
</cp:coreProperties>
</file>