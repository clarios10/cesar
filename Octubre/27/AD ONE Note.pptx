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90" d="100"/>
          <a:sy n="90" d="100"/>
        </p:scale>
        <p:origin x="326" y="-2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FE725C-CBF0-A7F7-FC72-9A14DDF11CC5}"/>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L"/>
          </a:p>
        </p:txBody>
      </p:sp>
      <p:sp>
        <p:nvSpPr>
          <p:cNvPr id="3" name="Subtítulo 2">
            <a:extLst>
              <a:ext uri="{FF2B5EF4-FFF2-40B4-BE49-F238E27FC236}">
                <a16:creationId xmlns:a16="http://schemas.microsoft.com/office/drawing/2014/main" id="{DC7DEF0D-E3FA-B82D-81F9-988725C34F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L"/>
          </a:p>
        </p:txBody>
      </p:sp>
      <p:sp>
        <p:nvSpPr>
          <p:cNvPr id="4" name="Marcador de fecha 3">
            <a:extLst>
              <a:ext uri="{FF2B5EF4-FFF2-40B4-BE49-F238E27FC236}">
                <a16:creationId xmlns:a16="http://schemas.microsoft.com/office/drawing/2014/main" id="{D2F74991-0C3E-0D0F-558B-5DAA44ECA7DC}"/>
              </a:ext>
            </a:extLst>
          </p:cNvPr>
          <p:cNvSpPr>
            <a:spLocks noGrp="1"/>
          </p:cNvSpPr>
          <p:nvPr>
            <p:ph type="dt" sz="half" idx="10"/>
          </p:nvPr>
        </p:nvSpPr>
        <p:spPr/>
        <p:txBody>
          <a:bodyPr/>
          <a:lstStyle/>
          <a:p>
            <a:fld id="{6D6136C5-49CC-440D-9B13-72D0130FAEC7}" type="datetimeFigureOut">
              <a:rPr lang="es-CL" smtClean="0"/>
              <a:t>26-10-2026</a:t>
            </a:fld>
            <a:endParaRPr lang="es-CL"/>
          </a:p>
        </p:txBody>
      </p:sp>
      <p:sp>
        <p:nvSpPr>
          <p:cNvPr id="5" name="Marcador de pie de página 4">
            <a:extLst>
              <a:ext uri="{FF2B5EF4-FFF2-40B4-BE49-F238E27FC236}">
                <a16:creationId xmlns:a16="http://schemas.microsoft.com/office/drawing/2014/main" id="{91705DCC-D30D-5505-7227-08BE76BBD2A7}"/>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1B2A9452-7175-9A3E-13F8-69BD264C0B05}"/>
              </a:ext>
            </a:extLst>
          </p:cNvPr>
          <p:cNvSpPr>
            <a:spLocks noGrp="1"/>
          </p:cNvSpPr>
          <p:nvPr>
            <p:ph type="sldNum" sz="quarter" idx="12"/>
          </p:nvPr>
        </p:nvSpPr>
        <p:spPr/>
        <p:txBody>
          <a:bodyPr/>
          <a:lstStyle/>
          <a:p>
            <a:fld id="{EAF8DFA4-5C1F-4F3D-86D9-9408AC99FEE1}" type="slidenum">
              <a:rPr lang="es-CL" smtClean="0"/>
              <a:t>‹Nº›</a:t>
            </a:fld>
            <a:endParaRPr lang="es-CL"/>
          </a:p>
        </p:txBody>
      </p:sp>
    </p:spTree>
    <p:extLst>
      <p:ext uri="{BB962C8B-B14F-4D97-AF65-F5344CB8AC3E}">
        <p14:creationId xmlns:p14="http://schemas.microsoft.com/office/powerpoint/2010/main" val="27762873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BB54D4-F0BE-82C0-E543-6A8458AD173F}"/>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BEEE7B16-520B-7991-E4DC-AD7A8A273754}"/>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A1711B24-BB7B-89F8-45D6-823B98427278}"/>
              </a:ext>
            </a:extLst>
          </p:cNvPr>
          <p:cNvSpPr>
            <a:spLocks noGrp="1"/>
          </p:cNvSpPr>
          <p:nvPr>
            <p:ph type="dt" sz="half" idx="10"/>
          </p:nvPr>
        </p:nvSpPr>
        <p:spPr/>
        <p:txBody>
          <a:bodyPr/>
          <a:lstStyle/>
          <a:p>
            <a:fld id="{6D6136C5-49CC-440D-9B13-72D0130FAEC7}" type="datetimeFigureOut">
              <a:rPr lang="es-CL" smtClean="0"/>
              <a:t>26-10-2026</a:t>
            </a:fld>
            <a:endParaRPr lang="es-CL"/>
          </a:p>
        </p:txBody>
      </p:sp>
      <p:sp>
        <p:nvSpPr>
          <p:cNvPr id="5" name="Marcador de pie de página 4">
            <a:extLst>
              <a:ext uri="{FF2B5EF4-FFF2-40B4-BE49-F238E27FC236}">
                <a16:creationId xmlns:a16="http://schemas.microsoft.com/office/drawing/2014/main" id="{2D3A2430-90A5-248F-1690-1124B23BA131}"/>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FB93813D-22ED-94E0-FC01-EAFDCA2368F3}"/>
              </a:ext>
            </a:extLst>
          </p:cNvPr>
          <p:cNvSpPr>
            <a:spLocks noGrp="1"/>
          </p:cNvSpPr>
          <p:nvPr>
            <p:ph type="sldNum" sz="quarter" idx="12"/>
          </p:nvPr>
        </p:nvSpPr>
        <p:spPr/>
        <p:txBody>
          <a:bodyPr/>
          <a:lstStyle/>
          <a:p>
            <a:fld id="{EAF8DFA4-5C1F-4F3D-86D9-9408AC99FEE1}" type="slidenum">
              <a:rPr lang="es-CL" smtClean="0"/>
              <a:t>‹Nº›</a:t>
            </a:fld>
            <a:endParaRPr lang="es-CL"/>
          </a:p>
        </p:txBody>
      </p:sp>
    </p:spTree>
    <p:extLst>
      <p:ext uri="{BB962C8B-B14F-4D97-AF65-F5344CB8AC3E}">
        <p14:creationId xmlns:p14="http://schemas.microsoft.com/office/powerpoint/2010/main" val="504934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A3B157F-63E3-E235-D0D8-208884CB1999}"/>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65F88F6C-145A-6AF7-2E2F-F63E98E4C51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5B8413F-0717-EF6A-0023-54DE70F3CD4C}"/>
              </a:ext>
            </a:extLst>
          </p:cNvPr>
          <p:cNvSpPr>
            <a:spLocks noGrp="1"/>
          </p:cNvSpPr>
          <p:nvPr>
            <p:ph type="dt" sz="half" idx="10"/>
          </p:nvPr>
        </p:nvSpPr>
        <p:spPr/>
        <p:txBody>
          <a:bodyPr/>
          <a:lstStyle/>
          <a:p>
            <a:fld id="{6D6136C5-49CC-440D-9B13-72D0130FAEC7}" type="datetimeFigureOut">
              <a:rPr lang="es-CL" smtClean="0"/>
              <a:t>26-10-2026</a:t>
            </a:fld>
            <a:endParaRPr lang="es-CL"/>
          </a:p>
        </p:txBody>
      </p:sp>
      <p:sp>
        <p:nvSpPr>
          <p:cNvPr id="5" name="Marcador de pie de página 4">
            <a:extLst>
              <a:ext uri="{FF2B5EF4-FFF2-40B4-BE49-F238E27FC236}">
                <a16:creationId xmlns:a16="http://schemas.microsoft.com/office/drawing/2014/main" id="{F6EB208D-D61B-B469-1C37-33D4F8067007}"/>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E97921A5-123A-CA4A-2C03-8EEA1B10ED94}"/>
              </a:ext>
            </a:extLst>
          </p:cNvPr>
          <p:cNvSpPr>
            <a:spLocks noGrp="1"/>
          </p:cNvSpPr>
          <p:nvPr>
            <p:ph type="sldNum" sz="quarter" idx="12"/>
          </p:nvPr>
        </p:nvSpPr>
        <p:spPr/>
        <p:txBody>
          <a:bodyPr/>
          <a:lstStyle/>
          <a:p>
            <a:fld id="{EAF8DFA4-5C1F-4F3D-86D9-9408AC99FEE1}" type="slidenum">
              <a:rPr lang="es-CL" smtClean="0"/>
              <a:t>‹Nº›</a:t>
            </a:fld>
            <a:endParaRPr lang="es-CL"/>
          </a:p>
        </p:txBody>
      </p:sp>
    </p:spTree>
    <p:extLst>
      <p:ext uri="{BB962C8B-B14F-4D97-AF65-F5344CB8AC3E}">
        <p14:creationId xmlns:p14="http://schemas.microsoft.com/office/powerpoint/2010/main" val="19595202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3346C11-CB0A-AFC4-03A1-2E66E16A3ECA}"/>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AA71303D-8938-3E83-EBA0-403DC330D344}"/>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contenido 3">
            <a:extLst>
              <a:ext uri="{FF2B5EF4-FFF2-40B4-BE49-F238E27FC236}">
                <a16:creationId xmlns:a16="http://schemas.microsoft.com/office/drawing/2014/main" id="{FF92423B-912F-28C4-3BEB-58E53BC05069}"/>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fecha 4">
            <a:extLst>
              <a:ext uri="{FF2B5EF4-FFF2-40B4-BE49-F238E27FC236}">
                <a16:creationId xmlns:a16="http://schemas.microsoft.com/office/drawing/2014/main" id="{AB0E323C-6035-472B-51E4-D2F1296424ED}"/>
              </a:ext>
            </a:extLst>
          </p:cNvPr>
          <p:cNvSpPr>
            <a:spLocks noGrp="1"/>
          </p:cNvSpPr>
          <p:nvPr>
            <p:ph type="dt" sz="half" idx="10"/>
          </p:nvPr>
        </p:nvSpPr>
        <p:spPr/>
        <p:txBody>
          <a:bodyPr/>
          <a:lstStyle/>
          <a:p>
            <a:fld id="{6D6136C5-49CC-440D-9B13-72D0130FAEC7}" type="datetimeFigureOut">
              <a:rPr lang="es-CL" smtClean="0"/>
              <a:t>26-10-2026</a:t>
            </a:fld>
            <a:endParaRPr lang="es-CL"/>
          </a:p>
        </p:txBody>
      </p:sp>
      <p:sp>
        <p:nvSpPr>
          <p:cNvPr id="6" name="Marcador de pie de página 5">
            <a:extLst>
              <a:ext uri="{FF2B5EF4-FFF2-40B4-BE49-F238E27FC236}">
                <a16:creationId xmlns:a16="http://schemas.microsoft.com/office/drawing/2014/main" id="{93E61A4C-ED4B-9143-6651-D645D414788D}"/>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03B4B8D1-845D-1E5D-A561-073A0FB8BE8E}"/>
              </a:ext>
            </a:extLst>
          </p:cNvPr>
          <p:cNvSpPr>
            <a:spLocks noGrp="1"/>
          </p:cNvSpPr>
          <p:nvPr>
            <p:ph type="sldNum" sz="quarter" idx="12"/>
          </p:nvPr>
        </p:nvSpPr>
        <p:spPr/>
        <p:txBody>
          <a:bodyPr/>
          <a:lstStyle/>
          <a:p>
            <a:fld id="{EAF8DFA4-5C1F-4F3D-86D9-9408AC99FEE1}" type="slidenum">
              <a:rPr lang="es-CL" smtClean="0"/>
              <a:t>‹Nº›</a:t>
            </a:fld>
            <a:endParaRPr lang="es-CL"/>
          </a:p>
        </p:txBody>
      </p:sp>
    </p:spTree>
    <p:extLst>
      <p:ext uri="{BB962C8B-B14F-4D97-AF65-F5344CB8AC3E}">
        <p14:creationId xmlns:p14="http://schemas.microsoft.com/office/powerpoint/2010/main" val="31839285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5BBF03-9879-B661-ADF0-713B87B20C5D}"/>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18FE1048-35D1-2746-AB07-2941A374E40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4FB32C59-E206-F431-49B1-4CA32D43C9CE}"/>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texto 4">
            <a:extLst>
              <a:ext uri="{FF2B5EF4-FFF2-40B4-BE49-F238E27FC236}">
                <a16:creationId xmlns:a16="http://schemas.microsoft.com/office/drawing/2014/main" id="{99092671-3190-B360-37C2-A2ADFEE4A1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028002A3-1599-473F-4CDA-9BB2C4596F4B}"/>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7" name="Marcador de fecha 6">
            <a:extLst>
              <a:ext uri="{FF2B5EF4-FFF2-40B4-BE49-F238E27FC236}">
                <a16:creationId xmlns:a16="http://schemas.microsoft.com/office/drawing/2014/main" id="{87B3724B-D3D3-1AD2-DE67-BF7DBBC926A0}"/>
              </a:ext>
            </a:extLst>
          </p:cNvPr>
          <p:cNvSpPr>
            <a:spLocks noGrp="1"/>
          </p:cNvSpPr>
          <p:nvPr>
            <p:ph type="dt" sz="half" idx="10"/>
          </p:nvPr>
        </p:nvSpPr>
        <p:spPr/>
        <p:txBody>
          <a:bodyPr/>
          <a:lstStyle/>
          <a:p>
            <a:fld id="{6D6136C5-49CC-440D-9B13-72D0130FAEC7}" type="datetimeFigureOut">
              <a:rPr lang="es-CL" smtClean="0"/>
              <a:t>26-10-2026</a:t>
            </a:fld>
            <a:endParaRPr lang="es-CL"/>
          </a:p>
        </p:txBody>
      </p:sp>
      <p:sp>
        <p:nvSpPr>
          <p:cNvPr id="8" name="Marcador de pie de página 7">
            <a:extLst>
              <a:ext uri="{FF2B5EF4-FFF2-40B4-BE49-F238E27FC236}">
                <a16:creationId xmlns:a16="http://schemas.microsoft.com/office/drawing/2014/main" id="{AE7BCD19-F22C-12EB-3A74-0C91146BA652}"/>
              </a:ext>
            </a:extLst>
          </p:cNvPr>
          <p:cNvSpPr>
            <a:spLocks noGrp="1"/>
          </p:cNvSpPr>
          <p:nvPr>
            <p:ph type="ftr" sz="quarter" idx="11"/>
          </p:nvPr>
        </p:nvSpPr>
        <p:spPr/>
        <p:txBody>
          <a:bodyPr/>
          <a:lstStyle/>
          <a:p>
            <a:endParaRPr lang="es-CL"/>
          </a:p>
        </p:txBody>
      </p:sp>
      <p:sp>
        <p:nvSpPr>
          <p:cNvPr id="9" name="Marcador de número de diapositiva 8">
            <a:extLst>
              <a:ext uri="{FF2B5EF4-FFF2-40B4-BE49-F238E27FC236}">
                <a16:creationId xmlns:a16="http://schemas.microsoft.com/office/drawing/2014/main" id="{5274F617-32DA-9689-6982-0058D2CEEDE8}"/>
              </a:ext>
            </a:extLst>
          </p:cNvPr>
          <p:cNvSpPr>
            <a:spLocks noGrp="1"/>
          </p:cNvSpPr>
          <p:nvPr>
            <p:ph type="sldNum" sz="quarter" idx="12"/>
          </p:nvPr>
        </p:nvSpPr>
        <p:spPr/>
        <p:txBody>
          <a:bodyPr/>
          <a:lstStyle/>
          <a:p>
            <a:fld id="{EAF8DFA4-5C1F-4F3D-86D9-9408AC99FEE1}" type="slidenum">
              <a:rPr lang="es-CL" smtClean="0"/>
              <a:t>‹Nº›</a:t>
            </a:fld>
            <a:endParaRPr lang="es-CL"/>
          </a:p>
        </p:txBody>
      </p:sp>
    </p:spTree>
    <p:extLst>
      <p:ext uri="{BB962C8B-B14F-4D97-AF65-F5344CB8AC3E}">
        <p14:creationId xmlns:p14="http://schemas.microsoft.com/office/powerpoint/2010/main" val="2307885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02E15E-FB1A-04D0-9025-24503A8BF625}"/>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fecha 2">
            <a:extLst>
              <a:ext uri="{FF2B5EF4-FFF2-40B4-BE49-F238E27FC236}">
                <a16:creationId xmlns:a16="http://schemas.microsoft.com/office/drawing/2014/main" id="{81772A29-96D0-E64C-FDFB-039EB2E76263}"/>
              </a:ext>
            </a:extLst>
          </p:cNvPr>
          <p:cNvSpPr>
            <a:spLocks noGrp="1"/>
          </p:cNvSpPr>
          <p:nvPr>
            <p:ph type="dt" sz="half" idx="10"/>
          </p:nvPr>
        </p:nvSpPr>
        <p:spPr/>
        <p:txBody>
          <a:bodyPr/>
          <a:lstStyle/>
          <a:p>
            <a:fld id="{6D6136C5-49CC-440D-9B13-72D0130FAEC7}" type="datetimeFigureOut">
              <a:rPr lang="es-CL" smtClean="0"/>
              <a:t>26-10-2026</a:t>
            </a:fld>
            <a:endParaRPr lang="es-CL"/>
          </a:p>
        </p:txBody>
      </p:sp>
      <p:sp>
        <p:nvSpPr>
          <p:cNvPr id="4" name="Marcador de pie de página 3">
            <a:extLst>
              <a:ext uri="{FF2B5EF4-FFF2-40B4-BE49-F238E27FC236}">
                <a16:creationId xmlns:a16="http://schemas.microsoft.com/office/drawing/2014/main" id="{BE736763-FA63-563B-D6D5-B0F73F7BCB66}"/>
              </a:ext>
            </a:extLst>
          </p:cNvPr>
          <p:cNvSpPr>
            <a:spLocks noGrp="1"/>
          </p:cNvSpPr>
          <p:nvPr>
            <p:ph type="ftr" sz="quarter" idx="11"/>
          </p:nvPr>
        </p:nvSpPr>
        <p:spPr/>
        <p:txBody>
          <a:bodyPr/>
          <a:lstStyle/>
          <a:p>
            <a:endParaRPr lang="es-CL"/>
          </a:p>
        </p:txBody>
      </p:sp>
      <p:sp>
        <p:nvSpPr>
          <p:cNvPr id="5" name="Marcador de número de diapositiva 4">
            <a:extLst>
              <a:ext uri="{FF2B5EF4-FFF2-40B4-BE49-F238E27FC236}">
                <a16:creationId xmlns:a16="http://schemas.microsoft.com/office/drawing/2014/main" id="{AE0094AC-A58B-F4AF-9E34-0944321A9B10}"/>
              </a:ext>
            </a:extLst>
          </p:cNvPr>
          <p:cNvSpPr>
            <a:spLocks noGrp="1"/>
          </p:cNvSpPr>
          <p:nvPr>
            <p:ph type="sldNum" sz="quarter" idx="12"/>
          </p:nvPr>
        </p:nvSpPr>
        <p:spPr/>
        <p:txBody>
          <a:bodyPr/>
          <a:lstStyle/>
          <a:p>
            <a:fld id="{EAF8DFA4-5C1F-4F3D-86D9-9408AC99FEE1}" type="slidenum">
              <a:rPr lang="es-CL" smtClean="0"/>
              <a:t>‹Nº›</a:t>
            </a:fld>
            <a:endParaRPr lang="es-CL"/>
          </a:p>
        </p:txBody>
      </p:sp>
    </p:spTree>
    <p:extLst>
      <p:ext uri="{BB962C8B-B14F-4D97-AF65-F5344CB8AC3E}">
        <p14:creationId xmlns:p14="http://schemas.microsoft.com/office/powerpoint/2010/main" val="7503278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A614C32-790B-68E3-12E9-2BFA4714288F}"/>
              </a:ext>
            </a:extLst>
          </p:cNvPr>
          <p:cNvSpPr>
            <a:spLocks noGrp="1"/>
          </p:cNvSpPr>
          <p:nvPr>
            <p:ph type="dt" sz="half" idx="10"/>
          </p:nvPr>
        </p:nvSpPr>
        <p:spPr/>
        <p:txBody>
          <a:bodyPr/>
          <a:lstStyle/>
          <a:p>
            <a:fld id="{6D6136C5-49CC-440D-9B13-72D0130FAEC7}" type="datetimeFigureOut">
              <a:rPr lang="es-CL" smtClean="0"/>
              <a:t>26-10-2026</a:t>
            </a:fld>
            <a:endParaRPr lang="es-CL"/>
          </a:p>
        </p:txBody>
      </p:sp>
      <p:sp>
        <p:nvSpPr>
          <p:cNvPr id="3" name="Marcador de pie de página 2">
            <a:extLst>
              <a:ext uri="{FF2B5EF4-FFF2-40B4-BE49-F238E27FC236}">
                <a16:creationId xmlns:a16="http://schemas.microsoft.com/office/drawing/2014/main" id="{63B36F15-7F58-2C7B-69A6-B364C060A813}"/>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89240DD7-6210-6648-0560-3097E88EF0A4}"/>
              </a:ext>
            </a:extLst>
          </p:cNvPr>
          <p:cNvSpPr>
            <a:spLocks noGrp="1"/>
          </p:cNvSpPr>
          <p:nvPr>
            <p:ph type="sldNum" sz="quarter" idx="12"/>
          </p:nvPr>
        </p:nvSpPr>
        <p:spPr/>
        <p:txBody>
          <a:bodyPr/>
          <a:lstStyle/>
          <a:p>
            <a:fld id="{EAF8DFA4-5C1F-4F3D-86D9-9408AC99FEE1}" type="slidenum">
              <a:rPr lang="es-CL" smtClean="0"/>
              <a:t>‹Nº›</a:t>
            </a:fld>
            <a:endParaRPr lang="es-CL"/>
          </a:p>
        </p:txBody>
      </p:sp>
    </p:spTree>
    <p:extLst>
      <p:ext uri="{BB962C8B-B14F-4D97-AF65-F5344CB8AC3E}">
        <p14:creationId xmlns:p14="http://schemas.microsoft.com/office/powerpoint/2010/main" val="24908976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286E56-1B89-1BA5-8BAE-0E6B163943B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76524D76-46BB-188D-1DA1-B162A38C3DE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texto 3">
            <a:extLst>
              <a:ext uri="{FF2B5EF4-FFF2-40B4-BE49-F238E27FC236}">
                <a16:creationId xmlns:a16="http://schemas.microsoft.com/office/drawing/2014/main" id="{80AE271C-C1A9-FF0A-0738-7DD08EBFEE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AB8C898-B7B4-6AC0-0283-6BC300551D44}"/>
              </a:ext>
            </a:extLst>
          </p:cNvPr>
          <p:cNvSpPr>
            <a:spLocks noGrp="1"/>
          </p:cNvSpPr>
          <p:nvPr>
            <p:ph type="dt" sz="half" idx="10"/>
          </p:nvPr>
        </p:nvSpPr>
        <p:spPr/>
        <p:txBody>
          <a:bodyPr/>
          <a:lstStyle/>
          <a:p>
            <a:fld id="{6D6136C5-49CC-440D-9B13-72D0130FAEC7}" type="datetimeFigureOut">
              <a:rPr lang="es-CL" smtClean="0"/>
              <a:t>26-10-2026</a:t>
            </a:fld>
            <a:endParaRPr lang="es-CL"/>
          </a:p>
        </p:txBody>
      </p:sp>
      <p:sp>
        <p:nvSpPr>
          <p:cNvPr id="6" name="Marcador de pie de página 5">
            <a:extLst>
              <a:ext uri="{FF2B5EF4-FFF2-40B4-BE49-F238E27FC236}">
                <a16:creationId xmlns:a16="http://schemas.microsoft.com/office/drawing/2014/main" id="{36EBE156-76AD-3301-C3DB-6DE1CAE66016}"/>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F39CFD4D-147D-D9F0-3731-2B3D8C731D2C}"/>
              </a:ext>
            </a:extLst>
          </p:cNvPr>
          <p:cNvSpPr>
            <a:spLocks noGrp="1"/>
          </p:cNvSpPr>
          <p:nvPr>
            <p:ph type="sldNum" sz="quarter" idx="12"/>
          </p:nvPr>
        </p:nvSpPr>
        <p:spPr/>
        <p:txBody>
          <a:bodyPr/>
          <a:lstStyle/>
          <a:p>
            <a:fld id="{EAF8DFA4-5C1F-4F3D-86D9-9408AC99FEE1}" type="slidenum">
              <a:rPr lang="es-CL" smtClean="0"/>
              <a:t>‹Nº›</a:t>
            </a:fld>
            <a:endParaRPr lang="es-CL"/>
          </a:p>
        </p:txBody>
      </p:sp>
    </p:spTree>
    <p:extLst>
      <p:ext uri="{BB962C8B-B14F-4D97-AF65-F5344CB8AC3E}">
        <p14:creationId xmlns:p14="http://schemas.microsoft.com/office/powerpoint/2010/main" val="1893514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477178-E140-F2B3-024C-1D28A1FB8A8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posición de imagen 2">
            <a:extLst>
              <a:ext uri="{FF2B5EF4-FFF2-40B4-BE49-F238E27FC236}">
                <a16:creationId xmlns:a16="http://schemas.microsoft.com/office/drawing/2014/main" id="{D6C6733D-D0B2-EA22-686C-77CEBEF6478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Marcador de texto 3">
            <a:extLst>
              <a:ext uri="{FF2B5EF4-FFF2-40B4-BE49-F238E27FC236}">
                <a16:creationId xmlns:a16="http://schemas.microsoft.com/office/drawing/2014/main" id="{48366958-6F77-30E6-FA5C-158B4E16D3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9B2F429E-4838-9D0E-7153-49D83ABB8759}"/>
              </a:ext>
            </a:extLst>
          </p:cNvPr>
          <p:cNvSpPr>
            <a:spLocks noGrp="1"/>
          </p:cNvSpPr>
          <p:nvPr>
            <p:ph type="dt" sz="half" idx="10"/>
          </p:nvPr>
        </p:nvSpPr>
        <p:spPr/>
        <p:txBody>
          <a:bodyPr/>
          <a:lstStyle/>
          <a:p>
            <a:fld id="{6D6136C5-49CC-440D-9B13-72D0130FAEC7}" type="datetimeFigureOut">
              <a:rPr lang="es-CL" smtClean="0"/>
              <a:t>26-10-2026</a:t>
            </a:fld>
            <a:endParaRPr lang="es-CL"/>
          </a:p>
        </p:txBody>
      </p:sp>
      <p:sp>
        <p:nvSpPr>
          <p:cNvPr id="6" name="Marcador de pie de página 5">
            <a:extLst>
              <a:ext uri="{FF2B5EF4-FFF2-40B4-BE49-F238E27FC236}">
                <a16:creationId xmlns:a16="http://schemas.microsoft.com/office/drawing/2014/main" id="{FEF23044-6509-1FD9-2C22-EAA037C492DE}"/>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8D20D12B-FA45-D48E-5670-31AEDCBE0D1C}"/>
              </a:ext>
            </a:extLst>
          </p:cNvPr>
          <p:cNvSpPr>
            <a:spLocks noGrp="1"/>
          </p:cNvSpPr>
          <p:nvPr>
            <p:ph type="sldNum" sz="quarter" idx="12"/>
          </p:nvPr>
        </p:nvSpPr>
        <p:spPr/>
        <p:txBody>
          <a:bodyPr/>
          <a:lstStyle/>
          <a:p>
            <a:fld id="{EAF8DFA4-5C1F-4F3D-86D9-9408AC99FEE1}" type="slidenum">
              <a:rPr lang="es-CL" smtClean="0"/>
              <a:t>‹Nº›</a:t>
            </a:fld>
            <a:endParaRPr lang="es-CL"/>
          </a:p>
        </p:txBody>
      </p:sp>
    </p:spTree>
    <p:extLst>
      <p:ext uri="{BB962C8B-B14F-4D97-AF65-F5344CB8AC3E}">
        <p14:creationId xmlns:p14="http://schemas.microsoft.com/office/powerpoint/2010/main" val="10675318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3420E4-F89D-F5C8-50BB-F1674B1C4773}"/>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3473D591-BE8B-8BBD-DF65-9E67F79854A1}"/>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D70D1741-99A1-C97D-80CA-6FE948CE0ABB}"/>
              </a:ext>
            </a:extLst>
          </p:cNvPr>
          <p:cNvSpPr>
            <a:spLocks noGrp="1"/>
          </p:cNvSpPr>
          <p:nvPr>
            <p:ph type="dt" sz="half" idx="10"/>
          </p:nvPr>
        </p:nvSpPr>
        <p:spPr/>
        <p:txBody>
          <a:bodyPr/>
          <a:lstStyle/>
          <a:p>
            <a:fld id="{6D6136C5-49CC-440D-9B13-72D0130FAEC7}" type="datetimeFigureOut">
              <a:rPr lang="es-CL" smtClean="0"/>
              <a:t>26-10-2026</a:t>
            </a:fld>
            <a:endParaRPr lang="es-CL"/>
          </a:p>
        </p:txBody>
      </p:sp>
      <p:sp>
        <p:nvSpPr>
          <p:cNvPr id="5" name="Marcador de pie de página 4">
            <a:extLst>
              <a:ext uri="{FF2B5EF4-FFF2-40B4-BE49-F238E27FC236}">
                <a16:creationId xmlns:a16="http://schemas.microsoft.com/office/drawing/2014/main" id="{44B97165-73A7-5523-E2C6-8B2DE35268A1}"/>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800E48EC-6D48-2EDD-6BC2-3FB0F5EC9DB1}"/>
              </a:ext>
            </a:extLst>
          </p:cNvPr>
          <p:cNvSpPr>
            <a:spLocks noGrp="1"/>
          </p:cNvSpPr>
          <p:nvPr>
            <p:ph type="sldNum" sz="quarter" idx="12"/>
          </p:nvPr>
        </p:nvSpPr>
        <p:spPr/>
        <p:txBody>
          <a:bodyPr/>
          <a:lstStyle/>
          <a:p>
            <a:fld id="{EAF8DFA4-5C1F-4F3D-86D9-9408AC99FEE1}" type="slidenum">
              <a:rPr lang="es-CL" smtClean="0"/>
              <a:t>‹Nº›</a:t>
            </a:fld>
            <a:endParaRPr lang="es-CL"/>
          </a:p>
        </p:txBody>
      </p:sp>
    </p:spTree>
    <p:extLst>
      <p:ext uri="{BB962C8B-B14F-4D97-AF65-F5344CB8AC3E}">
        <p14:creationId xmlns:p14="http://schemas.microsoft.com/office/powerpoint/2010/main" val="39416693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1FCABED-AF22-C586-C319-C26AFB42230D}"/>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7ED11D96-B664-E500-8E19-68F3BCBD6FE2}"/>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A1D1BE9D-2E65-B578-EBB4-8A1618E28860}"/>
              </a:ext>
            </a:extLst>
          </p:cNvPr>
          <p:cNvSpPr>
            <a:spLocks noGrp="1"/>
          </p:cNvSpPr>
          <p:nvPr>
            <p:ph type="dt" sz="half" idx="10"/>
          </p:nvPr>
        </p:nvSpPr>
        <p:spPr/>
        <p:txBody>
          <a:bodyPr/>
          <a:lstStyle/>
          <a:p>
            <a:fld id="{6D6136C5-49CC-440D-9B13-72D0130FAEC7}" type="datetimeFigureOut">
              <a:rPr lang="es-CL" smtClean="0"/>
              <a:t>26-10-2026</a:t>
            </a:fld>
            <a:endParaRPr lang="es-CL"/>
          </a:p>
        </p:txBody>
      </p:sp>
      <p:sp>
        <p:nvSpPr>
          <p:cNvPr id="5" name="Marcador de pie de página 4">
            <a:extLst>
              <a:ext uri="{FF2B5EF4-FFF2-40B4-BE49-F238E27FC236}">
                <a16:creationId xmlns:a16="http://schemas.microsoft.com/office/drawing/2014/main" id="{790A2BE3-2FE2-A099-6FBA-72E6C6C69D14}"/>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444BB0F9-F453-FE4E-074F-9C984618D6C5}"/>
              </a:ext>
            </a:extLst>
          </p:cNvPr>
          <p:cNvSpPr>
            <a:spLocks noGrp="1"/>
          </p:cNvSpPr>
          <p:nvPr>
            <p:ph type="sldNum" sz="quarter" idx="12"/>
          </p:nvPr>
        </p:nvSpPr>
        <p:spPr/>
        <p:txBody>
          <a:bodyPr/>
          <a:lstStyle/>
          <a:p>
            <a:fld id="{EAF8DFA4-5C1F-4F3D-86D9-9408AC99FEE1}" type="slidenum">
              <a:rPr lang="es-CL" smtClean="0"/>
              <a:t>‹Nº›</a:t>
            </a:fld>
            <a:endParaRPr lang="es-CL"/>
          </a:p>
        </p:txBody>
      </p:sp>
    </p:spTree>
    <p:extLst>
      <p:ext uri="{BB962C8B-B14F-4D97-AF65-F5344CB8AC3E}">
        <p14:creationId xmlns:p14="http://schemas.microsoft.com/office/powerpoint/2010/main" val="8264082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171DF3F0-EF43-578B-7DC2-A9DD9DC207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C6BD0109-F7BE-D859-8F6D-D830E3E325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05E47937-1D16-C383-EC34-D61A05043F3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6136C5-49CC-440D-9B13-72D0130FAEC7}" type="datetimeFigureOut">
              <a:rPr lang="es-CL" smtClean="0"/>
              <a:t>26-10-2026</a:t>
            </a:fld>
            <a:endParaRPr lang="es-CL"/>
          </a:p>
        </p:txBody>
      </p:sp>
      <p:sp>
        <p:nvSpPr>
          <p:cNvPr id="5" name="Marcador de pie de página 4">
            <a:extLst>
              <a:ext uri="{FF2B5EF4-FFF2-40B4-BE49-F238E27FC236}">
                <a16:creationId xmlns:a16="http://schemas.microsoft.com/office/drawing/2014/main" id="{943A453A-4F3F-3AB4-CFEE-F3B0B80159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L"/>
          </a:p>
        </p:txBody>
      </p:sp>
      <p:sp>
        <p:nvSpPr>
          <p:cNvPr id="6" name="Marcador de número de diapositiva 5">
            <a:extLst>
              <a:ext uri="{FF2B5EF4-FFF2-40B4-BE49-F238E27FC236}">
                <a16:creationId xmlns:a16="http://schemas.microsoft.com/office/drawing/2014/main" id="{AA851482-9D5F-8C5F-3335-EA5AB551C9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F8DFA4-5C1F-4F3D-86D9-9408AC99FEE1}" type="slidenum">
              <a:rPr lang="es-CL" smtClean="0"/>
              <a:t>‹Nº›</a:t>
            </a:fld>
            <a:endParaRPr lang="es-CL"/>
          </a:p>
        </p:txBody>
      </p:sp>
    </p:spTree>
    <p:extLst>
      <p:ext uri="{BB962C8B-B14F-4D97-AF65-F5344CB8AC3E}">
        <p14:creationId xmlns:p14="http://schemas.microsoft.com/office/powerpoint/2010/main" val="12456715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learn.microsoft.com/en-us/entra/identity/hybrid/connect/reference-connect-version-history" TargetMode="External"/><Relationship Id="rId2" Type="http://schemas.openxmlformats.org/officeDocument/2006/relationships/hyperlink" Target="https://www.it-connect.fr/sspr-et-entra-connect-sync-microsoft-modifie-le-calendrier-les-nouvelles-dates-a-retenir/"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getnerdio.com/blog/your-m365-bill-is-going-up-in-july-heres-what-to-tell-your-clients-and-how-to-come-out-ahead/" TargetMode="External"/><Relationship Id="rId2" Type="http://schemas.openxmlformats.org/officeDocument/2006/relationships/hyperlink" Target="https://www.uctoday.com/unified-communications/microsoft-365-prices-rise-on-1-july-what-it-teams-need-to-do-before-the-deadline/"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microsoft.com/en-gb/microsoft-365/microsoft-365-backup" TargetMode="External"/><Relationship Id="rId2" Type="http://schemas.openxmlformats.org/officeDocument/2006/relationships/hyperlink" Target="https://learn.microsoft.com/microsoft-365/backup/backup-pricing" TargetMode="Externa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6BD83578-C731-557A-E551-5F9C33E6A8E9}"/>
              </a:ext>
            </a:extLst>
          </p:cNvPr>
          <p:cNvSpPr txBox="1"/>
          <p:nvPr/>
        </p:nvSpPr>
        <p:spPr>
          <a:xfrm>
            <a:off x="408562" y="245180"/>
            <a:ext cx="8733005" cy="4783233"/>
          </a:xfrm>
          <a:prstGeom prst="rect">
            <a:avLst/>
          </a:prstGeom>
          <a:noFill/>
        </p:spPr>
        <p:txBody>
          <a:bodyPr wrap="square">
            <a:spAutoFit/>
          </a:bodyPr>
          <a:lstStyle/>
          <a:p>
            <a:pPr>
              <a:lnSpc>
                <a:spcPct val="107000"/>
              </a:lnSpc>
              <a:spcBef>
                <a:spcPts val="1800"/>
              </a:spcBef>
              <a:spcAft>
                <a:spcPts val="600"/>
              </a:spcAft>
            </a:pPr>
            <a:r>
              <a:rPr lang="es-CL" sz="2800" b="1" kern="0" dirty="0">
                <a:effectLst/>
                <a:latin typeface="Calibri" panose="020F0502020204030204" pitchFamily="34" charset="0"/>
              </a:rPr>
              <a:t>Propuesta: Unión híbrida Entra ID y protección de carpetas OneDrive</a:t>
            </a:r>
          </a:p>
          <a:p>
            <a:pPr>
              <a:lnSpc>
                <a:spcPct val="107000"/>
              </a:lnSpc>
              <a:spcBef>
                <a:spcPts val="1400"/>
              </a:spcBef>
              <a:spcAft>
                <a:spcPts val="500"/>
              </a:spcAft>
            </a:pPr>
            <a:r>
              <a:rPr lang="es-CL" sz="2400" b="1" dirty="0">
                <a:effectLst/>
                <a:latin typeface="Calibri" panose="020F0502020204030204" pitchFamily="34" charset="0"/>
              </a:rPr>
              <a:t>Resumen ejecutivo</a:t>
            </a:r>
          </a:p>
          <a:p>
            <a:pPr>
              <a:lnSpc>
                <a:spcPct val="107000"/>
              </a:lnSpc>
              <a:spcAft>
                <a:spcPts val="800"/>
              </a:spcAft>
            </a:pPr>
            <a:r>
              <a:rPr lang="es-CL" sz="1800" dirty="0">
                <a:effectLst/>
                <a:latin typeface="Calibri" panose="020F0502020204030204" pitchFamily="34" charset="0"/>
                <a:ea typeface="Calibri" panose="020F0502020204030204" pitchFamily="34" charset="0"/>
              </a:rPr>
              <a:t>Proponemos un piloto de 3 semanas (1 usuario y 1 equipo) para lograr la unión híbrida con Microsoft Entra ID y la protección obligatoria de Escritorio, Documentos e Imágenes en OneDrive, solo con GPO y sin Intune. El proyecto es viable con la infraestructura actual, sujeto a una condición previa crítica: actualizar Entra </a:t>
            </a:r>
            <a:r>
              <a:rPr lang="es-CL" sz="1800" dirty="0" err="1">
                <a:effectLst/>
                <a:latin typeface="Calibri" panose="020F0502020204030204" pitchFamily="34" charset="0"/>
                <a:ea typeface="Calibri" panose="020F0502020204030204" pitchFamily="34" charset="0"/>
              </a:rPr>
              <a:t>Connect</a:t>
            </a:r>
            <a:r>
              <a:rPr lang="es-CL" sz="1800" dirty="0">
                <a:effectLst/>
                <a:latin typeface="Calibri" panose="020F0502020204030204" pitchFamily="34" charset="0"/>
                <a:ea typeface="Calibri" panose="020F0502020204030204" pitchFamily="34" charset="0"/>
              </a:rPr>
              <a:t> </a:t>
            </a:r>
            <a:r>
              <a:rPr lang="es-CL" sz="1800" dirty="0" err="1">
                <a:effectLst/>
                <a:latin typeface="Calibri" panose="020F0502020204030204" pitchFamily="34" charset="0"/>
                <a:ea typeface="Calibri" panose="020F0502020204030204" pitchFamily="34" charset="0"/>
              </a:rPr>
              <a:t>Sync</a:t>
            </a:r>
            <a:r>
              <a:rPr lang="es-CL" sz="1800" dirty="0">
                <a:effectLst/>
                <a:latin typeface="Calibri" panose="020F0502020204030204" pitchFamily="34" charset="0"/>
                <a:ea typeface="Calibri" panose="020F0502020204030204" pitchFamily="34" charset="0"/>
              </a:rPr>
              <a:t> a la versión 2.6.84.0 o posterior con autenticación por aplicación, requisito obligatorio de Microsoft antes del 7 de abril de 2027.</a:t>
            </a:r>
          </a:p>
          <a:p>
            <a:pPr>
              <a:lnSpc>
                <a:spcPct val="107000"/>
              </a:lnSpc>
              <a:spcAft>
                <a:spcPts val="800"/>
              </a:spcAft>
            </a:pPr>
            <a:r>
              <a:rPr lang="es-CL" sz="1800" dirty="0">
                <a:effectLst/>
                <a:latin typeface="Calibri" panose="020F0502020204030204" pitchFamily="34" charset="0"/>
                <a:ea typeface="Calibri" panose="020F0502020204030204" pitchFamily="34" charset="0"/>
              </a:rPr>
              <a:t>El esfuerzo estimado del piloto es de 40 a 56 horas de consultoría. Tras la aceptación, el despliegue a producción se ejecuta por oleadas y se cotiza aparte según el número de equipos. No se requieren licencias adicionales para la unión híbrida; el respaldo de OneDrive se ofrece como componente opcional.</a:t>
            </a:r>
          </a:p>
        </p:txBody>
      </p:sp>
    </p:spTree>
    <p:extLst>
      <p:ext uri="{BB962C8B-B14F-4D97-AF65-F5344CB8AC3E}">
        <p14:creationId xmlns:p14="http://schemas.microsoft.com/office/powerpoint/2010/main" val="4730949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a 3">
            <a:extLst>
              <a:ext uri="{FF2B5EF4-FFF2-40B4-BE49-F238E27FC236}">
                <a16:creationId xmlns:a16="http://schemas.microsoft.com/office/drawing/2014/main" id="{35F7BFE6-615A-AAF6-6734-85178EBD8F3D}"/>
              </a:ext>
            </a:extLst>
          </p:cNvPr>
          <p:cNvGraphicFramePr>
            <a:graphicFrameLocks noGrp="1"/>
          </p:cNvGraphicFramePr>
          <p:nvPr/>
        </p:nvGraphicFramePr>
        <p:xfrm>
          <a:off x="3124200" y="2952749"/>
          <a:ext cx="5943600" cy="2097090"/>
        </p:xfrm>
        <a:graphic>
          <a:graphicData uri="http://schemas.openxmlformats.org/drawingml/2006/table">
            <a:tbl>
              <a:tblPr firstRow="1" bandRow="1">
                <a:tableStyleId>{5C22544A-7EE6-4342-B048-85BDC9FD1C3A}</a:tableStyleId>
              </a:tblPr>
              <a:tblGrid>
                <a:gridCol w="1291590">
                  <a:extLst>
                    <a:ext uri="{9D8B030D-6E8A-4147-A177-3AD203B41FA5}">
                      <a16:colId xmlns:a16="http://schemas.microsoft.com/office/drawing/2014/main" val="3480400018"/>
                    </a:ext>
                  </a:extLst>
                </a:gridCol>
                <a:gridCol w="1527810">
                  <a:extLst>
                    <a:ext uri="{9D8B030D-6E8A-4147-A177-3AD203B41FA5}">
                      <a16:colId xmlns:a16="http://schemas.microsoft.com/office/drawing/2014/main" val="1237287100"/>
                    </a:ext>
                  </a:extLst>
                </a:gridCol>
                <a:gridCol w="3124200">
                  <a:extLst>
                    <a:ext uri="{9D8B030D-6E8A-4147-A177-3AD203B41FA5}">
                      <a16:colId xmlns:a16="http://schemas.microsoft.com/office/drawing/2014/main" val="822778038"/>
                    </a:ext>
                  </a:extLst>
                </a:gridCol>
              </a:tblGrid>
              <a:tr h="0">
                <a:tc>
                  <a:txBody>
                    <a:bodyPr/>
                    <a:lstStyle/>
                    <a:p>
                      <a:pPr>
                        <a:lnSpc>
                          <a:spcPct val="107000"/>
                        </a:lnSpc>
                        <a:spcAft>
                          <a:spcPts val="800"/>
                        </a:spcAft>
                      </a:pPr>
                      <a:r>
                        <a:rPr lang="en-US" sz="1100">
                          <a:effectLst/>
                        </a:rPr>
                        <a:t>Componente</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a:effectLst/>
                        </a:rPr>
                        <a:t>Estado reportado</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a:effectLst/>
                        </a:rPr>
                        <a:t>Implicación</a:t>
                      </a:r>
                      <a:endParaRPr lang="es-CL"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3438152058"/>
                  </a:ext>
                </a:extLst>
              </a:tr>
              <a:tr h="0">
                <a:tc>
                  <a:txBody>
                    <a:bodyPr/>
                    <a:lstStyle/>
                    <a:p>
                      <a:pPr>
                        <a:lnSpc>
                          <a:spcPct val="107000"/>
                        </a:lnSpc>
                        <a:spcAft>
                          <a:spcPts val="800"/>
                        </a:spcAft>
                      </a:pPr>
                      <a:r>
                        <a:rPr lang="en-US" sz="1100">
                          <a:effectLst/>
                        </a:rPr>
                        <a:t>Active Directory local</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s-CL" sz="1100">
                          <a:effectLst/>
                        </a:rPr>
                        <a:t>Operativo; equipos unidos al dominio</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s-CL" sz="1100">
                          <a:effectLst/>
                        </a:rPr>
                        <a:t>Base de la unión híbrida; no cambia</a:t>
                      </a:r>
                      <a:endParaRPr lang="es-CL"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999447554"/>
                  </a:ext>
                </a:extLst>
              </a:tr>
              <a:tr h="0">
                <a:tc>
                  <a:txBody>
                    <a:bodyPr/>
                    <a:lstStyle/>
                    <a:p>
                      <a:pPr>
                        <a:lnSpc>
                          <a:spcPct val="107000"/>
                        </a:lnSpc>
                        <a:spcAft>
                          <a:spcPts val="800"/>
                        </a:spcAft>
                      </a:pPr>
                      <a:r>
                        <a:rPr lang="en-US" sz="1100">
                          <a:effectLst/>
                        </a:rPr>
                        <a:t>Inquilino Microsoft 365</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a:effectLst/>
                        </a:rPr>
                        <a:t>Activo</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s-CL" sz="1100">
                          <a:effectLst/>
                        </a:rPr>
                        <a:t>Destino de registro de dispositivos y OneDrive</a:t>
                      </a:r>
                      <a:endParaRPr lang="es-CL"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2895116797"/>
                  </a:ext>
                </a:extLst>
              </a:tr>
              <a:tr h="0">
                <a:tc>
                  <a:txBody>
                    <a:bodyPr/>
                    <a:lstStyle/>
                    <a:p>
                      <a:pPr>
                        <a:lnSpc>
                          <a:spcPct val="107000"/>
                        </a:lnSpc>
                        <a:spcAft>
                          <a:spcPts val="800"/>
                        </a:spcAft>
                      </a:pPr>
                      <a:r>
                        <a:rPr lang="en-US" sz="1100">
                          <a:effectLst/>
                        </a:rPr>
                        <a:t>Azure AD Connect</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a:effectLst/>
                        </a:rPr>
                        <a:t>Instalado; sincroniza usuarios</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s-CL" sz="1100">
                          <a:effectLst/>
                        </a:rPr>
                        <a:t>Versión por confirmar; debe llevarse a Entra Connect Sync 2.6.84.0 o posterior</a:t>
                      </a:r>
                      <a:endParaRPr lang="es-CL"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4172937448"/>
                  </a:ext>
                </a:extLst>
              </a:tr>
              <a:tr h="0">
                <a:tc>
                  <a:txBody>
                    <a:bodyPr/>
                    <a:lstStyle/>
                    <a:p>
                      <a:pPr>
                        <a:lnSpc>
                          <a:spcPct val="107000"/>
                        </a:lnSpc>
                        <a:spcAft>
                          <a:spcPts val="800"/>
                        </a:spcAft>
                      </a:pPr>
                      <a:r>
                        <a:rPr lang="en-US" sz="1100">
                          <a:effectLst/>
                        </a:rPr>
                        <a:t>Intune</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a:effectLst/>
                        </a:rPr>
                        <a:t>No disponible</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s-CL" sz="1100">
                          <a:effectLst/>
                        </a:rPr>
                        <a:t>La configuración se hará solo con GPO</a:t>
                      </a:r>
                      <a:endParaRPr lang="es-CL"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1420354062"/>
                  </a:ext>
                </a:extLst>
              </a:tr>
              <a:tr h="0">
                <a:tc>
                  <a:txBody>
                    <a:bodyPr/>
                    <a:lstStyle/>
                    <a:p>
                      <a:pPr>
                        <a:lnSpc>
                          <a:spcPct val="107000"/>
                        </a:lnSpc>
                        <a:spcAft>
                          <a:spcPts val="800"/>
                        </a:spcAft>
                      </a:pPr>
                      <a:r>
                        <a:rPr lang="en-US" sz="1100">
                          <a:effectLst/>
                        </a:rPr>
                        <a:t>Plantillas ADMX de OneDrive</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s-CL" sz="1100">
                          <a:effectLst/>
                        </a:rPr>
                        <a:t>Cargadas en el editor de GPO</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s-CL" sz="1100">
                          <a:effectLst/>
                        </a:rPr>
                        <a:t>Faltan revisar ajustes activos y su vinculación a OU</a:t>
                      </a:r>
                      <a:endParaRPr lang="es-CL"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3014304034"/>
                  </a:ext>
                </a:extLst>
              </a:tr>
              <a:tr h="0">
                <a:tc>
                  <a:txBody>
                    <a:bodyPr/>
                    <a:lstStyle/>
                    <a:p>
                      <a:pPr>
                        <a:lnSpc>
                          <a:spcPct val="107000"/>
                        </a:lnSpc>
                        <a:spcAft>
                          <a:spcPts val="800"/>
                        </a:spcAft>
                      </a:pPr>
                      <a:r>
                        <a:rPr lang="en-US" sz="1100">
                          <a:effectLst/>
                        </a:rPr>
                        <a:t>dsregcmd /status</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a:effectLst/>
                        </a:rPr>
                        <a:t>Valores NO reportados</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s-CL" sz="1100" dirty="0">
                          <a:effectLst/>
                        </a:rPr>
                        <a:t>Se presume </a:t>
                      </a:r>
                      <a:r>
                        <a:rPr lang="es-CL" sz="1100" dirty="0" err="1">
                          <a:effectLst/>
                        </a:rPr>
                        <a:t>AzureAdJoined</a:t>
                      </a:r>
                      <a:r>
                        <a:rPr lang="es-CL" sz="1100" dirty="0">
                          <a:effectLst/>
                        </a:rPr>
                        <a:t> NO y </a:t>
                      </a:r>
                      <a:r>
                        <a:rPr lang="es-CL" sz="1100" dirty="0" err="1">
                          <a:effectLst/>
                        </a:rPr>
                        <a:t>AzureAdPrt</a:t>
                      </a:r>
                      <a:r>
                        <a:rPr lang="es-CL" sz="1100" dirty="0">
                          <a:effectLst/>
                        </a:rPr>
                        <a:t> NO; se confirmará en el equipo piloto</a:t>
                      </a:r>
                      <a:endParaRPr lang="es-CL" sz="1100" dirty="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3869739898"/>
                  </a:ext>
                </a:extLst>
              </a:tr>
            </a:tbl>
          </a:graphicData>
        </a:graphic>
      </p:graphicFrame>
      <p:sp>
        <p:nvSpPr>
          <p:cNvPr id="5" name="Rectangle 1">
            <a:extLst>
              <a:ext uri="{FF2B5EF4-FFF2-40B4-BE49-F238E27FC236}">
                <a16:creationId xmlns:a16="http://schemas.microsoft.com/office/drawing/2014/main" id="{130A3A69-1D4D-186C-4DB3-BC14F61EE3BB}"/>
              </a:ext>
            </a:extLst>
          </p:cNvPr>
          <p:cNvSpPr>
            <a:spLocks noChangeArrowheads="1"/>
          </p:cNvSpPr>
          <p:nvPr/>
        </p:nvSpPr>
        <p:spPr bwMode="auto">
          <a:xfrm>
            <a:off x="1333887" y="740151"/>
            <a:ext cx="7381462" cy="1920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177744" rIns="9144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L" altLang="es-CL" sz="13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Situación actual</a:t>
            </a:r>
            <a:endParaRPr kumimoji="0" lang="en-US" altLang="es-CL" sz="13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CL" altLang="es-CL" sz="1100" b="0" i="0" u="none" strike="noStrike" cap="none" normalizeH="0" baseline="0" dirty="0">
                <a:ln>
                  <a:noFill/>
                </a:ln>
                <a:solidFill>
                  <a:schemeClr val="tx1"/>
                </a:solidFill>
                <a:effectLst/>
                <a:ea typeface="Calibri" panose="020F0502020204030204" pitchFamily="34" charset="0"/>
              </a:rPr>
              <a:t>El cliente opera un dominio de Active </a:t>
            </a:r>
            <a:r>
              <a:rPr kumimoji="0" lang="es-CL" altLang="es-CL" sz="1100" b="0" i="0" u="none" strike="noStrike" cap="none" normalizeH="0" baseline="0" dirty="0" err="1">
                <a:ln>
                  <a:noFill/>
                </a:ln>
                <a:solidFill>
                  <a:schemeClr val="tx1"/>
                </a:solidFill>
                <a:effectLst/>
                <a:ea typeface="Calibri" panose="020F0502020204030204" pitchFamily="34" charset="0"/>
              </a:rPr>
              <a:t>Directory</a:t>
            </a:r>
            <a:r>
              <a:rPr kumimoji="0" lang="es-CL" altLang="es-CL" sz="1100" b="0" i="0" u="none" strike="noStrike" cap="none" normalizeH="0" baseline="0" dirty="0">
                <a:ln>
                  <a:noFill/>
                </a:ln>
                <a:solidFill>
                  <a:schemeClr val="tx1"/>
                </a:solidFill>
                <a:effectLst/>
                <a:ea typeface="Calibri" panose="020F0502020204030204" pitchFamily="34" charset="0"/>
              </a:rPr>
              <a:t> local sincronizado con un inquilino de Microsoft 365, pero sus equipos aún no están registrados en Entra ID. Por eso OneDrive no puede iniciar sesión en silencio ni proteger carpetas de forma automática.</a:t>
            </a:r>
          </a:p>
          <a:p>
            <a:pPr marL="0" marR="0" lvl="0" indent="0" algn="l" defTabSz="914400" rtl="0" eaLnBrk="0" fontAlgn="base" latinLnBrk="0" hangingPunct="0">
              <a:lnSpc>
                <a:spcPct val="100000"/>
              </a:lnSpc>
              <a:spcBef>
                <a:spcPct val="0"/>
              </a:spcBef>
              <a:spcAft>
                <a:spcPct val="0"/>
              </a:spcAft>
              <a:buClrTx/>
              <a:buSzTx/>
              <a:buFontTx/>
              <a:buNone/>
              <a:tabLst/>
            </a:pPr>
            <a:endParaRPr lang="es-CL" altLang="es-CL" sz="1100" dirty="0">
              <a:latin typeface="Arial" panose="020B0604020202020204" pitchFamily="34" charset="0"/>
              <a:ea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CL" altLang="es-CL" sz="1100" b="0" i="0" u="none" strike="noStrike" cap="none" normalizeH="0" baseline="0" dirty="0">
              <a:ln>
                <a:noFill/>
              </a:ln>
              <a:solidFill>
                <a:schemeClr val="tx1"/>
              </a:solidFill>
              <a:effectLst/>
              <a:latin typeface="Arial" panose="020B0604020202020204" pitchFamily="34" charset="0"/>
              <a:ea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s-CL" altLang="es-CL" sz="1100" dirty="0">
              <a:latin typeface="Arial" panose="020B0604020202020204" pitchFamily="34" charset="0"/>
              <a:ea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CL" altLang="es-CL" sz="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CL" altLang="es-CL" sz="1100" b="0" i="0" u="none" strike="noStrike" cap="none" normalizeH="0" baseline="0" dirty="0">
                <a:ln>
                  <a:noFill/>
                </a:ln>
                <a:solidFill>
                  <a:schemeClr val="tx1"/>
                </a:solidFill>
                <a:effectLst/>
                <a:latin typeface="Arial" panose="020B0604020202020204" pitchFamily="34" charset="0"/>
                <a:ea typeface="Calibri" panose="020F0502020204030204" pitchFamily="34" charset="0"/>
              </a:rPr>
              <a:t>El nombre "Azure AD </a:t>
            </a:r>
            <a:r>
              <a:rPr kumimoji="0" lang="es-CL" altLang="es-CL" sz="1100" b="0" i="0" u="none" strike="noStrike" cap="none" normalizeH="0" baseline="0" dirty="0" err="1">
                <a:ln>
                  <a:noFill/>
                </a:ln>
                <a:solidFill>
                  <a:schemeClr val="tx1"/>
                </a:solidFill>
                <a:effectLst/>
                <a:latin typeface="Arial" panose="020B0604020202020204" pitchFamily="34" charset="0"/>
                <a:ea typeface="Calibri" panose="020F0502020204030204" pitchFamily="34" charset="0"/>
              </a:rPr>
              <a:t>Connect</a:t>
            </a:r>
            <a:r>
              <a:rPr kumimoji="0" lang="es-CL" altLang="es-CL" sz="1100" b="0" i="0" u="none" strike="noStrike" cap="none" normalizeH="0" baseline="0" dirty="0">
                <a:ln>
                  <a:noFill/>
                </a:ln>
                <a:solidFill>
                  <a:schemeClr val="tx1"/>
                </a:solidFill>
                <a:effectLst/>
                <a:latin typeface="Arial" panose="020B0604020202020204" pitchFamily="34" charset="0"/>
                <a:ea typeface="Calibri" panose="020F0502020204030204" pitchFamily="34" charset="0"/>
              </a:rPr>
              <a:t>" sugiere una instalación antigua. La versión 2.5.79.0 perdió soporte el 23 de octubre de 2026, y desde el 7 de abril de 2027 Microsoft detendrá la sincronización en servidores que no cumplan versión mínima y autenticación por aplicación (</a:t>
            </a:r>
            <a:r>
              <a:rPr kumimoji="0" lang="es-CL" altLang="es-CL" sz="1100" b="0" i="0" u="none" strike="noStrike" cap="none" normalizeH="0" baseline="0" dirty="0">
                <a:ln>
                  <a:noFill/>
                </a:ln>
                <a:solidFill>
                  <a:schemeClr val="tx1"/>
                </a:solidFill>
                <a:effectLst/>
                <a:latin typeface="Arial" panose="020B0604020202020204" pitchFamily="34" charset="0"/>
                <a:ea typeface="Calibri" panose="020F0502020204030204" pitchFamily="34" charset="0"/>
                <a:hlinkClick r:id="rId2"/>
              </a:rPr>
              <a:t>IT-</a:t>
            </a:r>
            <a:r>
              <a:rPr kumimoji="0" lang="es-CL" altLang="es-CL" sz="1100" b="0" i="0" u="none" strike="noStrike" cap="none" normalizeH="0" baseline="0" dirty="0" err="1">
                <a:ln>
                  <a:noFill/>
                </a:ln>
                <a:solidFill>
                  <a:schemeClr val="tx1"/>
                </a:solidFill>
                <a:effectLst/>
                <a:latin typeface="Arial" panose="020B0604020202020204" pitchFamily="34" charset="0"/>
                <a:ea typeface="Calibri" panose="020F0502020204030204" pitchFamily="34" charset="0"/>
                <a:hlinkClick r:id="rId2"/>
              </a:rPr>
              <a:t>Connect</a:t>
            </a:r>
            <a:r>
              <a:rPr kumimoji="0" lang="es-CL" altLang="es-CL" sz="1100" b="0" i="0" u="none" strike="noStrike" cap="none" normalizeH="0" baseline="0" dirty="0">
                <a:ln>
                  <a:noFill/>
                </a:ln>
                <a:solidFill>
                  <a:schemeClr val="tx1"/>
                </a:solidFill>
                <a:effectLst/>
                <a:latin typeface="Arial" panose="020B0604020202020204" pitchFamily="34" charset="0"/>
                <a:ea typeface="Calibri" panose="020F0502020204030204" pitchFamily="34" charset="0"/>
              </a:rPr>
              <a:t>, </a:t>
            </a:r>
            <a:r>
              <a:rPr kumimoji="0" lang="es-CL" altLang="es-CL" sz="1100" b="0" i="0" u="none" strike="noStrike" cap="none" normalizeH="0" baseline="0" dirty="0">
                <a:ln>
                  <a:noFill/>
                </a:ln>
                <a:solidFill>
                  <a:schemeClr val="tx1"/>
                </a:solidFill>
                <a:effectLst/>
                <a:latin typeface="Arial" panose="020B0604020202020204" pitchFamily="34" charset="0"/>
                <a:ea typeface="Calibri" panose="020F0502020204030204" pitchFamily="34" charset="0"/>
                <a:hlinkClick r:id="rId3"/>
              </a:rPr>
              <a:t>Microsoft </a:t>
            </a:r>
            <a:r>
              <a:rPr kumimoji="0" lang="es-CL" altLang="es-CL" sz="1100" b="0" i="0" u="none" strike="noStrike" cap="none" normalizeH="0" baseline="0" dirty="0" err="1">
                <a:ln>
                  <a:noFill/>
                </a:ln>
                <a:solidFill>
                  <a:schemeClr val="tx1"/>
                </a:solidFill>
                <a:effectLst/>
                <a:latin typeface="Arial" panose="020B0604020202020204" pitchFamily="34" charset="0"/>
                <a:ea typeface="Calibri" panose="020F0502020204030204" pitchFamily="34" charset="0"/>
                <a:hlinkClick r:id="rId3"/>
              </a:rPr>
              <a:t>Learn</a:t>
            </a:r>
            <a:r>
              <a:rPr kumimoji="0" lang="es-CL" altLang="es-CL" sz="1100" b="0" i="0" u="none" strike="noStrike" cap="none" normalizeH="0" baseline="0" dirty="0">
                <a:ln>
                  <a:noFill/>
                </a:ln>
                <a:solidFill>
                  <a:schemeClr val="tx1"/>
                </a:solidFill>
                <a:effectLst/>
                <a:latin typeface="Arial" panose="020B0604020202020204" pitchFamily="34" charset="0"/>
                <a:ea typeface="Calibri" panose="020F0502020204030204" pitchFamily="34" charset="0"/>
              </a:rPr>
              <a:t>).</a:t>
            </a:r>
            <a:endParaRPr kumimoji="0" lang="es-CL" altLang="es-CL"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79434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ED6AC0F8-5D8D-DB3D-6A73-F6CB4E25FF6A}"/>
              </a:ext>
            </a:extLst>
          </p:cNvPr>
          <p:cNvSpPr txBox="1"/>
          <p:nvPr/>
        </p:nvSpPr>
        <p:spPr>
          <a:xfrm>
            <a:off x="3047189" y="885740"/>
            <a:ext cx="6094378" cy="5086521"/>
          </a:xfrm>
          <a:prstGeom prst="rect">
            <a:avLst/>
          </a:prstGeom>
          <a:noFill/>
        </p:spPr>
        <p:txBody>
          <a:bodyPr wrap="square">
            <a:spAutoFit/>
          </a:bodyPr>
          <a:lstStyle/>
          <a:p>
            <a:pPr>
              <a:lnSpc>
                <a:spcPct val="107000"/>
              </a:lnSpc>
              <a:spcBef>
                <a:spcPts val="1400"/>
              </a:spcBef>
              <a:spcAft>
                <a:spcPts val="500"/>
              </a:spcAft>
            </a:pPr>
            <a:r>
              <a:rPr lang="es-CL" sz="2400" b="1" dirty="0">
                <a:effectLst/>
                <a:latin typeface="Calibri" panose="020F0502020204030204" pitchFamily="34" charset="0"/>
              </a:rPr>
              <a:t>Objetivos</a:t>
            </a:r>
          </a:p>
          <a:p>
            <a:pPr>
              <a:lnSpc>
                <a:spcPct val="107000"/>
              </a:lnSpc>
              <a:spcAft>
                <a:spcPts val="800"/>
              </a:spcAft>
            </a:pPr>
            <a:r>
              <a:rPr lang="es-CL" sz="1800" dirty="0">
                <a:effectLst/>
                <a:latin typeface="Calibri" panose="020F0502020204030204" pitchFamily="34" charset="0"/>
                <a:ea typeface="Calibri" panose="020F0502020204030204" pitchFamily="34" charset="0"/>
              </a:rPr>
              <a:t>El objetivo es que el usuario inicie Windows con su cuenta de dominio y encuentre OneDrive configurado y sus carpetas protegidas, sin pasos manuales.</a:t>
            </a:r>
          </a:p>
          <a:p>
            <a:pPr marL="342900" lvl="0" indent="-342900">
              <a:lnSpc>
                <a:spcPct val="107000"/>
              </a:lnSpc>
              <a:buFont typeface="+mj-lt"/>
              <a:buAutoNum type="arabicPeriod"/>
            </a:pPr>
            <a:r>
              <a:rPr lang="en-US" sz="1800" dirty="0">
                <a:effectLst/>
                <a:latin typeface="Calibri" panose="020F0502020204030204" pitchFamily="34" charset="0"/>
                <a:ea typeface="Calibri" panose="020F0502020204030204" pitchFamily="34" charset="0"/>
              </a:rPr>
              <a:t>Registrar </a:t>
            </a:r>
            <a:r>
              <a:rPr lang="en-US" sz="1800" dirty="0" err="1">
                <a:effectLst/>
                <a:latin typeface="Calibri" panose="020F0502020204030204" pitchFamily="34" charset="0"/>
                <a:ea typeface="Calibri" panose="020F0502020204030204" pitchFamily="34" charset="0"/>
              </a:rPr>
              <a:t>el</a:t>
            </a:r>
            <a:r>
              <a:rPr lang="en-US" sz="1800" dirty="0">
                <a:effectLst/>
                <a:latin typeface="Calibri" panose="020F0502020204030204" pitchFamily="34" charset="0"/>
                <a:ea typeface="Calibri" panose="020F0502020204030204" pitchFamily="34" charset="0"/>
              </a:rPr>
              <a:t> </a:t>
            </a:r>
            <a:r>
              <a:rPr lang="en-US" sz="1800" dirty="0" err="1">
                <a:effectLst/>
                <a:latin typeface="Calibri" panose="020F0502020204030204" pitchFamily="34" charset="0"/>
                <a:ea typeface="Calibri" panose="020F0502020204030204" pitchFamily="34" charset="0"/>
              </a:rPr>
              <a:t>equipo</a:t>
            </a:r>
            <a:r>
              <a:rPr lang="en-US" sz="1800" dirty="0">
                <a:effectLst/>
                <a:latin typeface="Calibri" panose="020F0502020204030204" pitchFamily="34" charset="0"/>
                <a:ea typeface="Calibri" panose="020F0502020204030204" pitchFamily="34" charset="0"/>
              </a:rPr>
              <a:t> </a:t>
            </a:r>
            <a:r>
              <a:rPr lang="en-US" sz="1800" dirty="0" err="1">
                <a:effectLst/>
                <a:latin typeface="Calibri" panose="020F0502020204030204" pitchFamily="34" charset="0"/>
                <a:ea typeface="Calibri" panose="020F0502020204030204" pitchFamily="34" charset="0"/>
              </a:rPr>
              <a:t>piloto</a:t>
            </a:r>
            <a:r>
              <a:rPr lang="en-US" sz="1800" dirty="0">
                <a:effectLst/>
                <a:latin typeface="Calibri" panose="020F0502020204030204" pitchFamily="34" charset="0"/>
                <a:ea typeface="Calibri" panose="020F0502020204030204" pitchFamily="34" charset="0"/>
              </a:rPr>
              <a:t> </a:t>
            </a:r>
            <a:r>
              <a:rPr lang="en-US" sz="1800" dirty="0" err="1">
                <a:effectLst/>
                <a:latin typeface="Calibri" panose="020F0502020204030204" pitchFamily="34" charset="0"/>
                <a:ea typeface="Calibri" panose="020F0502020204030204" pitchFamily="34" charset="0"/>
              </a:rPr>
              <a:t>como</a:t>
            </a:r>
            <a:r>
              <a:rPr lang="en-US" sz="1800" dirty="0">
                <a:effectLst/>
                <a:latin typeface="Calibri" panose="020F0502020204030204" pitchFamily="34" charset="0"/>
                <a:ea typeface="Calibri" panose="020F0502020204030204" pitchFamily="34" charset="0"/>
              </a:rPr>
              <a:t> </a:t>
            </a:r>
            <a:r>
              <a:rPr lang="en-US" sz="1800" dirty="0" err="1">
                <a:effectLst/>
                <a:latin typeface="Calibri" panose="020F0502020204030204" pitchFamily="34" charset="0"/>
                <a:ea typeface="Calibri" panose="020F0502020204030204" pitchFamily="34" charset="0"/>
              </a:rPr>
              <a:t>unido</a:t>
            </a:r>
            <a:r>
              <a:rPr lang="en-US" sz="1800" dirty="0">
                <a:effectLst/>
                <a:latin typeface="Calibri" panose="020F0502020204030204" pitchFamily="34" charset="0"/>
                <a:ea typeface="Calibri" panose="020F0502020204030204" pitchFamily="34" charset="0"/>
              </a:rPr>
              <a:t> </a:t>
            </a:r>
            <a:r>
              <a:rPr lang="en-US" sz="1800" dirty="0" err="1">
                <a:effectLst/>
                <a:latin typeface="Calibri" panose="020F0502020204030204" pitchFamily="34" charset="0"/>
                <a:ea typeface="Calibri" panose="020F0502020204030204" pitchFamily="34" charset="0"/>
              </a:rPr>
              <a:t>híbrido</a:t>
            </a:r>
            <a:r>
              <a:rPr lang="en-US" sz="1800" dirty="0">
                <a:effectLst/>
                <a:latin typeface="Calibri" panose="020F0502020204030204" pitchFamily="34" charset="0"/>
                <a:ea typeface="Calibri" panose="020F0502020204030204" pitchFamily="34" charset="0"/>
              </a:rPr>
              <a:t> a </a:t>
            </a:r>
            <a:r>
              <a:rPr lang="en-US" sz="1800" dirty="0" err="1">
                <a:effectLst/>
                <a:latin typeface="Calibri" panose="020F0502020204030204" pitchFamily="34" charset="0"/>
                <a:ea typeface="Calibri" panose="020F0502020204030204" pitchFamily="34" charset="0"/>
              </a:rPr>
              <a:t>Entra</a:t>
            </a:r>
            <a:r>
              <a:rPr lang="en-US" sz="1800" dirty="0">
                <a:effectLst/>
                <a:latin typeface="Calibri" panose="020F0502020204030204" pitchFamily="34" charset="0"/>
                <a:ea typeface="Calibri" panose="020F0502020204030204" pitchFamily="34" charset="0"/>
              </a:rPr>
              <a:t> ID (</a:t>
            </a:r>
            <a:r>
              <a:rPr lang="en-US" sz="1800" dirty="0" err="1">
                <a:effectLst/>
                <a:latin typeface="Calibri" panose="020F0502020204030204" pitchFamily="34" charset="0"/>
                <a:ea typeface="Calibri" panose="020F0502020204030204" pitchFamily="34" charset="0"/>
              </a:rPr>
              <a:t>DomainJoined</a:t>
            </a:r>
            <a:r>
              <a:rPr lang="en-US" sz="1800" dirty="0">
                <a:effectLst/>
                <a:latin typeface="Calibri" panose="020F0502020204030204" pitchFamily="34" charset="0"/>
                <a:ea typeface="Calibri" panose="020F0502020204030204" pitchFamily="34" charset="0"/>
              </a:rPr>
              <a:t> YES, </a:t>
            </a:r>
            <a:r>
              <a:rPr lang="en-US" sz="1800" dirty="0" err="1">
                <a:effectLst/>
                <a:latin typeface="Calibri" panose="020F0502020204030204" pitchFamily="34" charset="0"/>
                <a:ea typeface="Calibri" panose="020F0502020204030204" pitchFamily="34" charset="0"/>
              </a:rPr>
              <a:t>AzureAdJoined</a:t>
            </a:r>
            <a:r>
              <a:rPr lang="en-US" sz="1800" dirty="0">
                <a:effectLst/>
                <a:latin typeface="Calibri" panose="020F0502020204030204" pitchFamily="34" charset="0"/>
                <a:ea typeface="Calibri" panose="020F0502020204030204" pitchFamily="34" charset="0"/>
              </a:rPr>
              <a:t> YES, </a:t>
            </a:r>
            <a:r>
              <a:rPr lang="en-US" sz="1800" dirty="0" err="1">
                <a:effectLst/>
                <a:latin typeface="Calibri" panose="020F0502020204030204" pitchFamily="34" charset="0"/>
                <a:ea typeface="Calibri" panose="020F0502020204030204" pitchFamily="34" charset="0"/>
              </a:rPr>
              <a:t>AzureAdPrt</a:t>
            </a:r>
            <a:r>
              <a:rPr lang="en-US" sz="1800" dirty="0">
                <a:effectLst/>
                <a:latin typeface="Calibri" panose="020F0502020204030204" pitchFamily="34" charset="0"/>
                <a:ea typeface="Calibri" panose="020F0502020204030204" pitchFamily="34" charset="0"/>
              </a:rPr>
              <a:t> YES).</a:t>
            </a:r>
            <a:endParaRPr lang="es-CL" sz="1800" dirty="0">
              <a:effectLst/>
              <a:latin typeface="Calibri" panose="020F0502020204030204" pitchFamily="34" charset="0"/>
              <a:ea typeface="Calibri" panose="020F0502020204030204" pitchFamily="34" charset="0"/>
            </a:endParaRPr>
          </a:p>
          <a:p>
            <a:pPr marL="342900" lvl="0" indent="-342900">
              <a:lnSpc>
                <a:spcPct val="107000"/>
              </a:lnSpc>
              <a:buFont typeface="+mj-lt"/>
              <a:buAutoNum type="arabicPeriod"/>
            </a:pPr>
            <a:r>
              <a:rPr lang="es-CL" sz="1800" dirty="0">
                <a:effectLst/>
                <a:latin typeface="Calibri" panose="020F0502020204030204" pitchFamily="34" charset="0"/>
                <a:ea typeface="Calibri" panose="020F0502020204030204" pitchFamily="34" charset="0"/>
              </a:rPr>
              <a:t>Configurar OneDrive empresarial en silencio con la cuenta de Windows del usuario.</a:t>
            </a:r>
          </a:p>
          <a:p>
            <a:pPr marL="342900" lvl="0" indent="-342900">
              <a:lnSpc>
                <a:spcPct val="107000"/>
              </a:lnSpc>
              <a:buFont typeface="+mj-lt"/>
              <a:buAutoNum type="arabicPeriod"/>
            </a:pPr>
            <a:r>
              <a:rPr lang="es-CL" sz="1800" dirty="0">
                <a:effectLst/>
                <a:latin typeface="Calibri" panose="020F0502020204030204" pitchFamily="34" charset="0"/>
                <a:ea typeface="Calibri" panose="020F0502020204030204" pitchFamily="34" charset="0"/>
              </a:rPr>
              <a:t>Mover en silencio Escritorio, Documentos e Imágenes a OneDrive e impedir que el usuario revierta la protección.</a:t>
            </a:r>
          </a:p>
          <a:p>
            <a:pPr marL="342900" lvl="0" indent="-342900">
              <a:lnSpc>
                <a:spcPct val="107000"/>
              </a:lnSpc>
              <a:buFont typeface="+mj-lt"/>
              <a:buAutoNum type="arabicPeriod"/>
            </a:pPr>
            <a:r>
              <a:rPr lang="es-CL" sz="1800" dirty="0">
                <a:effectLst/>
                <a:latin typeface="Calibri" panose="020F0502020204030204" pitchFamily="34" charset="0"/>
                <a:ea typeface="Calibri" panose="020F0502020204030204" pitchFamily="34" charset="0"/>
              </a:rPr>
              <a:t>Activar Archivos a petición para reducir la descarga inicial.</a:t>
            </a:r>
          </a:p>
          <a:p>
            <a:pPr marL="342900" lvl="0" indent="-342900">
              <a:lnSpc>
                <a:spcPct val="107000"/>
              </a:lnSpc>
              <a:buFont typeface="+mj-lt"/>
              <a:buAutoNum type="arabicPeriod"/>
            </a:pPr>
            <a:r>
              <a:rPr lang="es-CL" sz="1800" dirty="0">
                <a:effectLst/>
                <a:latin typeface="Calibri" panose="020F0502020204030204" pitchFamily="34" charset="0"/>
                <a:ea typeface="Calibri" panose="020F0502020204030204" pitchFamily="34" charset="0"/>
              </a:rPr>
              <a:t>Conservar dominio, perfil de Windows, permisos, aplicaciones, unidades de red y alcance actual de sincronización.</a:t>
            </a:r>
          </a:p>
          <a:p>
            <a:pPr marL="342900" lvl="0" indent="-342900">
              <a:lnSpc>
                <a:spcPct val="107000"/>
              </a:lnSpc>
              <a:spcAft>
                <a:spcPts val="800"/>
              </a:spcAft>
              <a:buFont typeface="+mj-lt"/>
              <a:buAutoNum type="arabicPeriod"/>
            </a:pPr>
            <a:r>
              <a:rPr lang="es-CL" sz="1800" dirty="0">
                <a:effectLst/>
                <a:latin typeface="Calibri" panose="020F0502020204030204" pitchFamily="34" charset="0"/>
                <a:ea typeface="Calibri" panose="020F0502020204030204" pitchFamily="34" charset="0"/>
              </a:rPr>
              <a:t>Dejar documentado un procedimiento repetible y un plan de reversión para extender la solución a producción.</a:t>
            </a:r>
          </a:p>
        </p:txBody>
      </p:sp>
    </p:spTree>
    <p:extLst>
      <p:ext uri="{BB962C8B-B14F-4D97-AF65-F5344CB8AC3E}">
        <p14:creationId xmlns:p14="http://schemas.microsoft.com/office/powerpoint/2010/main" val="28214078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13C26DA4-EF26-4366-D133-5CB612912066}"/>
              </a:ext>
            </a:extLst>
          </p:cNvPr>
          <p:cNvSpPr txBox="1"/>
          <p:nvPr/>
        </p:nvSpPr>
        <p:spPr>
          <a:xfrm>
            <a:off x="1422670" y="560869"/>
            <a:ext cx="10075424" cy="1427570"/>
          </a:xfrm>
          <a:prstGeom prst="rect">
            <a:avLst/>
          </a:prstGeom>
          <a:noFill/>
        </p:spPr>
        <p:txBody>
          <a:bodyPr wrap="square">
            <a:spAutoFit/>
          </a:bodyPr>
          <a:lstStyle/>
          <a:p>
            <a:pPr>
              <a:lnSpc>
                <a:spcPct val="107000"/>
              </a:lnSpc>
              <a:spcBef>
                <a:spcPts val="1400"/>
              </a:spcBef>
              <a:spcAft>
                <a:spcPts val="500"/>
              </a:spcAft>
            </a:pPr>
            <a:r>
              <a:rPr lang="es-CL" sz="2400" b="1" dirty="0">
                <a:effectLst/>
                <a:latin typeface="Calibri" panose="020F0502020204030204" pitchFamily="34" charset="0"/>
              </a:rPr>
              <a:t>Viabilidad</a:t>
            </a:r>
          </a:p>
          <a:p>
            <a:pPr>
              <a:lnSpc>
                <a:spcPct val="107000"/>
              </a:lnSpc>
              <a:spcAft>
                <a:spcPts val="800"/>
              </a:spcAft>
            </a:pPr>
            <a:r>
              <a:rPr lang="es-CL" sz="1800" dirty="0">
                <a:effectLst/>
                <a:latin typeface="Calibri" panose="020F0502020204030204" pitchFamily="34" charset="0"/>
                <a:ea typeface="Calibri" panose="020F0502020204030204" pitchFamily="34" charset="0"/>
              </a:rPr>
              <a:t>El proyecto es técnicamente viable sin Intune y sin cambiar el método de autenticación; la unión híbrida y las directivas de OneDrive se gestionan por completo con Entra </a:t>
            </a:r>
            <a:r>
              <a:rPr lang="es-CL" sz="1800" dirty="0" err="1">
                <a:effectLst/>
                <a:latin typeface="Calibri" panose="020F0502020204030204" pitchFamily="34" charset="0"/>
                <a:ea typeface="Calibri" panose="020F0502020204030204" pitchFamily="34" charset="0"/>
              </a:rPr>
              <a:t>Connect</a:t>
            </a:r>
            <a:r>
              <a:rPr lang="es-CL" sz="1800" dirty="0">
                <a:effectLst/>
                <a:latin typeface="Calibri" panose="020F0502020204030204" pitchFamily="34" charset="0"/>
                <a:ea typeface="Calibri" panose="020F0502020204030204" pitchFamily="34" charset="0"/>
              </a:rPr>
              <a:t> y GPO. La viabilidad depende de cinco condiciones que se verifican en la fase de evaluación.</a:t>
            </a:r>
          </a:p>
        </p:txBody>
      </p:sp>
      <p:graphicFrame>
        <p:nvGraphicFramePr>
          <p:cNvPr id="4" name="Tabla 3">
            <a:extLst>
              <a:ext uri="{FF2B5EF4-FFF2-40B4-BE49-F238E27FC236}">
                <a16:creationId xmlns:a16="http://schemas.microsoft.com/office/drawing/2014/main" id="{64365888-46A9-CBC4-A214-9C8E292F697E}"/>
              </a:ext>
            </a:extLst>
          </p:cNvPr>
          <p:cNvGraphicFramePr>
            <a:graphicFrameLocks noGrp="1"/>
          </p:cNvGraphicFramePr>
          <p:nvPr>
            <p:extLst>
              <p:ext uri="{D42A27DB-BD31-4B8C-83A1-F6EECF244321}">
                <p14:modId xmlns:p14="http://schemas.microsoft.com/office/powerpoint/2010/main" val="80330304"/>
              </p:ext>
            </p:extLst>
          </p:nvPr>
        </p:nvGraphicFramePr>
        <p:xfrm>
          <a:off x="1645595" y="2669973"/>
          <a:ext cx="5943600" cy="2643188"/>
        </p:xfrm>
        <a:graphic>
          <a:graphicData uri="http://schemas.openxmlformats.org/drawingml/2006/table">
            <a:tbl>
              <a:tblPr firstRow="1" bandRow="1">
                <a:tableStyleId>{5C22544A-7EE6-4342-B048-85BDC9FD1C3A}</a:tableStyleId>
              </a:tblPr>
              <a:tblGrid>
                <a:gridCol w="2044065">
                  <a:extLst>
                    <a:ext uri="{9D8B030D-6E8A-4147-A177-3AD203B41FA5}">
                      <a16:colId xmlns:a16="http://schemas.microsoft.com/office/drawing/2014/main" val="2663375117"/>
                    </a:ext>
                  </a:extLst>
                </a:gridCol>
                <a:gridCol w="2327275">
                  <a:extLst>
                    <a:ext uri="{9D8B030D-6E8A-4147-A177-3AD203B41FA5}">
                      <a16:colId xmlns:a16="http://schemas.microsoft.com/office/drawing/2014/main" val="679813992"/>
                    </a:ext>
                  </a:extLst>
                </a:gridCol>
                <a:gridCol w="1572260">
                  <a:extLst>
                    <a:ext uri="{9D8B030D-6E8A-4147-A177-3AD203B41FA5}">
                      <a16:colId xmlns:a16="http://schemas.microsoft.com/office/drawing/2014/main" val="2856400452"/>
                    </a:ext>
                  </a:extLst>
                </a:gridCol>
              </a:tblGrid>
              <a:tr h="0">
                <a:tc>
                  <a:txBody>
                    <a:bodyPr/>
                    <a:lstStyle/>
                    <a:p>
                      <a:pPr>
                        <a:lnSpc>
                          <a:spcPct val="107000"/>
                        </a:lnSpc>
                        <a:spcAft>
                          <a:spcPts val="800"/>
                        </a:spcAft>
                      </a:pPr>
                      <a:r>
                        <a:rPr lang="en-US" sz="1100">
                          <a:effectLst/>
                        </a:rPr>
                        <a:t>Condición</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a:effectLst/>
                        </a:rPr>
                        <a:t>Por qué importa</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a:effectLst/>
                        </a:rPr>
                        <a:t>Si no se cumple</a:t>
                      </a:r>
                      <a:endParaRPr lang="es-CL"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129164827"/>
                  </a:ext>
                </a:extLst>
              </a:tr>
              <a:tr h="0">
                <a:tc>
                  <a:txBody>
                    <a:bodyPr/>
                    <a:lstStyle/>
                    <a:p>
                      <a:pPr>
                        <a:lnSpc>
                          <a:spcPct val="107000"/>
                        </a:lnSpc>
                        <a:spcAft>
                          <a:spcPts val="800"/>
                        </a:spcAft>
                      </a:pPr>
                      <a:r>
                        <a:rPr lang="es-CL" sz="1100">
                          <a:effectLst/>
                        </a:rPr>
                        <a:t>Entra Connect Sync 2.6.84.0 o posterior con autenticación por aplicación</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s-CL" sz="1100">
                          <a:effectLst/>
                        </a:rPr>
                        <a:t>Requisito de Microsoft para seguir sincronizando después del 7 de abril de 2027</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s-CL" sz="1100" dirty="0">
                          <a:effectLst/>
                        </a:rPr>
                        <a:t>Actualización previa, incluida como actividad del piloto</a:t>
                      </a:r>
                      <a:endParaRPr lang="es-CL" sz="1100" dirty="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498451185"/>
                  </a:ext>
                </a:extLst>
              </a:tr>
              <a:tr h="0">
                <a:tc>
                  <a:txBody>
                    <a:bodyPr/>
                    <a:lstStyle/>
                    <a:p>
                      <a:pPr>
                        <a:lnSpc>
                          <a:spcPct val="107000"/>
                        </a:lnSpc>
                        <a:spcAft>
                          <a:spcPts val="800"/>
                        </a:spcAft>
                      </a:pPr>
                      <a:r>
                        <a:rPr lang="es-CL" sz="1100">
                          <a:effectLst/>
                        </a:rPr>
                        <a:t>OU del equipo piloto dentro del alcance de sincronización</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s-CL" sz="1100">
                          <a:effectLst/>
                        </a:rPr>
                        <a:t>Sin el objeto de equipo en Entra el registro queda pendiente</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s-CL" sz="1100">
                          <a:effectLst/>
                        </a:rPr>
                        <a:t>Se agrega solo esa OU; no se excluye ninguna OU de usuarios</a:t>
                      </a:r>
                      <a:endParaRPr lang="es-CL"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2649059168"/>
                  </a:ext>
                </a:extLst>
              </a:tr>
              <a:tr h="0">
                <a:tc>
                  <a:txBody>
                    <a:bodyPr/>
                    <a:lstStyle/>
                    <a:p>
                      <a:pPr>
                        <a:lnSpc>
                          <a:spcPct val="107000"/>
                        </a:lnSpc>
                        <a:spcAft>
                          <a:spcPts val="800"/>
                        </a:spcAft>
                      </a:pPr>
                      <a:r>
                        <a:rPr lang="en-US" sz="1100">
                          <a:effectLst/>
                        </a:rPr>
                        <a:t>Windows 10/11 compatible y cliente OneDrive actualizado</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s-CL" sz="1100">
                          <a:effectLst/>
                        </a:rPr>
                        <a:t>El inicio de sesión silencioso y la protección de carpetas los exigen</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a:effectLst/>
                        </a:rPr>
                        <a:t>Actualizar el equipo piloto</a:t>
                      </a:r>
                      <a:endParaRPr lang="es-CL"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4142703356"/>
                  </a:ext>
                </a:extLst>
              </a:tr>
              <a:tr h="0">
                <a:tc>
                  <a:txBody>
                    <a:bodyPr/>
                    <a:lstStyle/>
                    <a:p>
                      <a:pPr>
                        <a:lnSpc>
                          <a:spcPct val="107000"/>
                        </a:lnSpc>
                        <a:spcAft>
                          <a:spcPts val="800"/>
                        </a:spcAft>
                      </a:pPr>
                      <a:r>
                        <a:rPr lang="es-CL" sz="1100">
                          <a:effectLst/>
                        </a:rPr>
                        <a:t>Salida a Internet del equipo (contexto SYSTEM) hacia los servicios de registro de Microsoft</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s-CL" sz="1100">
                          <a:effectLst/>
                        </a:rPr>
                        <a:t>El registro lo ejecuta el equipo, no el usuario; proxy o inspección TLS lo bloquean con frecuencia</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s-CL" sz="1100">
                          <a:effectLst/>
                        </a:rPr>
                        <a:t>Excepciones en proxy/firewall a cargo del cliente</a:t>
                      </a:r>
                      <a:endParaRPr lang="es-CL"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1469381598"/>
                  </a:ext>
                </a:extLst>
              </a:tr>
              <a:tr h="0">
                <a:tc>
                  <a:txBody>
                    <a:bodyPr/>
                    <a:lstStyle/>
                    <a:p>
                      <a:pPr>
                        <a:lnSpc>
                          <a:spcPct val="107000"/>
                        </a:lnSpc>
                        <a:spcAft>
                          <a:spcPts val="800"/>
                        </a:spcAft>
                      </a:pPr>
                      <a:r>
                        <a:rPr lang="es-CL" sz="1100">
                          <a:effectLst/>
                        </a:rPr>
                        <a:t>Usuario con licencia de OneDrive, UPN en dominio verificado</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s-CL" sz="1100">
                          <a:effectLst/>
                        </a:rPr>
                        <a:t>El PRT y OneDrive dependen de que el UPN local coincida con la cuenta en la nube</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s-CL" sz="1100" dirty="0">
                          <a:effectLst/>
                        </a:rPr>
                        <a:t>Ajuste de sufijo UPN acordado como cambio adicional</a:t>
                      </a:r>
                      <a:endParaRPr lang="es-CL" sz="1100" dirty="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3256307359"/>
                  </a:ext>
                </a:extLst>
              </a:tr>
            </a:tbl>
          </a:graphicData>
        </a:graphic>
      </p:graphicFrame>
      <p:sp>
        <p:nvSpPr>
          <p:cNvPr id="6" name="CuadroTexto 5">
            <a:extLst>
              <a:ext uri="{FF2B5EF4-FFF2-40B4-BE49-F238E27FC236}">
                <a16:creationId xmlns:a16="http://schemas.microsoft.com/office/drawing/2014/main" id="{6C97A971-C460-1F2C-5655-FC39C065DBFE}"/>
              </a:ext>
            </a:extLst>
          </p:cNvPr>
          <p:cNvSpPr txBox="1"/>
          <p:nvPr/>
        </p:nvSpPr>
        <p:spPr>
          <a:xfrm>
            <a:off x="1645594" y="5362374"/>
            <a:ext cx="9517705" cy="968278"/>
          </a:xfrm>
          <a:prstGeom prst="rect">
            <a:avLst/>
          </a:prstGeom>
          <a:noFill/>
        </p:spPr>
        <p:txBody>
          <a:bodyPr wrap="square">
            <a:spAutoFit/>
          </a:bodyPr>
          <a:lstStyle/>
          <a:p>
            <a:pPr>
              <a:lnSpc>
                <a:spcPct val="107000"/>
              </a:lnSpc>
              <a:spcAft>
                <a:spcPts val="800"/>
              </a:spcAft>
            </a:pPr>
            <a:r>
              <a:rPr lang="es-CL" sz="1800" dirty="0">
                <a:effectLst/>
                <a:latin typeface="Calibri" panose="020F0502020204030204" pitchFamily="34" charset="0"/>
                <a:ea typeface="Calibri" panose="020F0502020204030204" pitchFamily="34" charset="0"/>
              </a:rPr>
              <a:t>Si el dominio está federado (AD FS), el flujo cambia: se validan las reglas de notificaciones antes de registrar. Si existen MFA o acceso condicional que exijan interacción, se documentarán como excepción y no se debilitarán.</a:t>
            </a:r>
          </a:p>
        </p:txBody>
      </p:sp>
    </p:spTree>
    <p:extLst>
      <p:ext uri="{BB962C8B-B14F-4D97-AF65-F5344CB8AC3E}">
        <p14:creationId xmlns:p14="http://schemas.microsoft.com/office/powerpoint/2010/main" val="27993791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D3487D5B-A5E6-8C7D-3BDB-5A8E4B12264E}"/>
              </a:ext>
            </a:extLst>
          </p:cNvPr>
          <p:cNvSpPr txBox="1"/>
          <p:nvPr/>
        </p:nvSpPr>
        <p:spPr>
          <a:xfrm>
            <a:off x="1783080" y="562067"/>
            <a:ext cx="6096000" cy="1723933"/>
          </a:xfrm>
          <a:prstGeom prst="rect">
            <a:avLst/>
          </a:prstGeom>
          <a:noFill/>
        </p:spPr>
        <p:txBody>
          <a:bodyPr wrap="square">
            <a:spAutoFit/>
          </a:bodyPr>
          <a:lstStyle/>
          <a:p>
            <a:pPr>
              <a:lnSpc>
                <a:spcPct val="107000"/>
              </a:lnSpc>
              <a:spcBef>
                <a:spcPts val="1400"/>
              </a:spcBef>
              <a:spcAft>
                <a:spcPts val="500"/>
              </a:spcAft>
            </a:pPr>
            <a:r>
              <a:rPr lang="es-CL" sz="2400" b="1" dirty="0">
                <a:effectLst/>
                <a:latin typeface="Calibri" panose="020F0502020204030204" pitchFamily="34" charset="0"/>
              </a:rPr>
              <a:t>Arquitectura de la solución</a:t>
            </a:r>
          </a:p>
          <a:p>
            <a:pPr>
              <a:lnSpc>
                <a:spcPct val="107000"/>
              </a:lnSpc>
              <a:spcAft>
                <a:spcPts val="800"/>
              </a:spcAft>
            </a:pPr>
            <a:r>
              <a:rPr lang="es-CL" sz="1800" dirty="0">
                <a:effectLst/>
                <a:latin typeface="Calibri" panose="020F0502020204030204" pitchFamily="34" charset="0"/>
                <a:ea typeface="Calibri" panose="020F0502020204030204" pitchFamily="34" charset="0"/>
              </a:rPr>
              <a:t>La solución agrega el registro del equipo sin tocar la autenticación: Entra </a:t>
            </a:r>
            <a:r>
              <a:rPr lang="es-CL" sz="1800" dirty="0" err="1">
                <a:effectLst/>
                <a:latin typeface="Calibri" panose="020F0502020204030204" pitchFamily="34" charset="0"/>
                <a:ea typeface="Calibri" panose="020F0502020204030204" pitchFamily="34" charset="0"/>
              </a:rPr>
              <a:t>Connect</a:t>
            </a:r>
            <a:r>
              <a:rPr lang="es-CL" sz="1800" dirty="0">
                <a:effectLst/>
                <a:latin typeface="Calibri" panose="020F0502020204030204" pitchFamily="34" charset="0"/>
                <a:ea typeface="Calibri" panose="020F0502020204030204" pitchFamily="34" charset="0"/>
              </a:rPr>
              <a:t> sincroniza el objeto del equipo, el equipo se registra en Entra ID y, con el PRT obtenido, OneDrive inicia sesión y protege las carpetas.</a:t>
            </a:r>
          </a:p>
        </p:txBody>
      </p:sp>
      <p:pic>
        <p:nvPicPr>
          <p:cNvPr id="4" name="image1" descr="arquitectura · 3 componentes locales, 3 en la nube">
            <a:extLst>
              <a:ext uri="{FF2B5EF4-FFF2-40B4-BE49-F238E27FC236}">
                <a16:creationId xmlns:a16="http://schemas.microsoft.com/office/drawing/2014/main" id="{4275932D-C4EE-1EDF-5D82-44DB0B110A34}"/>
              </a:ext>
            </a:extLst>
          </p:cNvPr>
          <p:cNvPicPr/>
          <p:nvPr/>
        </p:nvPicPr>
        <p:blipFill>
          <a:blip r:embed="rId2"/>
          <a:stretch>
            <a:fillRect/>
          </a:stretch>
        </p:blipFill>
        <p:spPr>
          <a:xfrm>
            <a:off x="3471334" y="2489940"/>
            <a:ext cx="5486400" cy="3232785"/>
          </a:xfrm>
          <a:prstGeom prst="rect">
            <a:avLst/>
          </a:prstGeom>
        </p:spPr>
      </p:pic>
    </p:spTree>
    <p:extLst>
      <p:ext uri="{BB962C8B-B14F-4D97-AF65-F5344CB8AC3E}">
        <p14:creationId xmlns:p14="http://schemas.microsoft.com/office/powerpoint/2010/main" val="14141661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2D1EBCF2-2407-675A-0887-E40997454B1A}"/>
              </a:ext>
            </a:extLst>
          </p:cNvPr>
          <p:cNvSpPr txBox="1"/>
          <p:nvPr/>
        </p:nvSpPr>
        <p:spPr>
          <a:xfrm>
            <a:off x="2091266" y="1081083"/>
            <a:ext cx="6096000" cy="3544368"/>
          </a:xfrm>
          <a:prstGeom prst="rect">
            <a:avLst/>
          </a:prstGeom>
          <a:noFill/>
        </p:spPr>
        <p:txBody>
          <a:bodyPr wrap="square">
            <a:spAutoFit/>
          </a:bodyPr>
          <a:lstStyle/>
          <a:p>
            <a:pPr>
              <a:lnSpc>
                <a:spcPct val="107000"/>
              </a:lnSpc>
              <a:spcAft>
                <a:spcPts val="800"/>
              </a:spcAft>
            </a:pPr>
            <a:r>
              <a:rPr lang="es-CL" sz="1800" dirty="0">
                <a:effectLst/>
                <a:latin typeface="Calibri" panose="020F0502020204030204" pitchFamily="34" charset="0"/>
                <a:ea typeface="Calibri" panose="020F0502020204030204" pitchFamily="34" charset="0"/>
              </a:rPr>
              <a:t>arquitectura · 3 componentes locales, 3 en la nube</a:t>
            </a:r>
          </a:p>
          <a:p>
            <a:pPr>
              <a:lnSpc>
                <a:spcPct val="107000"/>
              </a:lnSpc>
              <a:spcAft>
                <a:spcPts val="800"/>
              </a:spcAft>
            </a:pPr>
            <a:r>
              <a:rPr lang="es-CL" sz="1800" dirty="0">
                <a:effectLst/>
                <a:latin typeface="Calibri" panose="020F0502020204030204" pitchFamily="34" charset="0"/>
                <a:ea typeface="Calibri" panose="020F0502020204030204" pitchFamily="34" charset="0"/>
              </a:rPr>
              <a:t>Secuencia en el equipo piloto:</a:t>
            </a:r>
          </a:p>
          <a:p>
            <a:pPr marL="342900" lvl="0" indent="-342900">
              <a:lnSpc>
                <a:spcPct val="107000"/>
              </a:lnSpc>
              <a:buFont typeface="+mj-lt"/>
              <a:buAutoNum type="arabicPeriod"/>
            </a:pPr>
            <a:r>
              <a:rPr lang="es-CL" sz="1800" dirty="0">
                <a:effectLst/>
                <a:latin typeface="Calibri" panose="020F0502020204030204" pitchFamily="34" charset="0"/>
                <a:ea typeface="Calibri" panose="020F0502020204030204" pitchFamily="34" charset="0"/>
              </a:rPr>
              <a:t>La GPO escribe en el equipo las claves de registro dirigido (</a:t>
            </a:r>
            <a:r>
              <a:rPr lang="es-CL" sz="1800" dirty="0" err="1">
                <a:effectLst/>
                <a:latin typeface="Calibri" panose="020F0502020204030204" pitchFamily="34" charset="0"/>
                <a:ea typeface="Calibri" panose="020F0502020204030204" pitchFamily="34" charset="0"/>
              </a:rPr>
              <a:t>TenantId</a:t>
            </a:r>
            <a:r>
              <a:rPr lang="es-CL" sz="1800" dirty="0">
                <a:effectLst/>
                <a:latin typeface="Calibri" panose="020F0502020204030204" pitchFamily="34" charset="0"/>
                <a:ea typeface="Calibri" panose="020F0502020204030204" pitchFamily="34" charset="0"/>
              </a:rPr>
              <a:t> y </a:t>
            </a:r>
            <a:r>
              <a:rPr lang="es-CL" sz="1800" dirty="0" err="1">
                <a:effectLst/>
                <a:latin typeface="Calibri" panose="020F0502020204030204" pitchFamily="34" charset="0"/>
                <a:ea typeface="Calibri" panose="020F0502020204030204" pitchFamily="34" charset="0"/>
              </a:rPr>
              <a:t>TenantName</a:t>
            </a:r>
            <a:r>
              <a:rPr lang="es-CL" sz="1800" dirty="0">
                <a:effectLst/>
                <a:latin typeface="Calibri" panose="020F0502020204030204" pitchFamily="34" charset="0"/>
                <a:ea typeface="Calibri" panose="020F0502020204030204" pitchFamily="34" charset="0"/>
              </a:rPr>
              <a:t>), sin publicar SCP en el bosque.</a:t>
            </a:r>
          </a:p>
          <a:p>
            <a:pPr marL="342900" lvl="0" indent="-342900">
              <a:lnSpc>
                <a:spcPct val="107000"/>
              </a:lnSpc>
              <a:buFont typeface="+mj-lt"/>
              <a:buAutoNum type="arabicPeriod"/>
            </a:pPr>
            <a:r>
              <a:rPr lang="es-CL" sz="1800" dirty="0">
                <a:effectLst/>
                <a:latin typeface="Calibri" panose="020F0502020204030204" pitchFamily="34" charset="0"/>
                <a:ea typeface="Calibri" panose="020F0502020204030204" pitchFamily="34" charset="0"/>
              </a:rPr>
              <a:t>Entra </a:t>
            </a:r>
            <a:r>
              <a:rPr lang="es-CL" sz="1800" dirty="0" err="1">
                <a:effectLst/>
                <a:latin typeface="Calibri" panose="020F0502020204030204" pitchFamily="34" charset="0"/>
                <a:ea typeface="Calibri" panose="020F0502020204030204" pitchFamily="34" charset="0"/>
              </a:rPr>
              <a:t>Connect</a:t>
            </a:r>
            <a:r>
              <a:rPr lang="es-CL" sz="1800" dirty="0">
                <a:effectLst/>
                <a:latin typeface="Calibri" panose="020F0502020204030204" pitchFamily="34" charset="0"/>
                <a:ea typeface="Calibri" panose="020F0502020204030204" pitchFamily="34" charset="0"/>
              </a:rPr>
              <a:t> sincroniza el objeto del equipo de la OU piloto, con su atributo </a:t>
            </a:r>
            <a:r>
              <a:rPr lang="es-CL" sz="1800" dirty="0" err="1">
                <a:effectLst/>
                <a:latin typeface="Calibri" panose="020F0502020204030204" pitchFamily="34" charset="0"/>
                <a:ea typeface="Calibri" panose="020F0502020204030204" pitchFamily="34" charset="0"/>
              </a:rPr>
              <a:t>userCertificate</a:t>
            </a:r>
            <a:r>
              <a:rPr lang="es-CL" sz="1800" dirty="0">
                <a:effectLst/>
                <a:latin typeface="Calibri" panose="020F0502020204030204" pitchFamily="34" charset="0"/>
                <a:ea typeface="Calibri" panose="020F0502020204030204" pitchFamily="34" charset="0"/>
              </a:rPr>
              <a:t>.</a:t>
            </a:r>
          </a:p>
          <a:p>
            <a:pPr marL="342900" lvl="0" indent="-342900">
              <a:lnSpc>
                <a:spcPct val="107000"/>
              </a:lnSpc>
              <a:buFont typeface="+mj-lt"/>
              <a:buAutoNum type="arabicPeriod"/>
            </a:pPr>
            <a:r>
              <a:rPr lang="es-CL" sz="1800" dirty="0">
                <a:effectLst/>
                <a:latin typeface="Calibri" panose="020F0502020204030204" pitchFamily="34" charset="0"/>
                <a:ea typeface="Calibri" panose="020F0502020204030204" pitchFamily="34" charset="0"/>
              </a:rPr>
              <a:t>La tarea programada </a:t>
            </a:r>
            <a:r>
              <a:rPr lang="es-CL" sz="1800" dirty="0" err="1">
                <a:effectLst/>
                <a:latin typeface="Calibri" panose="020F0502020204030204" pitchFamily="34" charset="0"/>
                <a:ea typeface="Calibri" panose="020F0502020204030204" pitchFamily="34" charset="0"/>
              </a:rPr>
              <a:t>Automatic-Device-Join</a:t>
            </a:r>
            <a:r>
              <a:rPr lang="es-CL" sz="1800" dirty="0">
                <a:effectLst/>
                <a:latin typeface="Calibri" panose="020F0502020204030204" pitchFamily="34" charset="0"/>
                <a:ea typeface="Calibri" panose="020F0502020204030204" pitchFamily="34" charset="0"/>
              </a:rPr>
              <a:t> registra el equipo en Entra ID por HTTPS.</a:t>
            </a:r>
          </a:p>
          <a:p>
            <a:pPr marL="342900" lvl="0" indent="-342900">
              <a:lnSpc>
                <a:spcPct val="107000"/>
              </a:lnSpc>
              <a:buFont typeface="+mj-lt"/>
              <a:buAutoNum type="arabicPeriod"/>
            </a:pPr>
            <a:r>
              <a:rPr lang="es-CL" sz="1800" dirty="0">
                <a:effectLst/>
                <a:latin typeface="Calibri" panose="020F0502020204030204" pitchFamily="34" charset="0"/>
                <a:ea typeface="Calibri" panose="020F0502020204030204" pitchFamily="34" charset="0"/>
              </a:rPr>
              <a:t>Al iniciar sesión, Windows obtiene el token PRT del usuario.</a:t>
            </a:r>
          </a:p>
          <a:p>
            <a:pPr marL="342900" lvl="0" indent="-342900">
              <a:lnSpc>
                <a:spcPct val="107000"/>
              </a:lnSpc>
              <a:spcAft>
                <a:spcPts val="800"/>
              </a:spcAft>
              <a:buFont typeface="+mj-lt"/>
              <a:buAutoNum type="arabicPeriod"/>
            </a:pPr>
            <a:r>
              <a:rPr lang="es-CL" sz="1800" dirty="0">
                <a:effectLst/>
                <a:latin typeface="Calibri" panose="020F0502020204030204" pitchFamily="34" charset="0"/>
                <a:ea typeface="Calibri" panose="020F0502020204030204" pitchFamily="34" charset="0"/>
              </a:rPr>
              <a:t>OneDrive usa ese token para configurarse en silencio y la GPO mueve Escritorio, Documentos e Imágenes.</a:t>
            </a:r>
          </a:p>
        </p:txBody>
      </p:sp>
    </p:spTree>
    <p:extLst>
      <p:ext uri="{BB962C8B-B14F-4D97-AF65-F5344CB8AC3E}">
        <p14:creationId xmlns:p14="http://schemas.microsoft.com/office/powerpoint/2010/main" val="15073446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D945BE20-E8CC-8A4D-B2B4-E34F4EB9D4C7}"/>
              </a:ext>
            </a:extLst>
          </p:cNvPr>
          <p:cNvSpPr txBox="1"/>
          <p:nvPr/>
        </p:nvSpPr>
        <p:spPr>
          <a:xfrm>
            <a:off x="685799" y="-2630736"/>
            <a:ext cx="10913534" cy="8266750"/>
          </a:xfrm>
          <a:prstGeom prst="rect">
            <a:avLst/>
          </a:prstGeom>
          <a:noFill/>
        </p:spPr>
        <p:txBody>
          <a:bodyPr wrap="square">
            <a:spAutoFit/>
          </a:bodyPr>
          <a:lstStyle/>
          <a:p>
            <a:pPr>
              <a:lnSpc>
                <a:spcPct val="107000"/>
              </a:lnSpc>
              <a:spcBef>
                <a:spcPts val="1400"/>
              </a:spcBef>
              <a:spcAft>
                <a:spcPts val="500"/>
              </a:spcAft>
            </a:pPr>
            <a:r>
              <a:rPr lang="es-CL" sz="2400" b="1" dirty="0">
                <a:effectLst/>
                <a:latin typeface="Calibri" panose="020F0502020204030204" pitchFamily="34" charset="0"/>
              </a:rPr>
              <a:t>Alcances</a:t>
            </a:r>
          </a:p>
          <a:p>
            <a:pPr>
              <a:lnSpc>
                <a:spcPct val="107000"/>
              </a:lnSpc>
              <a:spcAft>
                <a:spcPts val="800"/>
              </a:spcAft>
            </a:pPr>
            <a:r>
              <a:rPr lang="es-CL" sz="1800" dirty="0">
                <a:effectLst/>
                <a:latin typeface="Calibri" panose="020F0502020204030204" pitchFamily="34" charset="0"/>
                <a:ea typeface="Calibri" panose="020F0502020204030204" pitchFamily="34" charset="0"/>
              </a:rPr>
              <a:t>El servicio cubre la evaluación, configuración y validación en 1 usuario y 1 equipo piloto, más la documentación para replicarlo.</a:t>
            </a:r>
          </a:p>
          <a:p>
            <a:pPr>
              <a:lnSpc>
                <a:spcPct val="107000"/>
              </a:lnSpc>
              <a:spcAft>
                <a:spcPts val="800"/>
              </a:spcAft>
            </a:pPr>
            <a:r>
              <a:rPr lang="en-US" sz="1800" b="1" dirty="0" err="1">
                <a:effectLst/>
                <a:latin typeface="Calibri" panose="020F0502020204030204" pitchFamily="34" charset="0"/>
                <a:ea typeface="Calibri" panose="020F0502020204030204" pitchFamily="34" charset="0"/>
              </a:rPr>
              <a:t>Evaluación</a:t>
            </a:r>
            <a:endParaRPr lang="es-CL" sz="1800" dirty="0">
              <a:effectLst/>
              <a:latin typeface="Calibri" panose="020F0502020204030204" pitchFamily="34" charset="0"/>
              <a:ea typeface="Calibri" panose="020F0502020204030204" pitchFamily="34" charset="0"/>
            </a:endParaRPr>
          </a:p>
          <a:p>
            <a:pPr marL="342900" lvl="0" indent="-342900">
              <a:lnSpc>
                <a:spcPct val="107000"/>
              </a:lnSpc>
              <a:buFont typeface="Arial" panose="020B0604020202020204" pitchFamily="34" charset="0"/>
              <a:buChar char="•"/>
            </a:pPr>
            <a:r>
              <a:rPr lang="es-CL" sz="1800" dirty="0">
                <a:effectLst/>
                <a:latin typeface="Calibri" panose="020F0502020204030204" pitchFamily="34" charset="0"/>
                <a:ea typeface="Calibri" panose="020F0502020204030204" pitchFamily="34" charset="0"/>
              </a:rPr>
              <a:t>Inventario de Entra </a:t>
            </a:r>
            <a:r>
              <a:rPr lang="es-CL" sz="1800" dirty="0" err="1">
                <a:effectLst/>
                <a:latin typeface="Calibri" panose="020F0502020204030204" pitchFamily="34" charset="0"/>
                <a:ea typeface="Calibri" panose="020F0502020204030204" pitchFamily="34" charset="0"/>
              </a:rPr>
              <a:t>Connect</a:t>
            </a:r>
            <a:r>
              <a:rPr lang="es-CL" sz="1800" dirty="0">
                <a:effectLst/>
                <a:latin typeface="Calibri" panose="020F0502020204030204" pitchFamily="34" charset="0"/>
                <a:ea typeface="Calibri" panose="020F0502020204030204" pitchFamily="34" charset="0"/>
              </a:rPr>
              <a:t>: versión, modo de autenticación (PHS, PTA o federado), filtrado de OU, opciones de dispositivo y salud de la sincronización.</a:t>
            </a:r>
          </a:p>
          <a:p>
            <a:pPr marL="342900" lvl="0" indent="-342900">
              <a:lnSpc>
                <a:spcPct val="107000"/>
              </a:lnSpc>
              <a:buFont typeface="Arial" panose="020B0604020202020204" pitchFamily="34" charset="0"/>
              <a:buChar char="•"/>
            </a:pPr>
            <a:r>
              <a:rPr lang="es-CL" sz="1800" dirty="0">
                <a:effectLst/>
                <a:latin typeface="Calibri" panose="020F0502020204030204" pitchFamily="34" charset="0"/>
                <a:ea typeface="Calibri" panose="020F0502020204030204" pitchFamily="34" charset="0"/>
              </a:rPr>
              <a:t>Respaldo de la configuración de Entra </a:t>
            </a:r>
            <a:r>
              <a:rPr lang="es-CL" sz="1800" dirty="0" err="1">
                <a:effectLst/>
                <a:latin typeface="Calibri" panose="020F0502020204030204" pitchFamily="34" charset="0"/>
                <a:ea typeface="Calibri" panose="020F0502020204030204" pitchFamily="34" charset="0"/>
              </a:rPr>
              <a:t>Connect</a:t>
            </a:r>
            <a:r>
              <a:rPr lang="es-CL" sz="1800" dirty="0">
                <a:effectLst/>
                <a:latin typeface="Calibri" panose="020F0502020204030204" pitchFamily="34" charset="0"/>
                <a:ea typeface="Calibri" panose="020F0502020204030204" pitchFamily="34" charset="0"/>
              </a:rPr>
              <a:t> (exportación) antes de cualquier cambio.</a:t>
            </a:r>
          </a:p>
          <a:p>
            <a:pPr marL="342900" lvl="0" indent="-342900">
              <a:lnSpc>
                <a:spcPct val="107000"/>
              </a:lnSpc>
              <a:buFont typeface="Arial" panose="020B0604020202020204" pitchFamily="34" charset="0"/>
              <a:buChar char="•"/>
            </a:pPr>
            <a:r>
              <a:rPr lang="es-CL" sz="1800" dirty="0">
                <a:effectLst/>
                <a:latin typeface="Calibri" panose="020F0502020204030204" pitchFamily="34" charset="0"/>
                <a:ea typeface="Calibri" panose="020F0502020204030204" pitchFamily="34" charset="0"/>
              </a:rPr>
              <a:t>Revisión de dominios verificados, sufijos UPN, licencia de OneDrive del usuario piloto, MFA y directivas de acceso condicional.</a:t>
            </a:r>
          </a:p>
          <a:p>
            <a:pPr marL="342900" lvl="0" indent="-342900">
              <a:lnSpc>
                <a:spcPct val="107000"/>
              </a:lnSpc>
              <a:buFont typeface="Arial" panose="020B0604020202020204" pitchFamily="34" charset="0"/>
              <a:buChar char="•"/>
            </a:pPr>
            <a:r>
              <a:rPr lang="es-CL" sz="1800" dirty="0">
                <a:effectLst/>
                <a:latin typeface="Calibri" panose="020F0502020204030204" pitchFamily="34" charset="0"/>
                <a:ea typeface="Calibri" panose="020F0502020204030204" pitchFamily="34" charset="0"/>
              </a:rPr>
              <a:t>Revisión de GPO existentes de OneDrive y redirección de carpetas, y de herramientas de sincronización de terceros en el equipo.</a:t>
            </a:r>
          </a:p>
          <a:p>
            <a:pPr marL="342900" lvl="0" indent="-342900">
              <a:lnSpc>
                <a:spcPct val="107000"/>
              </a:lnSpc>
              <a:buFont typeface="Arial" panose="020B0604020202020204" pitchFamily="34" charset="0"/>
              <a:buChar char="•"/>
            </a:pPr>
            <a:r>
              <a:rPr lang="es-CL" sz="1800" dirty="0">
                <a:effectLst/>
                <a:latin typeface="Calibri" panose="020F0502020204030204" pitchFamily="34" charset="0"/>
                <a:ea typeface="Calibri" panose="020F0502020204030204" pitchFamily="34" charset="0"/>
              </a:rPr>
              <a:t>Pruebas de conectividad desde el contexto SYSTEM del equipo: DNS, proxy, firewall e inspección TLS.</a:t>
            </a:r>
          </a:p>
          <a:p>
            <a:pPr marL="342900" lvl="0" indent="-342900">
              <a:lnSpc>
                <a:spcPct val="107000"/>
              </a:lnSpc>
              <a:spcAft>
                <a:spcPts val="800"/>
              </a:spcAft>
              <a:buFont typeface="Arial" panose="020B0604020202020204" pitchFamily="34" charset="0"/>
              <a:buChar char="•"/>
            </a:pPr>
            <a:r>
              <a:rPr lang="es-CL" sz="1800" dirty="0">
                <a:effectLst/>
                <a:latin typeface="Calibri" panose="020F0502020204030204" pitchFamily="34" charset="0"/>
                <a:ea typeface="Calibri" panose="020F0502020204030204" pitchFamily="34" charset="0"/>
              </a:rPr>
              <a:t>Captura inicial de </a:t>
            </a:r>
            <a:r>
              <a:rPr lang="es-CL" sz="1800" dirty="0" err="1">
                <a:effectLst/>
                <a:latin typeface="Calibri" panose="020F0502020204030204" pitchFamily="34" charset="0"/>
                <a:ea typeface="Calibri" panose="020F0502020204030204" pitchFamily="34" charset="0"/>
              </a:rPr>
              <a:t>dsregcmd</a:t>
            </a:r>
            <a:r>
              <a:rPr lang="es-CL" sz="1800" dirty="0">
                <a:effectLst/>
                <a:latin typeface="Calibri" panose="020F0502020204030204" pitchFamily="34" charset="0"/>
                <a:ea typeface="Calibri" panose="020F0502020204030204" pitchFamily="34" charset="0"/>
              </a:rPr>
              <a:t> /status del equipo piloto.</a:t>
            </a:r>
          </a:p>
          <a:p>
            <a:pPr>
              <a:lnSpc>
                <a:spcPct val="107000"/>
              </a:lnSpc>
              <a:spcAft>
                <a:spcPts val="800"/>
              </a:spcAft>
            </a:pPr>
            <a:r>
              <a:rPr lang="en-US" sz="1800" b="1" dirty="0" err="1">
                <a:effectLst/>
                <a:latin typeface="Calibri" panose="020F0502020204030204" pitchFamily="34" charset="0"/>
                <a:ea typeface="Calibri" panose="020F0502020204030204" pitchFamily="34" charset="0"/>
              </a:rPr>
              <a:t>Configuración</a:t>
            </a:r>
            <a:endParaRPr lang="es-CL" sz="1800" dirty="0">
              <a:effectLst/>
              <a:latin typeface="Calibri" panose="020F0502020204030204" pitchFamily="34" charset="0"/>
              <a:ea typeface="Calibri" panose="020F0502020204030204" pitchFamily="34" charset="0"/>
            </a:endParaRPr>
          </a:p>
          <a:p>
            <a:pPr marL="342900" lvl="0" indent="-342900">
              <a:lnSpc>
                <a:spcPct val="107000"/>
              </a:lnSpc>
              <a:buFont typeface="Arial" panose="020B0604020202020204" pitchFamily="34" charset="0"/>
              <a:buChar char="•"/>
            </a:pPr>
            <a:r>
              <a:rPr lang="es-CL" sz="1800" dirty="0">
                <a:effectLst/>
                <a:latin typeface="Calibri" panose="020F0502020204030204" pitchFamily="34" charset="0"/>
                <a:ea typeface="Calibri" panose="020F0502020204030204" pitchFamily="34" charset="0"/>
              </a:rPr>
              <a:t>Actualización de Entra </a:t>
            </a:r>
            <a:r>
              <a:rPr lang="es-CL" sz="1800" dirty="0" err="1">
                <a:effectLst/>
                <a:latin typeface="Calibri" panose="020F0502020204030204" pitchFamily="34" charset="0"/>
                <a:ea typeface="Calibri" panose="020F0502020204030204" pitchFamily="34" charset="0"/>
              </a:rPr>
              <a:t>Connect</a:t>
            </a:r>
            <a:r>
              <a:rPr lang="es-CL" sz="1800" dirty="0">
                <a:effectLst/>
                <a:latin typeface="Calibri" panose="020F0502020204030204" pitchFamily="34" charset="0"/>
                <a:ea typeface="Calibri" panose="020F0502020204030204" pitchFamily="34" charset="0"/>
              </a:rPr>
              <a:t> </a:t>
            </a:r>
            <a:r>
              <a:rPr lang="es-CL" sz="1800" dirty="0" err="1">
                <a:effectLst/>
                <a:latin typeface="Calibri" panose="020F0502020204030204" pitchFamily="34" charset="0"/>
                <a:ea typeface="Calibri" panose="020F0502020204030204" pitchFamily="34" charset="0"/>
              </a:rPr>
              <a:t>Sync</a:t>
            </a:r>
            <a:r>
              <a:rPr lang="es-CL" sz="1800" dirty="0">
                <a:effectLst/>
                <a:latin typeface="Calibri" panose="020F0502020204030204" pitchFamily="34" charset="0"/>
                <a:ea typeface="Calibri" panose="020F0502020204030204" pitchFamily="34" charset="0"/>
              </a:rPr>
              <a:t> a la versión vigente y cambio a autenticación por aplicación (ventana acordada).</a:t>
            </a:r>
          </a:p>
          <a:p>
            <a:pPr marL="342900" lvl="0" indent="-342900">
              <a:lnSpc>
                <a:spcPct val="107000"/>
              </a:lnSpc>
              <a:buFont typeface="Arial" panose="020B0604020202020204" pitchFamily="34" charset="0"/>
              <a:buChar char="•"/>
            </a:pPr>
            <a:r>
              <a:rPr lang="es-CL" sz="1800" dirty="0">
                <a:effectLst/>
                <a:latin typeface="Calibri" panose="020F0502020204030204" pitchFamily="34" charset="0"/>
                <a:ea typeface="Calibri" panose="020F0502020204030204" pitchFamily="34" charset="0"/>
              </a:rPr>
              <a:t>Inclusión de la OU piloto en la sincronización de dispositivos sin alterar el alcance de usuarios.</a:t>
            </a:r>
          </a:p>
          <a:p>
            <a:pPr marL="342900" lvl="0" indent="-342900">
              <a:lnSpc>
                <a:spcPct val="107000"/>
              </a:lnSpc>
              <a:buFont typeface="Arial" panose="020B0604020202020204" pitchFamily="34" charset="0"/>
              <a:buChar char="•"/>
            </a:pPr>
            <a:r>
              <a:rPr lang="es-CL" sz="1800" dirty="0">
                <a:effectLst/>
                <a:latin typeface="Calibri" panose="020F0502020204030204" pitchFamily="34" charset="0"/>
                <a:ea typeface="Calibri" panose="020F0502020204030204" pitchFamily="34" charset="0"/>
              </a:rPr>
              <a:t>Despliegue dirigido de unión híbrida: claves de registro </a:t>
            </a:r>
            <a:r>
              <a:rPr lang="es-CL" sz="1800" dirty="0" err="1">
                <a:effectLst/>
                <a:latin typeface="Calibri" panose="020F0502020204030204" pitchFamily="34" charset="0"/>
                <a:ea typeface="Calibri" panose="020F0502020204030204" pitchFamily="34" charset="0"/>
              </a:rPr>
              <a:t>TenantId</a:t>
            </a:r>
            <a:r>
              <a:rPr lang="es-CL" sz="1800" dirty="0">
                <a:effectLst/>
                <a:latin typeface="Calibri" panose="020F0502020204030204" pitchFamily="34" charset="0"/>
                <a:ea typeface="Calibri" panose="020F0502020204030204" pitchFamily="34" charset="0"/>
              </a:rPr>
              <a:t> y </a:t>
            </a:r>
            <a:r>
              <a:rPr lang="es-CL" sz="1800" dirty="0" err="1">
                <a:effectLst/>
                <a:latin typeface="Calibri" panose="020F0502020204030204" pitchFamily="34" charset="0"/>
                <a:ea typeface="Calibri" panose="020F0502020204030204" pitchFamily="34" charset="0"/>
              </a:rPr>
              <a:t>TenantName</a:t>
            </a:r>
            <a:r>
              <a:rPr lang="es-CL" sz="1800" dirty="0">
                <a:effectLst/>
                <a:latin typeface="Calibri" panose="020F0502020204030204" pitchFamily="34" charset="0"/>
                <a:ea typeface="Calibri" panose="020F0502020204030204" pitchFamily="34" charset="0"/>
              </a:rPr>
              <a:t> por GPO solo a la OU piloto, sin SCP en el bosque.</a:t>
            </a:r>
          </a:p>
          <a:p>
            <a:pPr marL="342900" lvl="0" indent="-342900">
              <a:lnSpc>
                <a:spcPct val="107000"/>
              </a:lnSpc>
              <a:spcAft>
                <a:spcPts val="800"/>
              </a:spcAft>
              <a:buFont typeface="Arial" panose="020B0604020202020204" pitchFamily="34" charset="0"/>
              <a:buChar char="•"/>
            </a:pPr>
            <a:r>
              <a:rPr lang="es-CL" sz="1800" dirty="0">
                <a:effectLst/>
                <a:latin typeface="Calibri" panose="020F0502020204030204" pitchFamily="34" charset="0"/>
                <a:ea typeface="Calibri" panose="020F0502020204030204" pitchFamily="34" charset="0"/>
              </a:rPr>
              <a:t>GPO de OneDrive vinculada solo a la OU piloto: inicio de sesión silencioso, movimiento silencioso de carpetas conocidas con el ID de inquilino, bloqueo de la reversión, Archivos a petición.</a:t>
            </a:r>
          </a:p>
          <a:p>
            <a:pPr>
              <a:lnSpc>
                <a:spcPct val="107000"/>
              </a:lnSpc>
              <a:spcAft>
                <a:spcPts val="800"/>
              </a:spcAft>
            </a:pPr>
            <a:r>
              <a:rPr lang="en-US" sz="1800" b="1" dirty="0" err="1">
                <a:effectLst/>
                <a:latin typeface="Calibri" panose="020F0502020204030204" pitchFamily="34" charset="0"/>
                <a:ea typeface="Calibri" panose="020F0502020204030204" pitchFamily="34" charset="0"/>
              </a:rPr>
              <a:t>Validación</a:t>
            </a:r>
            <a:r>
              <a:rPr lang="en-US" sz="1800" b="1" dirty="0">
                <a:effectLst/>
                <a:latin typeface="Calibri" panose="020F0502020204030204" pitchFamily="34" charset="0"/>
                <a:ea typeface="Calibri" panose="020F0502020204030204" pitchFamily="34" charset="0"/>
              </a:rPr>
              <a:t> y </a:t>
            </a:r>
            <a:r>
              <a:rPr lang="en-US" sz="1800" b="1" dirty="0" err="1">
                <a:effectLst/>
                <a:latin typeface="Calibri" panose="020F0502020204030204" pitchFamily="34" charset="0"/>
                <a:ea typeface="Calibri" panose="020F0502020204030204" pitchFamily="34" charset="0"/>
              </a:rPr>
              <a:t>entrega</a:t>
            </a:r>
            <a:endParaRPr lang="es-CL" sz="1800" dirty="0">
              <a:effectLst/>
              <a:latin typeface="Calibri" panose="020F0502020204030204" pitchFamily="34" charset="0"/>
              <a:ea typeface="Calibri" panose="020F0502020204030204" pitchFamily="34" charset="0"/>
            </a:endParaRPr>
          </a:p>
          <a:p>
            <a:pPr marL="342900" lvl="0" indent="-342900">
              <a:lnSpc>
                <a:spcPct val="107000"/>
              </a:lnSpc>
              <a:buFont typeface="Arial" panose="020B0604020202020204" pitchFamily="34" charset="0"/>
              <a:buChar char="•"/>
            </a:pPr>
            <a:r>
              <a:rPr lang="es-CL" sz="1800" dirty="0">
                <a:effectLst/>
                <a:latin typeface="Calibri" panose="020F0502020204030204" pitchFamily="34" charset="0"/>
                <a:ea typeface="Calibri" panose="020F0502020204030204" pitchFamily="34" charset="0"/>
              </a:rPr>
              <a:t>Ejecución de los criterios de aceptación con evidencia (capturas de </a:t>
            </a:r>
            <a:r>
              <a:rPr lang="es-CL" sz="1800" dirty="0" err="1">
                <a:effectLst/>
                <a:latin typeface="Calibri" panose="020F0502020204030204" pitchFamily="34" charset="0"/>
                <a:ea typeface="Calibri" panose="020F0502020204030204" pitchFamily="34" charset="0"/>
              </a:rPr>
              <a:t>dsregcmd</a:t>
            </a:r>
            <a:r>
              <a:rPr lang="es-CL" sz="1800" dirty="0">
                <a:effectLst/>
                <a:latin typeface="Calibri" panose="020F0502020204030204" pitchFamily="34" charset="0"/>
                <a:ea typeface="Calibri" panose="020F0502020204030204" pitchFamily="34" charset="0"/>
              </a:rPr>
              <a:t>, </a:t>
            </a:r>
            <a:r>
              <a:rPr lang="es-CL" sz="1800" dirty="0" err="1">
                <a:effectLst/>
                <a:latin typeface="Calibri" panose="020F0502020204030204" pitchFamily="34" charset="0"/>
                <a:ea typeface="Calibri" panose="020F0502020204030204" pitchFamily="34" charset="0"/>
              </a:rPr>
              <a:t>gpresult</a:t>
            </a:r>
            <a:r>
              <a:rPr lang="es-CL" sz="1800" dirty="0">
                <a:effectLst/>
                <a:latin typeface="Calibri" panose="020F0502020204030204" pitchFamily="34" charset="0"/>
                <a:ea typeface="Calibri" panose="020F0502020204030204" pitchFamily="34" charset="0"/>
              </a:rPr>
              <a:t>, OneDrive web).</a:t>
            </a:r>
          </a:p>
          <a:p>
            <a:pPr marL="342900" lvl="0" indent="-342900">
              <a:lnSpc>
                <a:spcPct val="107000"/>
              </a:lnSpc>
              <a:buFont typeface="Arial" panose="020B0604020202020204" pitchFamily="34" charset="0"/>
              <a:buChar char="•"/>
            </a:pPr>
            <a:r>
              <a:rPr lang="es-CL" sz="1800" dirty="0">
                <a:effectLst/>
                <a:latin typeface="Calibri" panose="020F0502020204030204" pitchFamily="34" charset="0"/>
                <a:ea typeface="Calibri" panose="020F0502020204030204" pitchFamily="34" charset="0"/>
              </a:rPr>
              <a:t>Documento técnico "como quedó", procedimiento de despliegue por oleadas y plan de reversión probado.</a:t>
            </a:r>
          </a:p>
          <a:p>
            <a:pPr marL="342900" lvl="0" indent="-342900">
              <a:lnSpc>
                <a:spcPct val="107000"/>
              </a:lnSpc>
              <a:spcAft>
                <a:spcPts val="800"/>
              </a:spcAft>
              <a:buFont typeface="Arial" panose="020B0604020202020204" pitchFamily="34" charset="0"/>
              <a:buChar char="•"/>
            </a:pPr>
            <a:r>
              <a:rPr lang="es-CL" sz="1800" dirty="0">
                <a:effectLst/>
                <a:latin typeface="Calibri" panose="020F0502020204030204" pitchFamily="34" charset="0"/>
                <a:ea typeface="Calibri" panose="020F0502020204030204" pitchFamily="34" charset="0"/>
              </a:rPr>
              <a:t>Sesión de transferencia de conocimiento de 1 hora al equipo de TI del cliente.</a:t>
            </a:r>
          </a:p>
        </p:txBody>
      </p:sp>
    </p:spTree>
    <p:extLst>
      <p:ext uri="{BB962C8B-B14F-4D97-AF65-F5344CB8AC3E}">
        <p14:creationId xmlns:p14="http://schemas.microsoft.com/office/powerpoint/2010/main" val="37001418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A5F92964-6BF9-21DD-D2EB-8F4771156397}"/>
              </a:ext>
            </a:extLst>
          </p:cNvPr>
          <p:cNvSpPr txBox="1"/>
          <p:nvPr/>
        </p:nvSpPr>
        <p:spPr>
          <a:xfrm>
            <a:off x="474133" y="-447894"/>
            <a:ext cx="11218334" cy="4493794"/>
          </a:xfrm>
          <a:prstGeom prst="rect">
            <a:avLst/>
          </a:prstGeom>
          <a:noFill/>
        </p:spPr>
        <p:txBody>
          <a:bodyPr wrap="square">
            <a:spAutoFit/>
          </a:bodyPr>
          <a:lstStyle/>
          <a:p>
            <a:pPr>
              <a:lnSpc>
                <a:spcPct val="107000"/>
              </a:lnSpc>
              <a:spcBef>
                <a:spcPts val="1400"/>
              </a:spcBef>
              <a:spcAft>
                <a:spcPts val="500"/>
              </a:spcAft>
            </a:pPr>
            <a:r>
              <a:rPr lang="es-CL" sz="2400" b="1" dirty="0">
                <a:effectLst/>
                <a:latin typeface="Calibri" panose="020F0502020204030204" pitchFamily="34" charset="0"/>
              </a:rPr>
              <a:t>Fuera de alcance</a:t>
            </a:r>
          </a:p>
          <a:p>
            <a:pPr>
              <a:lnSpc>
                <a:spcPct val="107000"/>
              </a:lnSpc>
              <a:spcAft>
                <a:spcPts val="800"/>
              </a:spcAft>
            </a:pPr>
            <a:r>
              <a:rPr lang="es-CL" sz="1800" dirty="0">
                <a:effectLst/>
                <a:latin typeface="Calibri" panose="020F0502020204030204" pitchFamily="34" charset="0"/>
                <a:ea typeface="Calibri" panose="020F0502020204030204" pitchFamily="34" charset="0"/>
              </a:rPr>
              <a:t>Cualquier actividad no listada en Alcances requiere un cambio acordado por escrito. </a:t>
            </a:r>
            <a:r>
              <a:rPr lang="en-US" sz="1800" dirty="0">
                <a:effectLst/>
                <a:latin typeface="Calibri" panose="020F0502020204030204" pitchFamily="34" charset="0"/>
                <a:ea typeface="Calibri" panose="020F0502020204030204" pitchFamily="34" charset="0"/>
              </a:rPr>
              <a:t>En particular, </a:t>
            </a:r>
            <a:r>
              <a:rPr lang="en-US" sz="1800" dirty="0" err="1">
                <a:effectLst/>
                <a:latin typeface="Calibri" panose="020F0502020204030204" pitchFamily="34" charset="0"/>
                <a:ea typeface="Calibri" panose="020F0502020204030204" pitchFamily="34" charset="0"/>
              </a:rPr>
              <a:t>quedan</a:t>
            </a:r>
            <a:r>
              <a:rPr lang="en-US" sz="1800" dirty="0">
                <a:effectLst/>
                <a:latin typeface="Calibri" panose="020F0502020204030204" pitchFamily="34" charset="0"/>
                <a:ea typeface="Calibri" panose="020F0502020204030204" pitchFamily="34" charset="0"/>
              </a:rPr>
              <a:t> </a:t>
            </a:r>
            <a:r>
              <a:rPr lang="en-US" sz="1800" dirty="0" err="1">
                <a:effectLst/>
                <a:latin typeface="Calibri" panose="020F0502020204030204" pitchFamily="34" charset="0"/>
                <a:ea typeface="Calibri" panose="020F0502020204030204" pitchFamily="34" charset="0"/>
              </a:rPr>
              <a:t>fuera</a:t>
            </a:r>
            <a:r>
              <a:rPr lang="en-US" sz="1800" dirty="0">
                <a:effectLst/>
                <a:latin typeface="Calibri" panose="020F0502020204030204" pitchFamily="34" charset="0"/>
                <a:ea typeface="Calibri" panose="020F0502020204030204" pitchFamily="34" charset="0"/>
              </a:rPr>
              <a:t>:</a:t>
            </a:r>
            <a:endParaRPr lang="es-CL" sz="1800" dirty="0">
              <a:effectLst/>
              <a:latin typeface="Calibri" panose="020F0502020204030204" pitchFamily="34" charset="0"/>
              <a:ea typeface="Calibri" panose="020F0502020204030204" pitchFamily="34" charset="0"/>
            </a:endParaRPr>
          </a:p>
          <a:p>
            <a:pPr marL="342900" lvl="0" indent="-342900">
              <a:lnSpc>
                <a:spcPct val="107000"/>
              </a:lnSpc>
              <a:buFont typeface="Arial" panose="020B0604020202020204" pitchFamily="34" charset="0"/>
              <a:buChar char="•"/>
            </a:pPr>
            <a:r>
              <a:rPr lang="es-CL" sz="1800" dirty="0">
                <a:effectLst/>
                <a:latin typeface="Calibri" panose="020F0502020204030204" pitchFamily="34" charset="0"/>
                <a:ea typeface="Calibri" panose="020F0502020204030204" pitchFamily="34" charset="0"/>
              </a:rPr>
              <a:t>Despliegue a equipos de producción más allá del piloto (se cotiza como fase 2, por oleadas).</a:t>
            </a:r>
          </a:p>
          <a:p>
            <a:pPr marL="342900" lvl="0" indent="-342900">
              <a:lnSpc>
                <a:spcPct val="107000"/>
              </a:lnSpc>
              <a:buFont typeface="Arial" panose="020B0604020202020204" pitchFamily="34" charset="0"/>
              <a:buChar char="•"/>
            </a:pPr>
            <a:r>
              <a:rPr lang="es-CL" sz="1800" dirty="0">
                <a:effectLst/>
                <a:latin typeface="Calibri" panose="020F0502020204030204" pitchFamily="34" charset="0"/>
                <a:ea typeface="Calibri" panose="020F0502020204030204" pitchFamily="34" charset="0"/>
              </a:rPr>
              <a:t>Implementación o licenciamiento de Intune, </a:t>
            </a:r>
            <a:r>
              <a:rPr lang="es-CL" sz="1800" dirty="0" err="1">
                <a:effectLst/>
                <a:latin typeface="Calibri" panose="020F0502020204030204" pitchFamily="34" charset="0"/>
                <a:ea typeface="Calibri" panose="020F0502020204030204" pitchFamily="34" charset="0"/>
              </a:rPr>
              <a:t>Autopilot</a:t>
            </a:r>
            <a:r>
              <a:rPr lang="es-CL" sz="1800" dirty="0">
                <a:effectLst/>
                <a:latin typeface="Calibri" panose="020F0502020204030204" pitchFamily="34" charset="0"/>
                <a:ea typeface="Calibri" panose="020F0502020204030204" pitchFamily="34" charset="0"/>
              </a:rPr>
              <a:t> o unión pura a Entra ID.</a:t>
            </a:r>
          </a:p>
          <a:p>
            <a:pPr marL="342900" lvl="0" indent="-342900">
              <a:lnSpc>
                <a:spcPct val="107000"/>
              </a:lnSpc>
              <a:buFont typeface="Arial" panose="020B0604020202020204" pitchFamily="34" charset="0"/>
              <a:buChar char="•"/>
            </a:pPr>
            <a:r>
              <a:rPr lang="es-CL" sz="1800" dirty="0">
                <a:effectLst/>
                <a:latin typeface="Calibri" panose="020F0502020204030204" pitchFamily="34" charset="0"/>
                <a:ea typeface="Calibri" panose="020F0502020204030204" pitchFamily="34" charset="0"/>
              </a:rPr>
              <a:t>Cambio del método de autenticación (PHS, PTA, AD FS), de contraseñas o de correspondencia de usuarios.</a:t>
            </a:r>
          </a:p>
          <a:p>
            <a:pPr marL="342900" lvl="0" indent="-342900">
              <a:lnSpc>
                <a:spcPct val="107000"/>
              </a:lnSpc>
              <a:buFont typeface="Arial" panose="020B0604020202020204" pitchFamily="34" charset="0"/>
              <a:buChar char="•"/>
            </a:pPr>
            <a:r>
              <a:rPr lang="es-CL" sz="1800" dirty="0">
                <a:effectLst/>
                <a:latin typeface="Calibri" panose="020F0502020204030204" pitchFamily="34" charset="0"/>
                <a:ea typeface="Calibri" panose="020F0502020204030204" pitchFamily="34" charset="0"/>
              </a:rPr>
              <a:t>Cambios de sufijo UPN, migración de dominio o corrección masiva de atributos de usuario.</a:t>
            </a:r>
          </a:p>
          <a:p>
            <a:pPr marL="342900" lvl="0" indent="-342900">
              <a:lnSpc>
                <a:spcPct val="107000"/>
              </a:lnSpc>
              <a:buFont typeface="Arial" panose="020B0604020202020204" pitchFamily="34" charset="0"/>
              <a:buChar char="•"/>
            </a:pPr>
            <a:r>
              <a:rPr lang="es-CL" sz="1800" dirty="0">
                <a:effectLst/>
                <a:latin typeface="Calibri" panose="020F0502020204030204" pitchFamily="34" charset="0"/>
                <a:ea typeface="Calibri" panose="020F0502020204030204" pitchFamily="34" charset="0"/>
              </a:rPr>
              <a:t>Diseño o modificación de directivas de acceso condicional y MFA.</a:t>
            </a:r>
          </a:p>
          <a:p>
            <a:pPr marL="342900" lvl="0" indent="-342900">
              <a:lnSpc>
                <a:spcPct val="107000"/>
              </a:lnSpc>
              <a:buFont typeface="Arial" panose="020B0604020202020204" pitchFamily="34" charset="0"/>
              <a:buChar char="•"/>
            </a:pPr>
            <a:r>
              <a:rPr lang="es-CL" sz="1800" dirty="0">
                <a:effectLst/>
                <a:latin typeface="Calibri" panose="020F0502020204030204" pitchFamily="34" charset="0"/>
                <a:ea typeface="Calibri" panose="020F0502020204030204" pitchFamily="34" charset="0"/>
              </a:rPr>
              <a:t>Migración de servidores de archivos, unidades de red o sitios SharePoint a OneDrive.</a:t>
            </a:r>
          </a:p>
          <a:p>
            <a:pPr marL="342900" lvl="0" indent="-342900">
              <a:lnSpc>
                <a:spcPct val="107000"/>
              </a:lnSpc>
              <a:buFont typeface="Arial" panose="020B0604020202020204" pitchFamily="34" charset="0"/>
              <a:buChar char="•"/>
            </a:pPr>
            <a:r>
              <a:rPr lang="es-CL" sz="1800" dirty="0">
                <a:effectLst/>
                <a:latin typeface="Calibri" panose="020F0502020204030204" pitchFamily="34" charset="0"/>
                <a:ea typeface="Calibri" panose="020F0502020204030204" pitchFamily="34" charset="0"/>
              </a:rPr>
              <a:t>Desinstalación de soluciones de sincronización o respaldo de terceros existentes.</a:t>
            </a:r>
          </a:p>
          <a:p>
            <a:pPr marL="342900" lvl="0" indent="-342900">
              <a:lnSpc>
                <a:spcPct val="107000"/>
              </a:lnSpc>
              <a:buFont typeface="Arial" panose="020B0604020202020204" pitchFamily="34" charset="0"/>
              <a:buChar char="•"/>
            </a:pPr>
            <a:r>
              <a:rPr lang="es-CL" sz="1800" dirty="0">
                <a:effectLst/>
                <a:latin typeface="Calibri" panose="020F0502020204030204" pitchFamily="34" charset="0"/>
                <a:ea typeface="Calibri" panose="020F0502020204030204" pitchFamily="34" charset="0"/>
              </a:rPr>
              <a:t>Remediación de hardware, reinstalación de Windows o actualización de versiones de Windows no compatibles.</a:t>
            </a:r>
          </a:p>
          <a:p>
            <a:pPr marL="342900" lvl="0" indent="-342900">
              <a:lnSpc>
                <a:spcPct val="107000"/>
              </a:lnSpc>
              <a:buFont typeface="Arial" panose="020B0604020202020204" pitchFamily="34" charset="0"/>
              <a:buChar char="•"/>
            </a:pPr>
            <a:r>
              <a:rPr lang="es-CL" sz="1800" dirty="0">
                <a:effectLst/>
                <a:latin typeface="Calibri" panose="020F0502020204030204" pitchFamily="34" charset="0"/>
                <a:ea typeface="Calibri" panose="020F0502020204030204" pitchFamily="34" charset="0"/>
              </a:rPr>
              <a:t>Configuración de proxy, firewall o inspección TLS del cliente (el proveedor indica las excepciones; el cliente las aplica).</a:t>
            </a:r>
          </a:p>
          <a:p>
            <a:pPr marL="342900" lvl="0" indent="-342900">
              <a:lnSpc>
                <a:spcPct val="107000"/>
              </a:lnSpc>
              <a:buFont typeface="Arial" panose="020B0604020202020204" pitchFamily="34" charset="0"/>
              <a:buChar char="•"/>
            </a:pPr>
            <a:r>
              <a:rPr lang="es-CL" sz="1800" dirty="0">
                <a:effectLst/>
                <a:latin typeface="Calibri" panose="020F0502020204030204" pitchFamily="34" charset="0"/>
                <a:ea typeface="Calibri" panose="020F0502020204030204" pitchFamily="34" charset="0"/>
              </a:rPr>
              <a:t>Soporte a usuarios finales posterior a la aceptación del piloto.</a:t>
            </a:r>
          </a:p>
          <a:p>
            <a:pPr marL="342900" lvl="0" indent="-342900">
              <a:lnSpc>
                <a:spcPct val="107000"/>
              </a:lnSpc>
              <a:spcAft>
                <a:spcPts val="800"/>
              </a:spcAft>
              <a:buFont typeface="Arial" panose="020B0604020202020204" pitchFamily="34" charset="0"/>
              <a:buChar char="•"/>
            </a:pPr>
            <a:r>
              <a:rPr lang="es-CL" sz="1800" dirty="0">
                <a:effectLst/>
                <a:latin typeface="Calibri" panose="020F0502020204030204" pitchFamily="34" charset="0"/>
                <a:ea typeface="Calibri" panose="020F0502020204030204" pitchFamily="34" charset="0"/>
              </a:rPr>
              <a:t>Implementación del sistema de respaldo, salvo que se contrate el componente opcional.</a:t>
            </a:r>
          </a:p>
        </p:txBody>
      </p:sp>
    </p:spTree>
    <p:extLst>
      <p:ext uri="{BB962C8B-B14F-4D97-AF65-F5344CB8AC3E}">
        <p14:creationId xmlns:p14="http://schemas.microsoft.com/office/powerpoint/2010/main" val="9895215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a 1">
            <a:extLst>
              <a:ext uri="{FF2B5EF4-FFF2-40B4-BE49-F238E27FC236}">
                <a16:creationId xmlns:a16="http://schemas.microsoft.com/office/drawing/2014/main" id="{0D941966-5E54-E50A-3030-D9D93F6D641C}"/>
              </a:ext>
            </a:extLst>
          </p:cNvPr>
          <p:cNvGraphicFramePr>
            <a:graphicFrameLocks noGrp="1"/>
          </p:cNvGraphicFramePr>
          <p:nvPr>
            <p:extLst>
              <p:ext uri="{D42A27DB-BD31-4B8C-83A1-F6EECF244321}">
                <p14:modId xmlns:p14="http://schemas.microsoft.com/office/powerpoint/2010/main" val="1590688992"/>
              </p:ext>
            </p:extLst>
          </p:nvPr>
        </p:nvGraphicFramePr>
        <p:xfrm>
          <a:off x="3073082" y="1314183"/>
          <a:ext cx="5942965" cy="2635253"/>
        </p:xfrm>
        <a:graphic>
          <a:graphicData uri="http://schemas.openxmlformats.org/drawingml/2006/table">
            <a:tbl>
              <a:tblPr firstRow="1" bandRow="1">
                <a:tableStyleId>{5C22544A-7EE6-4342-B048-85BDC9FD1C3A}</a:tableStyleId>
              </a:tblPr>
              <a:tblGrid>
                <a:gridCol w="2143760">
                  <a:extLst>
                    <a:ext uri="{9D8B030D-6E8A-4147-A177-3AD203B41FA5}">
                      <a16:colId xmlns:a16="http://schemas.microsoft.com/office/drawing/2014/main" val="3982086867"/>
                    </a:ext>
                  </a:extLst>
                </a:gridCol>
                <a:gridCol w="3799205">
                  <a:extLst>
                    <a:ext uri="{9D8B030D-6E8A-4147-A177-3AD203B41FA5}">
                      <a16:colId xmlns:a16="http://schemas.microsoft.com/office/drawing/2014/main" val="3895674179"/>
                    </a:ext>
                  </a:extLst>
                </a:gridCol>
              </a:tblGrid>
              <a:tr h="0">
                <a:tc>
                  <a:txBody>
                    <a:bodyPr/>
                    <a:lstStyle/>
                    <a:p>
                      <a:pPr>
                        <a:lnSpc>
                          <a:spcPct val="107000"/>
                        </a:lnSpc>
                        <a:spcAft>
                          <a:spcPts val="800"/>
                        </a:spcAft>
                      </a:pPr>
                      <a:r>
                        <a:rPr lang="en-US" sz="1100">
                          <a:effectLst/>
                        </a:rPr>
                        <a:t>Requerimiento</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a:effectLst/>
                        </a:rPr>
                        <a:t>Detalle</a:t>
                      </a:r>
                      <a:endParaRPr lang="es-CL"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2118275219"/>
                  </a:ext>
                </a:extLst>
              </a:tr>
              <a:tr h="0">
                <a:tc>
                  <a:txBody>
                    <a:bodyPr/>
                    <a:lstStyle/>
                    <a:p>
                      <a:pPr>
                        <a:lnSpc>
                          <a:spcPct val="107000"/>
                        </a:lnSpc>
                        <a:spcAft>
                          <a:spcPts val="800"/>
                        </a:spcAft>
                      </a:pPr>
                      <a:r>
                        <a:rPr lang="en-US" sz="1100">
                          <a:effectLst/>
                        </a:rPr>
                        <a:t>Servidor Entra Connect</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s-CL" sz="1100">
                          <a:effectLst/>
                        </a:rPr>
                        <a:t>Windows Server soportado, .NET Framework 4.7.2 o posterior, TLS 1.2 habilitado, respaldo o instantánea previa</a:t>
                      </a:r>
                      <a:endParaRPr lang="es-CL"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4113125101"/>
                  </a:ext>
                </a:extLst>
              </a:tr>
              <a:tr h="0">
                <a:tc>
                  <a:txBody>
                    <a:bodyPr/>
                    <a:lstStyle/>
                    <a:p>
                      <a:pPr>
                        <a:lnSpc>
                          <a:spcPct val="107000"/>
                        </a:lnSpc>
                        <a:spcAft>
                          <a:spcPts val="800"/>
                        </a:spcAft>
                      </a:pPr>
                      <a:r>
                        <a:rPr lang="en-US" sz="1100">
                          <a:effectLst/>
                        </a:rPr>
                        <a:t>Equipo piloto</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s-CL" sz="1100">
                          <a:effectLst/>
                        </a:rPr>
                        <a:t>Windows 10/11 Pro o Enterprise con versión en soporte, unido al dominio, en una OU dedicada</a:t>
                      </a:r>
                      <a:endParaRPr lang="es-CL"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3023219055"/>
                  </a:ext>
                </a:extLst>
              </a:tr>
              <a:tr h="0">
                <a:tc>
                  <a:txBody>
                    <a:bodyPr/>
                    <a:lstStyle/>
                    <a:p>
                      <a:pPr>
                        <a:lnSpc>
                          <a:spcPct val="107000"/>
                        </a:lnSpc>
                        <a:spcAft>
                          <a:spcPts val="800"/>
                        </a:spcAft>
                      </a:pPr>
                      <a:r>
                        <a:rPr lang="en-US" sz="1100">
                          <a:effectLst/>
                        </a:rPr>
                        <a:t>Usuario piloto</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s-CL" sz="1100">
                          <a:effectLst/>
                        </a:rPr>
                        <a:t>Cuenta de dominio sincronizada, UPN en dominio verificado, licencia con OneDrive asignada</a:t>
                      </a:r>
                      <a:endParaRPr lang="es-CL"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1519849465"/>
                  </a:ext>
                </a:extLst>
              </a:tr>
              <a:tr h="0">
                <a:tc>
                  <a:txBody>
                    <a:bodyPr/>
                    <a:lstStyle/>
                    <a:p>
                      <a:pPr>
                        <a:lnSpc>
                          <a:spcPct val="107000"/>
                        </a:lnSpc>
                        <a:spcAft>
                          <a:spcPts val="800"/>
                        </a:spcAft>
                      </a:pPr>
                      <a:r>
                        <a:rPr lang="en-US" sz="1100">
                          <a:effectLst/>
                        </a:rPr>
                        <a:t>Cuentas administrativas</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s-CL" sz="1100">
                          <a:effectLst/>
                        </a:rPr>
                        <a:t>Domain Admin (o delegado para GPO y OU), Enterprise Admin si se configura SCP, Global Admin o Hybrid Identity Admin en Entra</a:t>
                      </a:r>
                      <a:endParaRPr lang="es-CL"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660267837"/>
                  </a:ext>
                </a:extLst>
              </a:tr>
              <a:tr h="0">
                <a:tc>
                  <a:txBody>
                    <a:bodyPr/>
                    <a:lstStyle/>
                    <a:p>
                      <a:pPr>
                        <a:lnSpc>
                          <a:spcPct val="107000"/>
                        </a:lnSpc>
                        <a:spcAft>
                          <a:spcPts val="800"/>
                        </a:spcAft>
                      </a:pPr>
                      <a:r>
                        <a:rPr lang="en-US" sz="1100">
                          <a:effectLst/>
                        </a:rPr>
                        <a:t>Red</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s-CL" sz="1100">
                          <a:effectLst/>
                        </a:rPr>
                        <a:t>Salida HTTPS 443 desde el equipo y el servidor a enterpriseregistration.windows.net, login.microsoftonline.com, device.login.microsoftonline.com y dominios de OneDrive/SharePoint, sin inspección TLS</a:t>
                      </a:r>
                      <a:endParaRPr lang="es-CL"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4123441445"/>
                  </a:ext>
                </a:extLst>
              </a:tr>
              <a:tr h="0">
                <a:tc>
                  <a:txBody>
                    <a:bodyPr/>
                    <a:lstStyle/>
                    <a:p>
                      <a:pPr>
                        <a:lnSpc>
                          <a:spcPct val="107000"/>
                        </a:lnSpc>
                        <a:spcAft>
                          <a:spcPts val="800"/>
                        </a:spcAft>
                      </a:pPr>
                      <a:r>
                        <a:rPr lang="en-US" sz="1100">
                          <a:effectLst/>
                        </a:rPr>
                        <a:t>Acceso remoto</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s-CL" sz="1100" dirty="0">
                          <a:effectLst/>
                        </a:rPr>
                        <a:t>Sesión remota supervisada al servidor de Entra </a:t>
                      </a:r>
                      <a:r>
                        <a:rPr lang="es-CL" sz="1100" dirty="0" err="1">
                          <a:effectLst/>
                        </a:rPr>
                        <a:t>Connect</a:t>
                      </a:r>
                      <a:r>
                        <a:rPr lang="es-CL" sz="1100" dirty="0">
                          <a:effectLst/>
                        </a:rPr>
                        <a:t>, a un controlador de dominio y al equipo piloto</a:t>
                      </a:r>
                      <a:endParaRPr lang="es-CL" sz="1100" dirty="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2211633870"/>
                  </a:ext>
                </a:extLst>
              </a:tr>
            </a:tbl>
          </a:graphicData>
        </a:graphic>
      </p:graphicFrame>
      <p:graphicFrame>
        <p:nvGraphicFramePr>
          <p:cNvPr id="3" name="Tabla 2">
            <a:extLst>
              <a:ext uri="{FF2B5EF4-FFF2-40B4-BE49-F238E27FC236}">
                <a16:creationId xmlns:a16="http://schemas.microsoft.com/office/drawing/2014/main" id="{96950358-2D90-1EF7-4B2F-F2918B424C8B}"/>
              </a:ext>
            </a:extLst>
          </p:cNvPr>
          <p:cNvGraphicFramePr>
            <a:graphicFrameLocks noGrp="1"/>
          </p:cNvGraphicFramePr>
          <p:nvPr>
            <p:extLst>
              <p:ext uri="{D42A27DB-BD31-4B8C-83A1-F6EECF244321}">
                <p14:modId xmlns:p14="http://schemas.microsoft.com/office/powerpoint/2010/main" val="4015404383"/>
              </p:ext>
            </p:extLst>
          </p:nvPr>
        </p:nvGraphicFramePr>
        <p:xfrm>
          <a:off x="3073717" y="4392617"/>
          <a:ext cx="5942330" cy="1200150"/>
        </p:xfrm>
        <a:graphic>
          <a:graphicData uri="http://schemas.openxmlformats.org/drawingml/2006/table">
            <a:tbl>
              <a:tblPr firstRow="1" bandRow="1">
                <a:tableStyleId>{5C22544A-7EE6-4342-B048-85BDC9FD1C3A}</a:tableStyleId>
              </a:tblPr>
              <a:tblGrid>
                <a:gridCol w="3392805">
                  <a:extLst>
                    <a:ext uri="{9D8B030D-6E8A-4147-A177-3AD203B41FA5}">
                      <a16:colId xmlns:a16="http://schemas.microsoft.com/office/drawing/2014/main" val="2994531689"/>
                    </a:ext>
                  </a:extLst>
                </a:gridCol>
                <a:gridCol w="871855">
                  <a:extLst>
                    <a:ext uri="{9D8B030D-6E8A-4147-A177-3AD203B41FA5}">
                      <a16:colId xmlns:a16="http://schemas.microsoft.com/office/drawing/2014/main" val="2253677973"/>
                    </a:ext>
                  </a:extLst>
                </a:gridCol>
                <a:gridCol w="1677670">
                  <a:extLst>
                    <a:ext uri="{9D8B030D-6E8A-4147-A177-3AD203B41FA5}">
                      <a16:colId xmlns:a16="http://schemas.microsoft.com/office/drawing/2014/main" val="2135637590"/>
                    </a:ext>
                  </a:extLst>
                </a:gridCol>
              </a:tblGrid>
              <a:tr h="0">
                <a:tc>
                  <a:txBody>
                    <a:bodyPr/>
                    <a:lstStyle/>
                    <a:p>
                      <a:pPr>
                        <a:lnSpc>
                          <a:spcPct val="107000"/>
                        </a:lnSpc>
                        <a:spcAft>
                          <a:spcPts val="800"/>
                        </a:spcAft>
                      </a:pPr>
                      <a:r>
                        <a:rPr lang="en-US" sz="1100">
                          <a:effectLst/>
                        </a:rPr>
                        <a:t>Rol</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a:effectLst/>
                        </a:rPr>
                        <a:t>Parte</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a:effectLst/>
                        </a:rPr>
                        <a:t>Dedicación estimada</a:t>
                      </a:r>
                      <a:endParaRPr lang="es-CL"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495625757"/>
                  </a:ext>
                </a:extLst>
              </a:tr>
              <a:tr h="0">
                <a:tc>
                  <a:txBody>
                    <a:bodyPr/>
                    <a:lstStyle/>
                    <a:p>
                      <a:pPr>
                        <a:lnSpc>
                          <a:spcPct val="107000"/>
                        </a:lnSpc>
                        <a:spcAft>
                          <a:spcPts val="800"/>
                        </a:spcAft>
                      </a:pPr>
                      <a:r>
                        <a:rPr lang="es-CL" sz="1100">
                          <a:effectLst/>
                        </a:rPr>
                        <a:t>Consultor senior Microsoft 365 / identidad híbrida</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a:effectLst/>
                        </a:rPr>
                        <a:t>Proveedor</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a:effectLst/>
                        </a:rPr>
                        <a:t>40 a 56 h</a:t>
                      </a:r>
                      <a:endParaRPr lang="es-CL"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412137998"/>
                  </a:ext>
                </a:extLst>
              </a:tr>
              <a:tr h="0">
                <a:tc>
                  <a:txBody>
                    <a:bodyPr/>
                    <a:lstStyle/>
                    <a:p>
                      <a:pPr>
                        <a:lnSpc>
                          <a:spcPct val="107000"/>
                        </a:lnSpc>
                        <a:spcAft>
                          <a:spcPts val="800"/>
                        </a:spcAft>
                      </a:pPr>
                      <a:r>
                        <a:rPr lang="es-CL" sz="1100">
                          <a:effectLst/>
                        </a:rPr>
                        <a:t>Gerente de proyecto (seguimiento y minutas)</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a:effectLst/>
                        </a:rPr>
                        <a:t>Proveedor</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a:effectLst/>
                        </a:rPr>
                        <a:t>6 a 8 h</a:t>
                      </a:r>
                      <a:endParaRPr lang="es-CL"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487439169"/>
                  </a:ext>
                </a:extLst>
              </a:tr>
              <a:tr h="0">
                <a:tc>
                  <a:txBody>
                    <a:bodyPr/>
                    <a:lstStyle/>
                    <a:p>
                      <a:pPr>
                        <a:lnSpc>
                          <a:spcPct val="107000"/>
                        </a:lnSpc>
                        <a:spcAft>
                          <a:spcPts val="800"/>
                        </a:spcAft>
                      </a:pPr>
                      <a:r>
                        <a:rPr lang="es-CL" sz="1100">
                          <a:effectLst/>
                        </a:rPr>
                        <a:t>Responsable de TI / administrador de AD</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a:effectLst/>
                        </a:rPr>
                        <a:t>Cliente</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a:effectLst/>
                        </a:rPr>
                        <a:t>10 a 12 h</a:t>
                      </a:r>
                      <a:endParaRPr lang="es-CL"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2697695869"/>
                  </a:ext>
                </a:extLst>
              </a:tr>
              <a:tr h="0">
                <a:tc>
                  <a:txBody>
                    <a:bodyPr/>
                    <a:lstStyle/>
                    <a:p>
                      <a:pPr>
                        <a:lnSpc>
                          <a:spcPct val="107000"/>
                        </a:lnSpc>
                        <a:spcAft>
                          <a:spcPts val="800"/>
                        </a:spcAft>
                      </a:pPr>
                      <a:r>
                        <a:rPr lang="es-CL" sz="1100">
                          <a:effectLst/>
                        </a:rPr>
                        <a:t>Administrador de red / seguridad perimetral</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a:effectLst/>
                        </a:rPr>
                        <a:t>Cliente</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a:effectLst/>
                        </a:rPr>
                        <a:t>2 a 4 h</a:t>
                      </a:r>
                      <a:endParaRPr lang="es-CL"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1017875927"/>
                  </a:ext>
                </a:extLst>
              </a:tr>
              <a:tr h="0">
                <a:tc>
                  <a:txBody>
                    <a:bodyPr/>
                    <a:lstStyle/>
                    <a:p>
                      <a:pPr>
                        <a:lnSpc>
                          <a:spcPct val="107000"/>
                        </a:lnSpc>
                        <a:spcAft>
                          <a:spcPts val="800"/>
                        </a:spcAft>
                      </a:pPr>
                      <a:r>
                        <a:rPr lang="en-US" sz="1100">
                          <a:effectLst/>
                        </a:rPr>
                        <a:t>Usuario piloto</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a:effectLst/>
                        </a:rPr>
                        <a:t>Cliente</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dirty="0">
                          <a:effectLst/>
                        </a:rPr>
                        <a:t>2 h para </a:t>
                      </a:r>
                      <a:r>
                        <a:rPr lang="en-US" sz="1100" dirty="0" err="1">
                          <a:effectLst/>
                        </a:rPr>
                        <a:t>pruebas</a:t>
                      </a:r>
                      <a:endParaRPr lang="es-CL" sz="1100" dirty="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2029833216"/>
                  </a:ext>
                </a:extLst>
              </a:tr>
              <a:tr h="0">
                <a:tc>
                  <a:txBody>
                    <a:bodyPr/>
                    <a:lstStyle/>
                    <a:p>
                      <a:pPr>
                        <a:lnSpc>
                          <a:spcPct val="107000"/>
                        </a:lnSpc>
                        <a:spcAft>
                          <a:spcPts val="800"/>
                        </a:spcAft>
                      </a:pPr>
                      <a:r>
                        <a:rPr lang="en-US" sz="1100">
                          <a:effectLst/>
                        </a:rPr>
                        <a:t>Aprobador del cambio</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dirty="0" err="1">
                          <a:effectLst/>
                        </a:rPr>
                        <a:t>Cliente</a:t>
                      </a:r>
                      <a:endParaRPr lang="es-CL" sz="1100" dirty="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dirty="0">
                          <a:effectLst/>
                        </a:rPr>
                        <a:t>1 h </a:t>
                      </a:r>
                      <a:r>
                        <a:rPr lang="en-US" sz="1100" dirty="0" err="1">
                          <a:effectLst/>
                        </a:rPr>
                        <a:t>por</a:t>
                      </a:r>
                      <a:r>
                        <a:rPr lang="en-US" sz="1100" dirty="0">
                          <a:effectLst/>
                        </a:rPr>
                        <a:t> </a:t>
                      </a:r>
                      <a:r>
                        <a:rPr lang="en-US" sz="1100" dirty="0" err="1">
                          <a:effectLst/>
                        </a:rPr>
                        <a:t>ventana</a:t>
                      </a:r>
                      <a:endParaRPr lang="es-CL" sz="1100" dirty="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3643445072"/>
                  </a:ext>
                </a:extLst>
              </a:tr>
            </a:tbl>
          </a:graphicData>
        </a:graphic>
      </p:graphicFrame>
      <p:sp>
        <p:nvSpPr>
          <p:cNvPr id="4" name="Rectangle 1">
            <a:extLst>
              <a:ext uri="{FF2B5EF4-FFF2-40B4-BE49-F238E27FC236}">
                <a16:creationId xmlns:a16="http://schemas.microsoft.com/office/drawing/2014/main" id="{81996C54-30FC-0F31-EED3-2D873C4D8DD7}"/>
              </a:ext>
            </a:extLst>
          </p:cNvPr>
          <p:cNvSpPr>
            <a:spLocks noChangeArrowheads="1"/>
          </p:cNvSpPr>
          <p:nvPr/>
        </p:nvSpPr>
        <p:spPr bwMode="auto">
          <a:xfrm>
            <a:off x="3073082" y="37359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77744" rIns="9144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L" altLang="es-CL" sz="13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Requerimientos técnicos y humanos</a:t>
            </a:r>
            <a:endParaRPr kumimoji="0" lang="en-US" altLang="es-CL" sz="13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CL" altLang="es-CL" sz="1100" b="0" i="0" u="none" strike="noStrike" cap="none" normalizeH="0" baseline="0" dirty="0">
                <a:ln>
                  <a:noFill/>
                </a:ln>
                <a:solidFill>
                  <a:schemeClr val="tx1"/>
                </a:solidFill>
                <a:effectLst/>
                <a:ea typeface="Calibri" panose="020F0502020204030204" pitchFamily="34" charset="0"/>
              </a:rPr>
              <a:t>El cliente aporta accesos, un equipo de prueba y un responsable de TI; el proveedor aporta un consultor certificado.</a:t>
            </a:r>
            <a:endParaRPr kumimoji="0" lang="es-CL" altLang="es-CL" sz="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CL" altLang="es-CL" sz="1100" b="1" i="0" u="none" strike="noStrike" cap="none" normalizeH="0" baseline="0" dirty="0">
                <a:ln>
                  <a:noFill/>
                </a:ln>
                <a:solidFill>
                  <a:schemeClr val="tx1"/>
                </a:solidFill>
                <a:effectLst/>
                <a:latin typeface="Arial" panose="020B0604020202020204" pitchFamily="34" charset="0"/>
                <a:ea typeface="Calibri" panose="020F0502020204030204" pitchFamily="34" charset="0"/>
              </a:rPr>
              <a:t>Técnicos (a cargo del cliente)</a:t>
            </a:r>
            <a:endParaRPr kumimoji="0" lang="es-CL" altLang="es-CL" sz="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CL" sz="1100" b="1" i="0" u="none" strike="noStrike" cap="none" normalizeH="0" baseline="0" dirty="0">
                <a:ln>
                  <a:noFill/>
                </a:ln>
                <a:solidFill>
                  <a:schemeClr val="tx1"/>
                </a:solidFill>
                <a:effectLst/>
                <a:latin typeface="Arial" panose="020B0604020202020204" pitchFamily="34" charset="0"/>
                <a:ea typeface="Calibri" panose="020F0502020204030204" pitchFamily="34" charset="0"/>
              </a:rPr>
              <a:t>Humanos</a:t>
            </a:r>
            <a:endParaRPr kumimoji="0" lang="en-US" altLang="es-CL"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715721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E844C40D-1B2A-419D-4C1E-83893DA77C08}"/>
              </a:ext>
            </a:extLst>
          </p:cNvPr>
          <p:cNvSpPr txBox="1"/>
          <p:nvPr/>
        </p:nvSpPr>
        <p:spPr>
          <a:xfrm>
            <a:off x="507999" y="462257"/>
            <a:ext cx="11455400" cy="4790157"/>
          </a:xfrm>
          <a:prstGeom prst="rect">
            <a:avLst/>
          </a:prstGeom>
          <a:noFill/>
        </p:spPr>
        <p:txBody>
          <a:bodyPr wrap="square">
            <a:spAutoFit/>
          </a:bodyPr>
          <a:lstStyle/>
          <a:p>
            <a:pPr>
              <a:lnSpc>
                <a:spcPct val="107000"/>
              </a:lnSpc>
              <a:spcBef>
                <a:spcPts val="1400"/>
              </a:spcBef>
              <a:spcAft>
                <a:spcPts val="500"/>
              </a:spcAft>
            </a:pPr>
            <a:r>
              <a:rPr lang="en-US" sz="2400" b="1" dirty="0" err="1">
                <a:effectLst/>
                <a:latin typeface="Calibri" panose="020F0502020204030204" pitchFamily="34" charset="0"/>
              </a:rPr>
              <a:t>Supuestos</a:t>
            </a:r>
            <a:endParaRPr lang="es-CL" sz="2400" b="1" dirty="0">
              <a:effectLst/>
              <a:latin typeface="Calibri" panose="020F0502020204030204" pitchFamily="34" charset="0"/>
            </a:endParaRPr>
          </a:p>
          <a:p>
            <a:pPr>
              <a:lnSpc>
                <a:spcPct val="107000"/>
              </a:lnSpc>
              <a:spcAft>
                <a:spcPts val="800"/>
              </a:spcAft>
            </a:pPr>
            <a:r>
              <a:rPr lang="es-CL" sz="1800" dirty="0">
                <a:effectLst/>
                <a:latin typeface="Calibri" panose="020F0502020204030204" pitchFamily="34" charset="0"/>
                <a:ea typeface="Calibri" panose="020F0502020204030204" pitchFamily="34" charset="0"/>
              </a:rPr>
              <a:t>La estimación de tiempo y esfuerzo se basa en estos supuestos; si alguno no se cumple, se revisa el alcance.</a:t>
            </a:r>
          </a:p>
          <a:p>
            <a:pPr marL="342900" lvl="0" indent="-342900">
              <a:lnSpc>
                <a:spcPct val="107000"/>
              </a:lnSpc>
              <a:buFont typeface="Arial" panose="020B0604020202020204" pitchFamily="34" charset="0"/>
              <a:buChar char="•"/>
            </a:pPr>
            <a:r>
              <a:rPr lang="es-CL" sz="1800" dirty="0">
                <a:effectLst/>
                <a:latin typeface="Calibri" panose="020F0502020204030204" pitchFamily="34" charset="0"/>
                <a:ea typeface="Calibri" panose="020F0502020204030204" pitchFamily="34" charset="0"/>
              </a:rPr>
              <a:t>Existe un solo bosque de AD y un solo inquilino de Microsoft 365.</a:t>
            </a:r>
          </a:p>
          <a:p>
            <a:pPr marL="342900" lvl="0" indent="-342900">
              <a:lnSpc>
                <a:spcPct val="107000"/>
              </a:lnSpc>
              <a:buFont typeface="Arial" panose="020B0604020202020204" pitchFamily="34" charset="0"/>
              <a:buChar char="•"/>
            </a:pPr>
            <a:r>
              <a:rPr lang="es-CL" sz="1800" dirty="0">
                <a:effectLst/>
                <a:latin typeface="Calibri" panose="020F0502020204030204" pitchFamily="34" charset="0"/>
                <a:ea typeface="Calibri" panose="020F0502020204030204" pitchFamily="34" charset="0"/>
              </a:rPr>
              <a:t>La autenticación es administrada (sincronización de hash o autenticación de paso); si es federada, se agregan de 4 a 6 horas.</a:t>
            </a:r>
          </a:p>
          <a:p>
            <a:pPr marL="342900" lvl="0" indent="-342900">
              <a:lnSpc>
                <a:spcPct val="107000"/>
              </a:lnSpc>
              <a:buFont typeface="Arial" panose="020B0604020202020204" pitchFamily="34" charset="0"/>
              <a:buChar char="•"/>
            </a:pPr>
            <a:r>
              <a:rPr lang="es-CL" sz="1800" dirty="0">
                <a:effectLst/>
                <a:latin typeface="Calibri" panose="020F0502020204030204" pitchFamily="34" charset="0"/>
                <a:ea typeface="Calibri" panose="020F0502020204030204" pitchFamily="34" charset="0"/>
              </a:rPr>
              <a:t>El servidor de Entra </a:t>
            </a:r>
            <a:r>
              <a:rPr lang="es-CL" sz="1800" dirty="0" err="1">
                <a:effectLst/>
                <a:latin typeface="Calibri" panose="020F0502020204030204" pitchFamily="34" charset="0"/>
                <a:ea typeface="Calibri" panose="020F0502020204030204" pitchFamily="34" charset="0"/>
              </a:rPr>
              <a:t>Connect</a:t>
            </a:r>
            <a:r>
              <a:rPr lang="es-CL" sz="1800" dirty="0">
                <a:effectLst/>
                <a:latin typeface="Calibri" panose="020F0502020204030204" pitchFamily="34" charset="0"/>
                <a:ea typeface="Calibri" panose="020F0502020204030204" pitchFamily="34" charset="0"/>
              </a:rPr>
              <a:t> puede actualizarse en sitio; no requiere migración a un servidor nuevo.</a:t>
            </a:r>
          </a:p>
          <a:p>
            <a:pPr marL="342900" lvl="0" indent="-342900">
              <a:lnSpc>
                <a:spcPct val="107000"/>
              </a:lnSpc>
              <a:buFont typeface="Arial" panose="020B0604020202020204" pitchFamily="34" charset="0"/>
              <a:buChar char="•"/>
            </a:pPr>
            <a:r>
              <a:rPr lang="es-CL" sz="1800" dirty="0">
                <a:effectLst/>
                <a:latin typeface="Calibri" panose="020F0502020204030204" pitchFamily="34" charset="0"/>
                <a:ea typeface="Calibri" panose="020F0502020204030204" pitchFamily="34" charset="0"/>
              </a:rPr>
              <a:t>El UPN del usuario piloto ya coincide con su cuenta de Microsoft 365.</a:t>
            </a:r>
          </a:p>
          <a:p>
            <a:pPr marL="342900" lvl="0" indent="-342900">
              <a:lnSpc>
                <a:spcPct val="107000"/>
              </a:lnSpc>
              <a:buFont typeface="Arial" panose="020B0604020202020204" pitchFamily="34" charset="0"/>
              <a:buChar char="•"/>
            </a:pPr>
            <a:r>
              <a:rPr lang="es-CL" sz="1800" dirty="0">
                <a:effectLst/>
                <a:latin typeface="Calibri" panose="020F0502020204030204" pitchFamily="34" charset="0"/>
                <a:ea typeface="Calibri" panose="020F0502020204030204" pitchFamily="34" charset="0"/>
              </a:rPr>
              <a:t>No hay redirección de carpetas por GPO activa sobre el usuario piloto; si existe, se desactiva antes del movimiento de carpetas.</a:t>
            </a:r>
          </a:p>
          <a:p>
            <a:pPr marL="342900" lvl="0" indent="-342900">
              <a:lnSpc>
                <a:spcPct val="107000"/>
              </a:lnSpc>
              <a:buFont typeface="Arial" panose="020B0604020202020204" pitchFamily="34" charset="0"/>
              <a:buChar char="•"/>
            </a:pPr>
            <a:r>
              <a:rPr lang="es-CL" sz="1800" dirty="0">
                <a:effectLst/>
                <a:latin typeface="Calibri" panose="020F0502020204030204" pitchFamily="34" charset="0"/>
                <a:ea typeface="Calibri" panose="020F0502020204030204" pitchFamily="34" charset="0"/>
              </a:rPr>
              <a:t>El volumen de Escritorio, Documentos e Imágenes del usuario piloto es menor a 20 GB y cabe en su cuota.</a:t>
            </a:r>
          </a:p>
          <a:p>
            <a:pPr marL="342900" lvl="0" indent="-342900">
              <a:lnSpc>
                <a:spcPct val="107000"/>
              </a:lnSpc>
              <a:buFont typeface="Arial" panose="020B0604020202020204" pitchFamily="34" charset="0"/>
              <a:buChar char="•"/>
            </a:pPr>
            <a:r>
              <a:rPr lang="es-CL" sz="1800" dirty="0">
                <a:effectLst/>
                <a:latin typeface="Calibri" panose="020F0502020204030204" pitchFamily="34" charset="0"/>
                <a:ea typeface="Calibri" panose="020F0502020204030204" pitchFamily="34" charset="0"/>
              </a:rPr>
              <a:t>El cliente aplica las excepciones de red en un máximo de 3 días hábiles tras recibirlas.</a:t>
            </a:r>
          </a:p>
          <a:p>
            <a:pPr marL="342900" lvl="0" indent="-342900">
              <a:lnSpc>
                <a:spcPct val="107000"/>
              </a:lnSpc>
              <a:buFont typeface="Arial" panose="020B0604020202020204" pitchFamily="34" charset="0"/>
              <a:buChar char="•"/>
            </a:pPr>
            <a:r>
              <a:rPr lang="es-CL" sz="1800" dirty="0">
                <a:effectLst/>
                <a:latin typeface="Calibri" panose="020F0502020204030204" pitchFamily="34" charset="0"/>
                <a:ea typeface="Calibri" panose="020F0502020204030204" pitchFamily="34" charset="0"/>
              </a:rPr>
              <a:t>Los trabajos se realizan de forma remota, en horario hábil, salvo la ventana de actualización de Entra </a:t>
            </a:r>
            <a:r>
              <a:rPr lang="es-CL" sz="1800" dirty="0" err="1">
                <a:effectLst/>
                <a:latin typeface="Calibri" panose="020F0502020204030204" pitchFamily="34" charset="0"/>
                <a:ea typeface="Calibri" panose="020F0502020204030204" pitchFamily="34" charset="0"/>
              </a:rPr>
              <a:t>Connect</a:t>
            </a:r>
            <a:r>
              <a:rPr lang="es-CL" sz="1800" dirty="0">
                <a:effectLst/>
                <a:latin typeface="Calibri" panose="020F0502020204030204" pitchFamily="34" charset="0"/>
                <a:ea typeface="Calibri" panose="020F0502020204030204" pitchFamily="34" charset="0"/>
              </a:rPr>
              <a:t>.</a:t>
            </a:r>
          </a:p>
          <a:p>
            <a:pPr marL="342900" lvl="0" indent="-342900">
              <a:lnSpc>
                <a:spcPct val="107000"/>
              </a:lnSpc>
              <a:buFont typeface="Arial" panose="020B0604020202020204" pitchFamily="34" charset="0"/>
              <a:buChar char="•"/>
            </a:pPr>
            <a:r>
              <a:rPr lang="es-CL" sz="1800" dirty="0">
                <a:effectLst/>
                <a:latin typeface="Calibri" panose="020F0502020204030204" pitchFamily="34" charset="0"/>
                <a:ea typeface="Calibri" panose="020F0502020204030204" pitchFamily="34" charset="0"/>
              </a:rPr>
              <a:t>Las ventanas de cambio se aprueban con al menos 48 horas de anticipación.</a:t>
            </a:r>
          </a:p>
          <a:p>
            <a:pPr marL="342900" lvl="0" indent="-342900">
              <a:lnSpc>
                <a:spcPct val="107000"/>
              </a:lnSpc>
              <a:spcAft>
                <a:spcPts val="800"/>
              </a:spcAft>
              <a:buFont typeface="Arial" panose="020B0604020202020204" pitchFamily="34" charset="0"/>
              <a:buChar char="•"/>
            </a:pPr>
            <a:r>
              <a:rPr lang="es-CL" sz="1800" dirty="0">
                <a:effectLst/>
                <a:latin typeface="Calibri" panose="020F0502020204030204" pitchFamily="34" charset="0"/>
                <a:ea typeface="Calibri" panose="020F0502020204030204" pitchFamily="34" charset="0"/>
              </a:rPr>
              <a:t>Los precios de licencias son de lista en USD y pueden variar según el distribuidor, el tipo de cambio y la modalidad de pago.</a:t>
            </a:r>
          </a:p>
        </p:txBody>
      </p:sp>
    </p:spTree>
    <p:extLst>
      <p:ext uri="{BB962C8B-B14F-4D97-AF65-F5344CB8AC3E}">
        <p14:creationId xmlns:p14="http://schemas.microsoft.com/office/powerpoint/2010/main" val="5131565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a 1">
            <a:extLst>
              <a:ext uri="{FF2B5EF4-FFF2-40B4-BE49-F238E27FC236}">
                <a16:creationId xmlns:a16="http://schemas.microsoft.com/office/drawing/2014/main" id="{E4A72E96-3CB8-3C8E-A695-E1388865DA80}"/>
              </a:ext>
            </a:extLst>
          </p:cNvPr>
          <p:cNvGraphicFramePr>
            <a:graphicFrameLocks noGrp="1"/>
          </p:cNvGraphicFramePr>
          <p:nvPr/>
        </p:nvGraphicFramePr>
        <p:xfrm>
          <a:off x="3124517" y="2687636"/>
          <a:ext cx="5942965" cy="2627315"/>
        </p:xfrm>
        <a:graphic>
          <a:graphicData uri="http://schemas.openxmlformats.org/drawingml/2006/table">
            <a:tbl>
              <a:tblPr firstRow="1" bandRow="1">
                <a:tableStyleId>{5C22544A-7EE6-4342-B048-85BDC9FD1C3A}</a:tableStyleId>
              </a:tblPr>
              <a:tblGrid>
                <a:gridCol w="1449070">
                  <a:extLst>
                    <a:ext uri="{9D8B030D-6E8A-4147-A177-3AD203B41FA5}">
                      <a16:colId xmlns:a16="http://schemas.microsoft.com/office/drawing/2014/main" val="2405373392"/>
                    </a:ext>
                  </a:extLst>
                </a:gridCol>
                <a:gridCol w="858520">
                  <a:extLst>
                    <a:ext uri="{9D8B030D-6E8A-4147-A177-3AD203B41FA5}">
                      <a16:colId xmlns:a16="http://schemas.microsoft.com/office/drawing/2014/main" val="2525672871"/>
                    </a:ext>
                  </a:extLst>
                </a:gridCol>
                <a:gridCol w="778510">
                  <a:extLst>
                    <a:ext uri="{9D8B030D-6E8A-4147-A177-3AD203B41FA5}">
                      <a16:colId xmlns:a16="http://schemas.microsoft.com/office/drawing/2014/main" val="2104842484"/>
                    </a:ext>
                  </a:extLst>
                </a:gridCol>
                <a:gridCol w="2856865">
                  <a:extLst>
                    <a:ext uri="{9D8B030D-6E8A-4147-A177-3AD203B41FA5}">
                      <a16:colId xmlns:a16="http://schemas.microsoft.com/office/drawing/2014/main" val="3588863681"/>
                    </a:ext>
                  </a:extLst>
                </a:gridCol>
              </a:tblGrid>
              <a:tr h="0">
                <a:tc>
                  <a:txBody>
                    <a:bodyPr/>
                    <a:lstStyle/>
                    <a:p>
                      <a:pPr>
                        <a:lnSpc>
                          <a:spcPct val="107000"/>
                        </a:lnSpc>
                        <a:spcAft>
                          <a:spcPts val="800"/>
                        </a:spcAft>
                      </a:pPr>
                      <a:r>
                        <a:rPr lang="en-US" sz="1100">
                          <a:effectLst/>
                        </a:rPr>
                        <a:t>Fase</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a:effectLst/>
                        </a:rPr>
                        <a:t>Semana</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a:effectLst/>
                        </a:rPr>
                        <a:t>Esfuerzo proveedor (h)</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a:effectLst/>
                        </a:rPr>
                        <a:t>Entregable</a:t>
                      </a:r>
                      <a:endParaRPr lang="es-CL"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3291942865"/>
                  </a:ext>
                </a:extLst>
              </a:tr>
              <a:tr h="0">
                <a:tc>
                  <a:txBody>
                    <a:bodyPr/>
                    <a:lstStyle/>
                    <a:p>
                      <a:pPr>
                        <a:lnSpc>
                          <a:spcPct val="107000"/>
                        </a:lnSpc>
                        <a:spcAft>
                          <a:spcPts val="800"/>
                        </a:spcAft>
                      </a:pPr>
                      <a:r>
                        <a:rPr lang="en-US" sz="1100">
                          <a:effectLst/>
                        </a:rPr>
                        <a:t>1. Arranque y evaluación</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a:effectLst/>
                        </a:rPr>
                        <a:t>1</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a:effectLst/>
                        </a:rPr>
                        <a:t>8 a 12</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s-CL" sz="1100">
                          <a:effectLst/>
                        </a:rPr>
                        <a:t>Informe de estado, lista de excepciones de red, plan de cambio</a:t>
                      </a:r>
                      <a:endParaRPr lang="es-CL"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3965194756"/>
                  </a:ext>
                </a:extLst>
              </a:tr>
              <a:tr h="0">
                <a:tc>
                  <a:txBody>
                    <a:bodyPr/>
                    <a:lstStyle/>
                    <a:p>
                      <a:pPr>
                        <a:lnSpc>
                          <a:spcPct val="107000"/>
                        </a:lnSpc>
                        <a:spcAft>
                          <a:spcPts val="800"/>
                        </a:spcAft>
                      </a:pPr>
                      <a:r>
                        <a:rPr lang="es-CL" sz="1100">
                          <a:effectLst/>
                        </a:rPr>
                        <a:t>2. Actualización de Entra Connect Sync</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a:effectLst/>
                        </a:rPr>
                        <a:t>1 a 2</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a:effectLst/>
                        </a:rPr>
                        <a:t>6 a 8</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s-CL" sz="1100">
                          <a:effectLst/>
                        </a:rPr>
                        <a:t>Entra Connect en versión vigente con autenticación por aplicación</a:t>
                      </a:r>
                      <a:endParaRPr lang="es-CL"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1411616373"/>
                  </a:ext>
                </a:extLst>
              </a:tr>
              <a:tr h="0">
                <a:tc>
                  <a:txBody>
                    <a:bodyPr/>
                    <a:lstStyle/>
                    <a:p>
                      <a:pPr>
                        <a:lnSpc>
                          <a:spcPct val="107000"/>
                        </a:lnSpc>
                        <a:spcAft>
                          <a:spcPts val="800"/>
                        </a:spcAft>
                      </a:pPr>
                      <a:r>
                        <a:rPr lang="en-US" sz="1100">
                          <a:effectLst/>
                        </a:rPr>
                        <a:t>3. Unión híbrida dirigida</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a:effectLst/>
                        </a:rPr>
                        <a:t>2</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a:effectLst/>
                        </a:rPr>
                        <a:t>8 a 10</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a:effectLst/>
                        </a:rPr>
                        <a:t>Equipo piloto con AzureAdJoined YES y AzureAdPrt YES</a:t>
                      </a:r>
                      <a:endParaRPr lang="es-CL"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3936945669"/>
                  </a:ext>
                </a:extLst>
              </a:tr>
              <a:tr h="0">
                <a:tc>
                  <a:txBody>
                    <a:bodyPr/>
                    <a:lstStyle/>
                    <a:p>
                      <a:pPr>
                        <a:lnSpc>
                          <a:spcPct val="107000"/>
                        </a:lnSpc>
                        <a:spcAft>
                          <a:spcPts val="800"/>
                        </a:spcAft>
                      </a:pPr>
                      <a:r>
                        <a:rPr lang="en-US" sz="1100">
                          <a:effectLst/>
                        </a:rPr>
                        <a:t>4. GPO de OneDrive</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a:effectLst/>
                        </a:rPr>
                        <a:t>2 a 3</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a:effectLst/>
                        </a:rPr>
                        <a:t>6 a 8</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s-CL" sz="1100">
                          <a:effectLst/>
                        </a:rPr>
                        <a:t>GPO vinculada a la OU piloto y documentada</a:t>
                      </a:r>
                      <a:endParaRPr lang="es-CL"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705373174"/>
                  </a:ext>
                </a:extLst>
              </a:tr>
              <a:tr h="0">
                <a:tc>
                  <a:txBody>
                    <a:bodyPr/>
                    <a:lstStyle/>
                    <a:p>
                      <a:pPr>
                        <a:lnSpc>
                          <a:spcPct val="107000"/>
                        </a:lnSpc>
                        <a:spcAft>
                          <a:spcPts val="800"/>
                        </a:spcAft>
                      </a:pPr>
                      <a:r>
                        <a:rPr lang="en-US" sz="1100">
                          <a:effectLst/>
                        </a:rPr>
                        <a:t>5. Validación y pruebas</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a:effectLst/>
                        </a:rPr>
                        <a:t>3</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a:effectLst/>
                        </a:rPr>
                        <a:t>6 a 10</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s-CL" sz="1100">
                          <a:effectLst/>
                        </a:rPr>
                        <a:t>Evidencia de criterios de aceptación y prueba de reversión</a:t>
                      </a:r>
                      <a:endParaRPr lang="es-CL"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688223320"/>
                  </a:ext>
                </a:extLst>
              </a:tr>
              <a:tr h="0">
                <a:tc>
                  <a:txBody>
                    <a:bodyPr/>
                    <a:lstStyle/>
                    <a:p>
                      <a:pPr>
                        <a:lnSpc>
                          <a:spcPct val="107000"/>
                        </a:lnSpc>
                        <a:spcAft>
                          <a:spcPts val="800"/>
                        </a:spcAft>
                      </a:pPr>
                      <a:r>
                        <a:rPr lang="en-US" sz="1100">
                          <a:effectLst/>
                        </a:rPr>
                        <a:t>6. Documentación y transferencia</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a:effectLst/>
                        </a:rPr>
                        <a:t>3</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a:effectLst/>
                        </a:rPr>
                        <a:t>6 a 8</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s-CL" sz="1100">
                          <a:effectLst/>
                        </a:rPr>
                        <a:t>Documento técnico, procedimiento por oleadas, sesión de 1 h</a:t>
                      </a:r>
                      <a:endParaRPr lang="es-CL"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199360948"/>
                  </a:ext>
                </a:extLst>
              </a:tr>
              <a:tr h="0">
                <a:tc>
                  <a:txBody>
                    <a:bodyPr/>
                    <a:lstStyle/>
                    <a:p>
                      <a:pPr>
                        <a:lnSpc>
                          <a:spcPct val="107000"/>
                        </a:lnSpc>
                        <a:spcAft>
                          <a:spcPts val="800"/>
                        </a:spcAft>
                      </a:pPr>
                      <a:r>
                        <a:rPr lang="en-US" sz="1100">
                          <a:effectLst/>
                        </a:rPr>
                        <a:t>Total piloto</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a:effectLst/>
                        </a:rPr>
                        <a:t>3 semanas</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a:effectLst/>
                        </a:rPr>
                        <a:t>40 a 56</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dirty="0">
                          <a:effectLst/>
                        </a:rPr>
                        <a:t>Acta de </a:t>
                      </a:r>
                      <a:r>
                        <a:rPr lang="en-US" sz="1100" dirty="0" err="1">
                          <a:effectLst/>
                        </a:rPr>
                        <a:t>aceptación</a:t>
                      </a:r>
                      <a:endParaRPr lang="es-CL" sz="1100" dirty="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1681911707"/>
                  </a:ext>
                </a:extLst>
              </a:tr>
            </a:tbl>
          </a:graphicData>
        </a:graphic>
      </p:graphicFrame>
      <p:sp>
        <p:nvSpPr>
          <p:cNvPr id="3" name="Rectangle 1">
            <a:extLst>
              <a:ext uri="{FF2B5EF4-FFF2-40B4-BE49-F238E27FC236}">
                <a16:creationId xmlns:a16="http://schemas.microsoft.com/office/drawing/2014/main" id="{D422446F-CEFB-40AA-5B3F-009C63C0F7BD}"/>
              </a:ext>
            </a:extLst>
          </p:cNvPr>
          <p:cNvSpPr>
            <a:spLocks noChangeArrowheads="1"/>
          </p:cNvSpPr>
          <p:nvPr/>
        </p:nvSpPr>
        <p:spPr bwMode="auto">
          <a:xfrm>
            <a:off x="1067117" y="751790"/>
            <a:ext cx="7873683" cy="12438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177744" rIns="9144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L" altLang="es-CL" sz="13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Tiempos de implementación</a:t>
            </a:r>
            <a:endParaRPr kumimoji="0" lang="en-US" altLang="es-CL" sz="13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CL" altLang="es-CL" sz="1100" b="0" i="0" u="none" strike="noStrike" cap="none" normalizeH="0" baseline="0" dirty="0">
                <a:ln>
                  <a:noFill/>
                </a:ln>
                <a:solidFill>
                  <a:schemeClr val="tx1"/>
                </a:solidFill>
                <a:effectLst/>
                <a:ea typeface="Calibri" panose="020F0502020204030204" pitchFamily="34" charset="0"/>
              </a:rPr>
              <a:t>El piloto toma 3 semanas calendario y de 40 a 56 horas de consultoría, desde la reunión de arranque hasta la aceptación firmada.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CL" altLang="es-CL" sz="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CL" altLang="es-CL" sz="1100" b="1" i="0" u="none" strike="noStrike" cap="none" normalizeH="0" baseline="0" dirty="0">
                <a:ln>
                  <a:noFill/>
                </a:ln>
                <a:solidFill>
                  <a:schemeClr val="tx1"/>
                </a:solidFill>
                <a:effectLst/>
                <a:latin typeface="Arial" panose="020B0604020202020204" pitchFamily="34" charset="0"/>
                <a:ea typeface="Calibri" panose="020F0502020204030204" pitchFamily="34" charset="0"/>
              </a:rPr>
              <a:t>Fase 2, producción (opcional, se cotiza aparte):</a:t>
            </a:r>
            <a:r>
              <a:rPr kumimoji="0" lang="es-CL" altLang="es-CL" sz="1100" b="0" i="0" u="none" strike="noStrike" cap="none" normalizeH="0" baseline="0" dirty="0">
                <a:ln>
                  <a:noFill/>
                </a:ln>
                <a:solidFill>
                  <a:schemeClr val="tx1"/>
                </a:solidFill>
                <a:effectLst/>
                <a:latin typeface="Arial" panose="020B0604020202020204" pitchFamily="34" charset="0"/>
                <a:ea typeface="Calibri" panose="020F0502020204030204" pitchFamily="34" charset="0"/>
              </a:rPr>
              <a:t> despliegue por oleadas de 10 a 25 equipos, ampliando la OU objetivo en cada oleada. Como referencia, de 4 a 6 horas por oleada más el tiempo de carga a OneDrive, que depende del volumen y del ancho de banda.</a:t>
            </a:r>
            <a:endParaRPr kumimoji="0" lang="es-CL" altLang="es-CL"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445500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a 1">
            <a:extLst>
              <a:ext uri="{FF2B5EF4-FFF2-40B4-BE49-F238E27FC236}">
                <a16:creationId xmlns:a16="http://schemas.microsoft.com/office/drawing/2014/main" id="{5A696617-8E66-88AE-6E65-A2ECCA2F8198}"/>
              </a:ext>
            </a:extLst>
          </p:cNvPr>
          <p:cNvGraphicFramePr>
            <a:graphicFrameLocks noGrp="1"/>
          </p:cNvGraphicFramePr>
          <p:nvPr/>
        </p:nvGraphicFramePr>
        <p:xfrm>
          <a:off x="3124517" y="3120230"/>
          <a:ext cx="5942965" cy="1762127"/>
        </p:xfrm>
        <a:graphic>
          <a:graphicData uri="http://schemas.openxmlformats.org/drawingml/2006/table">
            <a:tbl>
              <a:tblPr firstRow="1" bandRow="1">
                <a:tableStyleId>{5C22544A-7EE6-4342-B048-85BDC9FD1C3A}</a:tableStyleId>
              </a:tblPr>
              <a:tblGrid>
                <a:gridCol w="1653540">
                  <a:extLst>
                    <a:ext uri="{9D8B030D-6E8A-4147-A177-3AD203B41FA5}">
                      <a16:colId xmlns:a16="http://schemas.microsoft.com/office/drawing/2014/main" val="591265855"/>
                    </a:ext>
                  </a:extLst>
                </a:gridCol>
                <a:gridCol w="1154430">
                  <a:extLst>
                    <a:ext uri="{9D8B030D-6E8A-4147-A177-3AD203B41FA5}">
                      <a16:colId xmlns:a16="http://schemas.microsoft.com/office/drawing/2014/main" val="1280015903"/>
                    </a:ext>
                  </a:extLst>
                </a:gridCol>
                <a:gridCol w="1678305">
                  <a:extLst>
                    <a:ext uri="{9D8B030D-6E8A-4147-A177-3AD203B41FA5}">
                      <a16:colId xmlns:a16="http://schemas.microsoft.com/office/drawing/2014/main" val="3397851962"/>
                    </a:ext>
                  </a:extLst>
                </a:gridCol>
                <a:gridCol w="904240">
                  <a:extLst>
                    <a:ext uri="{9D8B030D-6E8A-4147-A177-3AD203B41FA5}">
                      <a16:colId xmlns:a16="http://schemas.microsoft.com/office/drawing/2014/main" val="2724924538"/>
                    </a:ext>
                  </a:extLst>
                </a:gridCol>
                <a:gridCol w="552450">
                  <a:extLst>
                    <a:ext uri="{9D8B030D-6E8A-4147-A177-3AD203B41FA5}">
                      <a16:colId xmlns:a16="http://schemas.microsoft.com/office/drawing/2014/main" val="3638902876"/>
                    </a:ext>
                  </a:extLst>
                </a:gridCol>
              </a:tblGrid>
              <a:tr h="0">
                <a:tc>
                  <a:txBody>
                    <a:bodyPr/>
                    <a:lstStyle/>
                    <a:p>
                      <a:pPr>
                        <a:lnSpc>
                          <a:spcPct val="107000"/>
                        </a:lnSpc>
                        <a:spcAft>
                          <a:spcPts val="800"/>
                        </a:spcAft>
                      </a:pPr>
                      <a:r>
                        <a:rPr lang="en-US" sz="1100">
                          <a:effectLst/>
                        </a:rPr>
                        <a:t>Plan</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s-CL" sz="1100">
                          <a:effectLst/>
                        </a:rPr>
                        <a:t>Precio de lista (USD usuario/mes, desde 1 jul 2026)</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s-CL" sz="1100">
                          <a:effectLst/>
                        </a:rPr>
                        <a:t>OneDrive y protección de carpetas</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s-CL" sz="1100">
                          <a:effectLst/>
                        </a:rPr>
                        <a:t>Entra ID P1 / acceso condicional</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a:effectLst/>
                        </a:rPr>
                        <a:t>Intune</a:t>
                      </a:r>
                      <a:endParaRPr lang="es-CL"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3731775982"/>
                  </a:ext>
                </a:extLst>
              </a:tr>
              <a:tr h="0">
                <a:tc>
                  <a:txBody>
                    <a:bodyPr/>
                    <a:lstStyle/>
                    <a:p>
                      <a:pPr>
                        <a:lnSpc>
                          <a:spcPct val="107000"/>
                        </a:lnSpc>
                        <a:spcAft>
                          <a:spcPts val="800"/>
                        </a:spcAft>
                      </a:pPr>
                      <a:r>
                        <a:rPr lang="en-US" sz="1100">
                          <a:effectLst/>
                        </a:rPr>
                        <a:t>Microsoft 365 Business Basic</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a:effectLst/>
                        </a:rPr>
                        <a:t>7.00</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a:effectLst/>
                        </a:rPr>
                        <a:t>Sí, 1 TB</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a:effectLst/>
                        </a:rPr>
                        <a:t>No</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a:effectLst/>
                        </a:rPr>
                        <a:t>No</a:t>
                      </a:r>
                      <a:endParaRPr lang="es-CL"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2015768959"/>
                  </a:ext>
                </a:extLst>
              </a:tr>
              <a:tr h="0">
                <a:tc>
                  <a:txBody>
                    <a:bodyPr/>
                    <a:lstStyle/>
                    <a:p>
                      <a:pPr>
                        <a:lnSpc>
                          <a:spcPct val="107000"/>
                        </a:lnSpc>
                        <a:spcAft>
                          <a:spcPts val="800"/>
                        </a:spcAft>
                      </a:pPr>
                      <a:r>
                        <a:rPr lang="en-US" sz="1100">
                          <a:effectLst/>
                        </a:rPr>
                        <a:t>Microsoft 365 Business Standard</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a:effectLst/>
                        </a:rPr>
                        <a:t>14.00</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s-CL" sz="1100">
                          <a:effectLst/>
                        </a:rPr>
                        <a:t>Sí, 1 TB + apps de escritorio</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a:effectLst/>
                        </a:rPr>
                        <a:t>No</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a:effectLst/>
                        </a:rPr>
                        <a:t>No</a:t>
                      </a:r>
                      <a:endParaRPr lang="es-CL"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938710100"/>
                  </a:ext>
                </a:extLst>
              </a:tr>
              <a:tr h="0">
                <a:tc>
                  <a:txBody>
                    <a:bodyPr/>
                    <a:lstStyle/>
                    <a:p>
                      <a:pPr>
                        <a:lnSpc>
                          <a:spcPct val="107000"/>
                        </a:lnSpc>
                        <a:spcAft>
                          <a:spcPts val="800"/>
                        </a:spcAft>
                      </a:pPr>
                      <a:r>
                        <a:rPr lang="en-US" sz="1100">
                          <a:effectLst/>
                        </a:rPr>
                        <a:t>Microsoft 365 Business Premium</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a:effectLst/>
                        </a:rPr>
                        <a:t>22.00</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s-CL" sz="1100">
                          <a:effectLst/>
                        </a:rPr>
                        <a:t>Sí, 1 TB + apps de escritorio</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a:effectLst/>
                        </a:rPr>
                        <a:t>Sí</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dirty="0" err="1">
                          <a:effectLst/>
                        </a:rPr>
                        <a:t>Sí</a:t>
                      </a:r>
                      <a:endParaRPr lang="es-CL" sz="1100" dirty="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3319873161"/>
                  </a:ext>
                </a:extLst>
              </a:tr>
            </a:tbl>
          </a:graphicData>
        </a:graphic>
      </p:graphicFrame>
      <p:sp>
        <p:nvSpPr>
          <p:cNvPr id="3" name="Rectangle 1">
            <a:extLst>
              <a:ext uri="{FF2B5EF4-FFF2-40B4-BE49-F238E27FC236}">
                <a16:creationId xmlns:a16="http://schemas.microsoft.com/office/drawing/2014/main" id="{EC5331C0-0184-D22D-27C1-CE4A20431FD3}"/>
              </a:ext>
            </a:extLst>
          </p:cNvPr>
          <p:cNvSpPr>
            <a:spLocks noChangeArrowheads="1"/>
          </p:cNvSpPr>
          <p:nvPr/>
        </p:nvSpPr>
        <p:spPr bwMode="auto">
          <a:xfrm>
            <a:off x="2971482" y="13160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77744" rIns="9144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L" altLang="es-CL" sz="13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Licenciamiento Microsoft 365</a:t>
            </a:r>
            <a:endParaRPr kumimoji="0" lang="en-US" altLang="es-CL" sz="13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CL" altLang="es-CL" sz="1100" b="0" i="0" u="none" strike="noStrike" cap="none" normalizeH="0" baseline="0" dirty="0">
                <a:ln>
                  <a:noFill/>
                </a:ln>
                <a:solidFill>
                  <a:schemeClr val="tx1"/>
                </a:solidFill>
                <a:effectLst/>
                <a:ea typeface="Calibri" panose="020F0502020204030204" pitchFamily="34" charset="0"/>
              </a:rPr>
              <a:t>El proyecto no requiere licencias nuevas: la unión híbrida está incluida en Microsoft Entra ID Free, y la protección de carpetas funciona con cualquier plan que incluya OneDrive para el trabajo. Basta confirmar que cada usuario tenga asignado el servicio de OneDrive.</a:t>
            </a:r>
            <a:endParaRPr kumimoji="0" lang="es-CL" altLang="es-CL" sz="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CL" altLang="es-CL" sz="1100" b="0" i="0" u="none" strike="noStrike" cap="none" normalizeH="0" baseline="0" dirty="0">
                <a:ln>
                  <a:noFill/>
                </a:ln>
                <a:solidFill>
                  <a:schemeClr val="tx1"/>
                </a:solidFill>
                <a:effectLst/>
                <a:latin typeface="Arial" panose="020B0604020202020204" pitchFamily="34" charset="0"/>
                <a:ea typeface="Calibri" panose="020F0502020204030204" pitchFamily="34" charset="0"/>
              </a:rPr>
              <a:t>Precios de </a:t>
            </a:r>
            <a:r>
              <a:rPr kumimoji="0" lang="es-CL" altLang="es-CL" sz="1100" b="0" i="0" u="none" strike="noStrike" cap="none" normalizeH="0" baseline="0" dirty="0">
                <a:ln>
                  <a:noFill/>
                </a:ln>
                <a:solidFill>
                  <a:schemeClr val="tx1"/>
                </a:solidFill>
                <a:effectLst/>
                <a:latin typeface="Arial" panose="020B0604020202020204" pitchFamily="34" charset="0"/>
                <a:ea typeface="Calibri" panose="020F0502020204030204" pitchFamily="34" charset="0"/>
                <a:hlinkClick r:id="rId2"/>
              </a:rPr>
              <a:t>UC </a:t>
            </a:r>
            <a:r>
              <a:rPr kumimoji="0" lang="es-CL" altLang="es-CL" sz="1100" b="0" i="0" u="none" strike="noStrike" cap="none" normalizeH="0" baseline="0" dirty="0" err="1">
                <a:ln>
                  <a:noFill/>
                </a:ln>
                <a:solidFill>
                  <a:schemeClr val="tx1"/>
                </a:solidFill>
                <a:effectLst/>
                <a:latin typeface="Arial" panose="020B0604020202020204" pitchFamily="34" charset="0"/>
                <a:ea typeface="Calibri" panose="020F0502020204030204" pitchFamily="34" charset="0"/>
                <a:hlinkClick r:id="rId2"/>
              </a:rPr>
              <a:t>Today</a:t>
            </a:r>
            <a:r>
              <a:rPr kumimoji="0" lang="es-CL" altLang="es-CL" sz="1100" b="0" i="0" u="none" strike="noStrike" cap="none" normalizeH="0" baseline="0" dirty="0">
                <a:ln>
                  <a:noFill/>
                </a:ln>
                <a:solidFill>
                  <a:schemeClr val="tx1"/>
                </a:solidFill>
                <a:effectLst/>
                <a:latin typeface="Arial" panose="020B0604020202020204" pitchFamily="34" charset="0"/>
                <a:ea typeface="Calibri" panose="020F0502020204030204" pitchFamily="34" charset="0"/>
              </a:rPr>
              <a:t> y </a:t>
            </a:r>
            <a:r>
              <a:rPr kumimoji="0" lang="es-CL" altLang="es-CL" sz="1100" b="0" i="0" u="none" strike="noStrike" cap="none" normalizeH="0" baseline="0" dirty="0" err="1">
                <a:ln>
                  <a:noFill/>
                </a:ln>
                <a:solidFill>
                  <a:schemeClr val="tx1"/>
                </a:solidFill>
                <a:effectLst/>
                <a:latin typeface="Arial" panose="020B0604020202020204" pitchFamily="34" charset="0"/>
                <a:ea typeface="Calibri" panose="020F0502020204030204" pitchFamily="34" charset="0"/>
                <a:hlinkClick r:id="rId3"/>
              </a:rPr>
              <a:t>Nerdio</a:t>
            </a:r>
            <a:r>
              <a:rPr kumimoji="0" lang="es-CL" altLang="es-CL" sz="1100" b="0" i="0" u="none" strike="noStrike" cap="none" normalizeH="0" baseline="0" dirty="0">
                <a:ln>
                  <a:noFill/>
                </a:ln>
                <a:solidFill>
                  <a:schemeClr val="tx1"/>
                </a:solidFill>
                <a:effectLst/>
                <a:latin typeface="Arial" panose="020B0604020202020204" pitchFamily="34" charset="0"/>
                <a:ea typeface="Calibri" panose="020F0502020204030204" pitchFamily="34" charset="0"/>
              </a:rPr>
              <a:t>; Microsoft subió Basic y Standard el 1 de julio de 2026 y mantuvo Premium. Para clientes en México el precio final depende del distribuidor CSP y del tipo de cambio.</a:t>
            </a:r>
            <a:endParaRPr kumimoji="0" lang="es-CL" altLang="es-CL" sz="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CL" altLang="es-CL" sz="1100" b="0" i="0" u="none" strike="noStrike" cap="none" normalizeH="0" baseline="0" dirty="0">
                <a:ln>
                  <a:noFill/>
                </a:ln>
                <a:solidFill>
                  <a:schemeClr val="tx1"/>
                </a:solidFill>
                <a:effectLst/>
                <a:latin typeface="Arial" panose="020B0604020202020204" pitchFamily="34" charset="0"/>
                <a:ea typeface="Calibri" panose="020F0502020204030204" pitchFamily="34" charset="0"/>
              </a:rPr>
              <a:t>Recomendación: mantener el plan actual para este proyecto. Business Premium solo se justifica si el cliente quiere después acceso condicional, Intune o Defender; la diferencia frente a Standard es de 8 USD por usuario al mes. Los planes Business admiten hasta 300 usuarios; por encima se evalúan E3/E5.</a:t>
            </a:r>
            <a:endParaRPr kumimoji="0" lang="es-CL" altLang="es-CL"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639905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a 1">
            <a:extLst>
              <a:ext uri="{FF2B5EF4-FFF2-40B4-BE49-F238E27FC236}">
                <a16:creationId xmlns:a16="http://schemas.microsoft.com/office/drawing/2014/main" id="{CD9258E6-304D-D243-D69C-AC7068363803}"/>
              </a:ext>
            </a:extLst>
          </p:cNvPr>
          <p:cNvGraphicFramePr>
            <a:graphicFrameLocks noGrp="1"/>
          </p:cNvGraphicFramePr>
          <p:nvPr/>
        </p:nvGraphicFramePr>
        <p:xfrm>
          <a:off x="3124517" y="2936874"/>
          <a:ext cx="5942965" cy="2128839"/>
        </p:xfrm>
        <a:graphic>
          <a:graphicData uri="http://schemas.openxmlformats.org/drawingml/2006/table">
            <a:tbl>
              <a:tblPr firstRow="1" bandRow="1">
                <a:tableStyleId>{5C22544A-7EE6-4342-B048-85BDC9FD1C3A}</a:tableStyleId>
              </a:tblPr>
              <a:tblGrid>
                <a:gridCol w="1087755">
                  <a:extLst>
                    <a:ext uri="{9D8B030D-6E8A-4147-A177-3AD203B41FA5}">
                      <a16:colId xmlns:a16="http://schemas.microsoft.com/office/drawing/2014/main" val="3763191996"/>
                    </a:ext>
                  </a:extLst>
                </a:gridCol>
                <a:gridCol w="1059180">
                  <a:extLst>
                    <a:ext uri="{9D8B030D-6E8A-4147-A177-3AD203B41FA5}">
                      <a16:colId xmlns:a16="http://schemas.microsoft.com/office/drawing/2014/main" val="281562554"/>
                    </a:ext>
                  </a:extLst>
                </a:gridCol>
                <a:gridCol w="928370">
                  <a:extLst>
                    <a:ext uri="{9D8B030D-6E8A-4147-A177-3AD203B41FA5}">
                      <a16:colId xmlns:a16="http://schemas.microsoft.com/office/drawing/2014/main" val="1444666645"/>
                    </a:ext>
                  </a:extLst>
                </a:gridCol>
                <a:gridCol w="1350010">
                  <a:extLst>
                    <a:ext uri="{9D8B030D-6E8A-4147-A177-3AD203B41FA5}">
                      <a16:colId xmlns:a16="http://schemas.microsoft.com/office/drawing/2014/main" val="3830779199"/>
                    </a:ext>
                  </a:extLst>
                </a:gridCol>
                <a:gridCol w="1517650">
                  <a:extLst>
                    <a:ext uri="{9D8B030D-6E8A-4147-A177-3AD203B41FA5}">
                      <a16:colId xmlns:a16="http://schemas.microsoft.com/office/drawing/2014/main" val="704170221"/>
                    </a:ext>
                  </a:extLst>
                </a:gridCol>
              </a:tblGrid>
              <a:tr h="0">
                <a:tc>
                  <a:txBody>
                    <a:bodyPr/>
                    <a:lstStyle/>
                    <a:p>
                      <a:pPr>
                        <a:lnSpc>
                          <a:spcPct val="107000"/>
                        </a:lnSpc>
                        <a:spcAft>
                          <a:spcPts val="800"/>
                        </a:spcAft>
                      </a:pPr>
                      <a:r>
                        <a:rPr lang="en-US" sz="1100">
                          <a:effectLst/>
                        </a:rPr>
                        <a:t>Opción</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a:effectLst/>
                        </a:rPr>
                        <a:t>Modelo de costo</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a:effectLst/>
                        </a:rPr>
                        <a:t>Cubre</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a:effectLst/>
                        </a:rPr>
                        <a:t>Ventaja</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a:effectLst/>
                        </a:rPr>
                        <a:t>Consideración</a:t>
                      </a:r>
                      <a:endParaRPr lang="es-CL"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1202967527"/>
                  </a:ext>
                </a:extLst>
              </a:tr>
              <a:tr h="0">
                <a:tc>
                  <a:txBody>
                    <a:bodyPr/>
                    <a:lstStyle/>
                    <a:p>
                      <a:pPr>
                        <a:lnSpc>
                          <a:spcPct val="107000"/>
                        </a:lnSpc>
                        <a:spcAft>
                          <a:spcPts val="800"/>
                        </a:spcAft>
                      </a:pPr>
                      <a:r>
                        <a:rPr lang="en-US" sz="1100">
                          <a:effectLst/>
                        </a:rPr>
                        <a:t>Microsoft 365 Backup (nativo)</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s-CL" sz="1100">
                          <a:effectLst/>
                        </a:rPr>
                        <a:t>0.15 USD por GB al mes de contenido protegido</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a:effectLst/>
                        </a:rPr>
                        <a:t>OneDrive, SharePoint, Exchange</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s-CL" sz="1100">
                          <a:effectLst/>
                        </a:rPr>
                        <a:t>Restauración rápida dentro de Microsoft 365; sin licencia adicional</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s-CL" sz="1100">
                          <a:effectLst/>
                        </a:rPr>
                        <a:t>Requiere suscripción de Azure para facturación; el costo crece con el volumen</a:t>
                      </a:r>
                      <a:endParaRPr lang="es-CL"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678087942"/>
                  </a:ext>
                </a:extLst>
              </a:tr>
              <a:tr h="0">
                <a:tc>
                  <a:txBody>
                    <a:bodyPr/>
                    <a:lstStyle/>
                    <a:p>
                      <a:pPr>
                        <a:lnSpc>
                          <a:spcPct val="107000"/>
                        </a:lnSpc>
                        <a:spcAft>
                          <a:spcPts val="800"/>
                        </a:spcAft>
                      </a:pPr>
                      <a:r>
                        <a:rPr lang="es-CL" sz="1100">
                          <a:effectLst/>
                        </a:rPr>
                        <a:t>Solución de terceros (Veeam, AvePoint, Acronis, Keepit u otra)</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s-CL" sz="1100">
                          <a:effectLst/>
                        </a:rPr>
                        <a:t>Por usuario al mes, normalmente</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a:effectLst/>
                        </a:rPr>
                        <a:t>OneDrive, SharePoint, Exchange, Teams</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s-CL" sz="1100">
                          <a:effectLst/>
                        </a:rPr>
                        <a:t>Costo predecible; copia fuera de Microsoft si se elige</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s-CL" sz="1100" dirty="0">
                          <a:effectLst/>
                        </a:rPr>
                        <a:t>Licencia y, en algunos casos, almacenamiento propio</a:t>
                      </a:r>
                      <a:endParaRPr lang="es-CL" sz="1100" dirty="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3447715450"/>
                  </a:ext>
                </a:extLst>
              </a:tr>
            </a:tbl>
          </a:graphicData>
        </a:graphic>
      </p:graphicFrame>
      <p:sp>
        <p:nvSpPr>
          <p:cNvPr id="3" name="Rectangle 1">
            <a:extLst>
              <a:ext uri="{FF2B5EF4-FFF2-40B4-BE49-F238E27FC236}">
                <a16:creationId xmlns:a16="http://schemas.microsoft.com/office/drawing/2014/main" id="{E85FF91C-3518-50F8-EE7C-F3D2A7A42FBE}"/>
              </a:ext>
            </a:extLst>
          </p:cNvPr>
          <p:cNvSpPr>
            <a:spLocks noChangeArrowheads="1"/>
          </p:cNvSpPr>
          <p:nvPr/>
        </p:nvSpPr>
        <p:spPr bwMode="auto">
          <a:xfrm>
            <a:off x="2709333" y="14382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77744" rIns="9144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L" altLang="es-CL" sz="13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Sistema de respaldo (backup)</a:t>
            </a:r>
            <a:endParaRPr kumimoji="0" lang="en-US" altLang="es-CL" sz="13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CL" altLang="es-CL" sz="1100" b="0" i="0" u="none" strike="noStrike" cap="none" normalizeH="0" baseline="0" dirty="0">
                <a:ln>
                  <a:noFill/>
                </a:ln>
                <a:solidFill>
                  <a:schemeClr val="tx1"/>
                </a:solidFill>
                <a:effectLst/>
                <a:ea typeface="Calibri" panose="020F0502020204030204" pitchFamily="34" charset="0"/>
              </a:rPr>
              <a:t>OneDrive sincroniza y versiona, pero no es un respaldo: un borrado, un cifrado por </a:t>
            </a:r>
            <a:r>
              <a:rPr kumimoji="0" lang="es-CL" altLang="es-CL" sz="1100" b="0" i="0" u="none" strike="noStrike" cap="none" normalizeH="0" baseline="0" dirty="0" err="1">
                <a:ln>
                  <a:noFill/>
                </a:ln>
                <a:solidFill>
                  <a:schemeClr val="tx1"/>
                </a:solidFill>
                <a:effectLst/>
                <a:ea typeface="Calibri" panose="020F0502020204030204" pitchFamily="34" charset="0"/>
              </a:rPr>
              <a:t>ransomware</a:t>
            </a:r>
            <a:r>
              <a:rPr kumimoji="0" lang="es-CL" altLang="es-CL" sz="1100" b="0" i="0" u="none" strike="noStrike" cap="none" normalizeH="0" baseline="0" dirty="0">
                <a:ln>
                  <a:noFill/>
                </a:ln>
                <a:solidFill>
                  <a:schemeClr val="tx1"/>
                </a:solidFill>
                <a:effectLst/>
                <a:ea typeface="Calibri" panose="020F0502020204030204" pitchFamily="34" charset="0"/>
              </a:rPr>
              <a:t> o un error masivo se replica a la nube. Recomendamos agregar un respaldo independiente una vez que las carpetas estén en OneDrive.</a:t>
            </a:r>
            <a:endParaRPr kumimoji="0" lang="es-CL" altLang="es-CL" sz="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CL" altLang="es-CL" sz="1100" b="0" i="0" u="none" strike="noStrike" cap="none" normalizeH="0" baseline="0" dirty="0">
                <a:ln>
                  <a:noFill/>
                </a:ln>
                <a:solidFill>
                  <a:schemeClr val="tx1"/>
                </a:solidFill>
                <a:effectLst/>
                <a:latin typeface="Arial" panose="020B0604020202020204" pitchFamily="34" charset="0"/>
                <a:ea typeface="Calibri" panose="020F0502020204030204" pitchFamily="34" charset="0"/>
              </a:rPr>
              <a:t>Ejemplo con el servicio nativo: 50 usuarios con 20 GB promedio en OneDrive suman 1,000 GB, unos 150 USD al mes. El cobro incluye la papelera de segundo nivel y los archivos en línea de buzones protegidos (</a:t>
            </a:r>
            <a:r>
              <a:rPr kumimoji="0" lang="es-CL" altLang="es-CL" sz="1100" b="0" i="0" u="none" strike="noStrike" cap="none" normalizeH="0" baseline="0" dirty="0">
                <a:ln>
                  <a:noFill/>
                </a:ln>
                <a:solidFill>
                  <a:schemeClr val="tx1"/>
                </a:solidFill>
                <a:effectLst/>
                <a:latin typeface="Arial" panose="020B0604020202020204" pitchFamily="34" charset="0"/>
                <a:ea typeface="Calibri" panose="020F0502020204030204" pitchFamily="34" charset="0"/>
                <a:hlinkClick r:id="rId2"/>
              </a:rPr>
              <a:t>Microsoft </a:t>
            </a:r>
            <a:r>
              <a:rPr kumimoji="0" lang="es-CL" altLang="es-CL" sz="1100" b="0" i="0" u="none" strike="noStrike" cap="none" normalizeH="0" baseline="0" dirty="0" err="1">
                <a:ln>
                  <a:noFill/>
                </a:ln>
                <a:solidFill>
                  <a:schemeClr val="tx1"/>
                </a:solidFill>
                <a:effectLst/>
                <a:latin typeface="Arial" panose="020B0604020202020204" pitchFamily="34" charset="0"/>
                <a:ea typeface="Calibri" panose="020F0502020204030204" pitchFamily="34" charset="0"/>
                <a:hlinkClick r:id="rId2"/>
              </a:rPr>
              <a:t>Learn</a:t>
            </a:r>
            <a:r>
              <a:rPr kumimoji="0" lang="es-CL" altLang="es-CL" sz="1100" b="0" i="0" u="none" strike="noStrike" cap="none" normalizeH="0" baseline="0" dirty="0">
                <a:ln>
                  <a:noFill/>
                </a:ln>
                <a:solidFill>
                  <a:schemeClr val="tx1"/>
                </a:solidFill>
                <a:effectLst/>
                <a:latin typeface="Arial" panose="020B0604020202020204" pitchFamily="34" charset="0"/>
                <a:ea typeface="Calibri" panose="020F0502020204030204" pitchFamily="34" charset="0"/>
              </a:rPr>
              <a:t>, </a:t>
            </a:r>
            <a:r>
              <a:rPr kumimoji="0" lang="es-CL" altLang="es-CL" sz="1100" b="0" i="0" u="none" strike="noStrike" cap="none" normalizeH="0" baseline="0" dirty="0">
                <a:ln>
                  <a:noFill/>
                </a:ln>
                <a:solidFill>
                  <a:schemeClr val="tx1"/>
                </a:solidFill>
                <a:effectLst/>
                <a:latin typeface="Arial" panose="020B0604020202020204" pitchFamily="34" charset="0"/>
                <a:ea typeface="Calibri" panose="020F0502020204030204" pitchFamily="34" charset="0"/>
                <a:hlinkClick r:id="rId3"/>
              </a:rPr>
              <a:t>Microsoft</a:t>
            </a:r>
            <a:r>
              <a:rPr kumimoji="0" lang="es-CL" altLang="es-CL" sz="1100" b="0" i="0" u="none" strike="noStrike" cap="none" normalizeH="0" baseline="0" dirty="0">
                <a:ln>
                  <a:noFill/>
                </a:ln>
                <a:solidFill>
                  <a:schemeClr val="tx1"/>
                </a:solidFill>
                <a:effectLst/>
                <a:latin typeface="Arial" panose="020B0604020202020204" pitchFamily="34" charset="0"/>
                <a:ea typeface="Calibri" panose="020F0502020204030204" pitchFamily="34" charset="0"/>
              </a:rPr>
              <a:t>).</a:t>
            </a:r>
            <a:endParaRPr kumimoji="0" lang="es-CL" altLang="es-CL" sz="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CL" altLang="es-CL" sz="1100" b="0" i="0" u="none" strike="noStrike" cap="none" normalizeH="0" baseline="0" dirty="0">
                <a:ln>
                  <a:noFill/>
                </a:ln>
                <a:solidFill>
                  <a:schemeClr val="tx1"/>
                </a:solidFill>
                <a:effectLst/>
                <a:latin typeface="Arial" panose="020B0604020202020204" pitchFamily="34" charset="0"/>
                <a:ea typeface="Calibri" panose="020F0502020204030204" pitchFamily="34" charset="0"/>
              </a:rPr>
              <a:t>Componente opcional del proveedor: activación de Microsoft 365 Backup, directiva para las cuentas de OneDrive del piloto y prueba de restauración, de 6 a 8 horas. El volumen real se obtiene del reporte de uso de OneDrive en el centro de administración.</a:t>
            </a:r>
            <a:endParaRPr kumimoji="0" lang="es-CL" altLang="es-CL"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171557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a 1">
            <a:extLst>
              <a:ext uri="{FF2B5EF4-FFF2-40B4-BE49-F238E27FC236}">
                <a16:creationId xmlns:a16="http://schemas.microsoft.com/office/drawing/2014/main" id="{FC140D8B-92DD-23C7-1286-293C65EB535E}"/>
              </a:ext>
            </a:extLst>
          </p:cNvPr>
          <p:cNvGraphicFramePr>
            <a:graphicFrameLocks noGrp="1"/>
          </p:cNvGraphicFramePr>
          <p:nvPr>
            <p:extLst>
              <p:ext uri="{D42A27DB-BD31-4B8C-83A1-F6EECF244321}">
                <p14:modId xmlns:p14="http://schemas.microsoft.com/office/powerpoint/2010/main" val="857270905"/>
              </p:ext>
            </p:extLst>
          </p:nvPr>
        </p:nvGraphicFramePr>
        <p:xfrm>
          <a:off x="1964266" y="4173273"/>
          <a:ext cx="5943600" cy="2822575"/>
        </p:xfrm>
        <a:graphic>
          <a:graphicData uri="http://schemas.openxmlformats.org/drawingml/2006/table">
            <a:tbl>
              <a:tblPr firstRow="1" bandRow="1">
                <a:tableStyleId>{5C22544A-7EE6-4342-B048-85BDC9FD1C3A}</a:tableStyleId>
              </a:tblPr>
              <a:tblGrid>
                <a:gridCol w="1433830">
                  <a:extLst>
                    <a:ext uri="{9D8B030D-6E8A-4147-A177-3AD203B41FA5}">
                      <a16:colId xmlns:a16="http://schemas.microsoft.com/office/drawing/2014/main" val="3928918311"/>
                    </a:ext>
                  </a:extLst>
                </a:gridCol>
                <a:gridCol w="2546985">
                  <a:extLst>
                    <a:ext uri="{9D8B030D-6E8A-4147-A177-3AD203B41FA5}">
                      <a16:colId xmlns:a16="http://schemas.microsoft.com/office/drawing/2014/main" val="1916035274"/>
                    </a:ext>
                  </a:extLst>
                </a:gridCol>
                <a:gridCol w="1962785">
                  <a:extLst>
                    <a:ext uri="{9D8B030D-6E8A-4147-A177-3AD203B41FA5}">
                      <a16:colId xmlns:a16="http://schemas.microsoft.com/office/drawing/2014/main" val="3014615245"/>
                    </a:ext>
                  </a:extLst>
                </a:gridCol>
              </a:tblGrid>
              <a:tr h="0">
                <a:tc>
                  <a:txBody>
                    <a:bodyPr/>
                    <a:lstStyle/>
                    <a:p>
                      <a:pPr>
                        <a:lnSpc>
                          <a:spcPct val="107000"/>
                        </a:lnSpc>
                        <a:spcAft>
                          <a:spcPts val="800"/>
                        </a:spcAft>
                      </a:pPr>
                      <a:r>
                        <a:rPr lang="en-US" sz="1100">
                          <a:effectLst/>
                        </a:rPr>
                        <a:t>Riesgo</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a:effectLst/>
                        </a:rPr>
                        <a:t>Control</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n-US" sz="1100">
                          <a:effectLst/>
                        </a:rPr>
                        <a:t>Reversión</a:t>
                      </a:r>
                      <a:endParaRPr lang="es-CL"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1959245771"/>
                  </a:ext>
                </a:extLst>
              </a:tr>
              <a:tr h="0">
                <a:tc>
                  <a:txBody>
                    <a:bodyPr/>
                    <a:lstStyle/>
                    <a:p>
                      <a:pPr>
                        <a:lnSpc>
                          <a:spcPct val="107000"/>
                        </a:lnSpc>
                        <a:spcAft>
                          <a:spcPts val="800"/>
                        </a:spcAft>
                      </a:pPr>
                      <a:r>
                        <a:rPr lang="es-CL" sz="1100">
                          <a:effectLst/>
                        </a:rPr>
                        <a:t>Registro incompleto (equipo pendiente en Entra)</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s-CL" sz="1100">
                          <a:effectLst/>
                        </a:rPr>
                        <a:t>Validar OU sincronizada, atributo userCertificate y conectividad; revisar registros de User Device Registration</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s-CL" sz="1100">
                          <a:effectLst/>
                        </a:rPr>
                        <a:t>Desvincular GPO de registro; dsregcmd /leave en el equipo</a:t>
                      </a:r>
                      <a:endParaRPr lang="es-CL"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2467204123"/>
                  </a:ext>
                </a:extLst>
              </a:tr>
              <a:tr h="0">
                <a:tc>
                  <a:txBody>
                    <a:bodyPr/>
                    <a:lstStyle/>
                    <a:p>
                      <a:pPr>
                        <a:lnSpc>
                          <a:spcPct val="107000"/>
                        </a:lnSpc>
                        <a:spcAft>
                          <a:spcPts val="800"/>
                        </a:spcAft>
                      </a:pPr>
                      <a:r>
                        <a:rPr lang="es-CL" sz="1100">
                          <a:effectLst/>
                        </a:rPr>
                        <a:t>OneDrive pide credenciales o no hay PRT</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s-CL" sz="1100">
                          <a:effectLst/>
                        </a:rPr>
                        <a:t>Revisar UPN, licencia, MFA y acceso condicional en la sesión del usuario</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s-CL" sz="1100">
                          <a:effectLst/>
                        </a:rPr>
                        <a:t>Documentar la interacción requerida; no se relajan controles</a:t>
                      </a:r>
                      <a:endParaRPr lang="es-CL"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90860434"/>
                  </a:ext>
                </a:extLst>
              </a:tr>
              <a:tr h="0">
                <a:tc>
                  <a:txBody>
                    <a:bodyPr/>
                    <a:lstStyle/>
                    <a:p>
                      <a:pPr>
                        <a:lnSpc>
                          <a:spcPct val="107000"/>
                        </a:lnSpc>
                        <a:spcAft>
                          <a:spcPts val="800"/>
                        </a:spcAft>
                      </a:pPr>
                      <a:r>
                        <a:rPr lang="es-CL" sz="1100">
                          <a:effectLst/>
                        </a:rPr>
                        <a:t>Registro de más equipos de los previstos</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s-CL" sz="1100">
                          <a:effectLst/>
                        </a:rPr>
                        <a:t>Despliegue dirigido por GPO, sin SCP en el bosque; GPO de OneDrive filtrada a la OU piloto</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s-CL" sz="1100">
                          <a:effectLst/>
                        </a:rPr>
                        <a:t>Retirar la GPO; eliminar dispositivos sobrantes en Entra</a:t>
                      </a:r>
                      <a:endParaRPr lang="es-CL"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4200090505"/>
                  </a:ext>
                </a:extLst>
              </a:tr>
              <a:tr h="0">
                <a:tc>
                  <a:txBody>
                    <a:bodyPr/>
                    <a:lstStyle/>
                    <a:p>
                      <a:pPr>
                        <a:lnSpc>
                          <a:spcPct val="107000"/>
                        </a:lnSpc>
                        <a:spcAft>
                          <a:spcPts val="800"/>
                        </a:spcAft>
                      </a:pPr>
                      <a:r>
                        <a:rPr lang="es-CL" sz="1100">
                          <a:effectLst/>
                        </a:rPr>
                        <a:t>Falla en la actualización de Entra Connect</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s-CL" sz="1100">
                          <a:effectLst/>
                        </a:rPr>
                        <a:t>Exportar configuración, instantánea del servidor, ventana aprobada</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s-CL" sz="1100">
                          <a:effectLst/>
                        </a:rPr>
                        <a:t>Restaurar instantánea o reinstalar con la configuración exportada</a:t>
                      </a:r>
                      <a:endParaRPr lang="es-CL"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298824302"/>
                  </a:ext>
                </a:extLst>
              </a:tr>
              <a:tr h="0">
                <a:tc>
                  <a:txBody>
                    <a:bodyPr/>
                    <a:lstStyle/>
                    <a:p>
                      <a:pPr>
                        <a:lnSpc>
                          <a:spcPct val="107000"/>
                        </a:lnSpc>
                        <a:spcAft>
                          <a:spcPts val="800"/>
                        </a:spcAft>
                      </a:pPr>
                      <a:r>
                        <a:rPr lang="es-CL" sz="1100">
                          <a:effectLst/>
                        </a:rPr>
                        <a:t>Conflictos de carpetas o carga elevada</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s-CL" sz="1100">
                          <a:effectLst/>
                        </a:rPr>
                        <a:t>Revisar redirección, volumen y cuota; programar la carga</a:t>
                      </a:r>
                      <a:endParaRPr lang="es-CL" sz="1100">
                        <a:effectLst/>
                        <a:latin typeface="Calibri" panose="020F0502020204030204" pitchFamily="34" charset="0"/>
                        <a:ea typeface="Calibri" panose="020F0502020204030204" pitchFamily="34" charset="0"/>
                      </a:endParaRPr>
                    </a:p>
                  </a:txBody>
                  <a:tcPr marL="68580" marR="68580" marT="0" marB="0"/>
                </a:tc>
                <a:tc>
                  <a:txBody>
                    <a:bodyPr/>
                    <a:lstStyle/>
                    <a:p>
                      <a:pPr>
                        <a:lnSpc>
                          <a:spcPct val="107000"/>
                        </a:lnSpc>
                        <a:spcAft>
                          <a:spcPts val="800"/>
                        </a:spcAft>
                      </a:pPr>
                      <a:r>
                        <a:rPr lang="es-CL" sz="1100" dirty="0">
                          <a:effectLst/>
                        </a:rPr>
                        <a:t>Deshabilitar el bloqueo y revertir carpetas desde OneDrive</a:t>
                      </a:r>
                      <a:endParaRPr lang="es-CL" sz="1100" dirty="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896750684"/>
                  </a:ext>
                </a:extLst>
              </a:tr>
            </a:tbl>
          </a:graphicData>
        </a:graphic>
      </p:graphicFrame>
      <p:sp>
        <p:nvSpPr>
          <p:cNvPr id="3" name="Rectangle 1">
            <a:extLst>
              <a:ext uri="{FF2B5EF4-FFF2-40B4-BE49-F238E27FC236}">
                <a16:creationId xmlns:a16="http://schemas.microsoft.com/office/drawing/2014/main" id="{A95FD86C-40CC-05DA-882D-94587051DB01}"/>
              </a:ext>
            </a:extLst>
          </p:cNvPr>
          <p:cNvSpPr>
            <a:spLocks noChangeArrowheads="1"/>
          </p:cNvSpPr>
          <p:nvPr/>
        </p:nvSpPr>
        <p:spPr bwMode="auto">
          <a:xfrm>
            <a:off x="1727201" y="1189309"/>
            <a:ext cx="7887096" cy="2644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77744" rIns="9144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L" altLang="es-CL" sz="13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Riesgos, reversión y criterios de aceptación</a:t>
            </a:r>
            <a:endParaRPr kumimoji="0" lang="en-US" altLang="es-CL" sz="13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CL" altLang="es-CL" sz="1100" b="0" i="0" u="none" strike="noStrike" cap="none" normalizeH="0" baseline="0" dirty="0">
                <a:ln>
                  <a:noFill/>
                </a:ln>
                <a:solidFill>
                  <a:schemeClr val="tx1"/>
                </a:solidFill>
                <a:effectLst/>
                <a:ea typeface="Calibri" panose="020F0502020204030204" pitchFamily="34" charset="0"/>
              </a:rPr>
              <a:t>Cada cambio se limita a la OU piloto y tiene un paso de reversión probado antes de la aceptación.</a:t>
            </a:r>
            <a:endParaRPr kumimoji="0" lang="es-CL" altLang="es-CL" sz="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s-CL" sz="1100" b="1" i="0" u="none" strike="noStrike" cap="none" normalizeH="0" baseline="0" dirty="0">
              <a:ln>
                <a:noFill/>
              </a:ln>
              <a:solidFill>
                <a:schemeClr val="tx1"/>
              </a:solidFill>
              <a:effectLst/>
              <a:latin typeface="Arial" panose="020B0604020202020204" pitchFamily="34" charset="0"/>
              <a:ea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s-CL" sz="1100" b="1" dirty="0">
              <a:ea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s-CL" sz="1100" b="1" i="0" u="none" strike="noStrike" cap="none" normalizeH="0" baseline="0" dirty="0">
              <a:ln>
                <a:noFill/>
              </a:ln>
              <a:solidFill>
                <a:schemeClr val="tx1"/>
              </a:solidFill>
              <a:effectLst/>
              <a:latin typeface="Arial" panose="020B0604020202020204" pitchFamily="34" charset="0"/>
              <a:ea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s-CL" sz="1100" b="1" dirty="0">
              <a:ea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s-CL" sz="1100" b="1" i="0" u="none" strike="noStrike" cap="none" normalizeH="0" baseline="0" dirty="0">
              <a:ln>
                <a:noFill/>
              </a:ln>
              <a:solidFill>
                <a:schemeClr val="tx1"/>
              </a:solidFill>
              <a:effectLst/>
              <a:latin typeface="Arial" panose="020B0604020202020204" pitchFamily="34" charset="0"/>
              <a:ea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s-CL" sz="1100" b="1" i="0" u="none" strike="noStrike" cap="none" normalizeH="0" baseline="0" dirty="0" err="1">
                <a:ln>
                  <a:noFill/>
                </a:ln>
                <a:solidFill>
                  <a:schemeClr val="tx1"/>
                </a:solidFill>
                <a:effectLst/>
                <a:latin typeface="Arial" panose="020B0604020202020204" pitchFamily="34" charset="0"/>
                <a:ea typeface="Calibri" panose="020F0502020204030204" pitchFamily="34" charset="0"/>
              </a:rPr>
              <a:t>Criterios</a:t>
            </a:r>
            <a:r>
              <a:rPr kumimoji="0" lang="en-US" altLang="es-CL" sz="1100" b="1" i="0" u="none" strike="noStrike" cap="none" normalizeH="0" baseline="0" dirty="0">
                <a:ln>
                  <a:noFill/>
                </a:ln>
                <a:solidFill>
                  <a:schemeClr val="tx1"/>
                </a:solidFill>
                <a:effectLst/>
                <a:latin typeface="Arial" panose="020B0604020202020204" pitchFamily="34" charset="0"/>
                <a:ea typeface="Calibri" panose="020F0502020204030204" pitchFamily="34" charset="0"/>
              </a:rPr>
              <a:t> de </a:t>
            </a:r>
            <a:r>
              <a:rPr kumimoji="0" lang="en-US" altLang="es-CL" sz="1100" b="1" i="0" u="none" strike="noStrike" cap="none" normalizeH="0" baseline="0" dirty="0" err="1">
                <a:ln>
                  <a:noFill/>
                </a:ln>
                <a:solidFill>
                  <a:schemeClr val="tx1"/>
                </a:solidFill>
                <a:effectLst/>
                <a:latin typeface="Arial" panose="020B0604020202020204" pitchFamily="34" charset="0"/>
                <a:ea typeface="Calibri" panose="020F0502020204030204" pitchFamily="34" charset="0"/>
              </a:rPr>
              <a:t>aceptación</a:t>
            </a:r>
            <a:endParaRPr kumimoji="0" lang="es-CL" altLang="es-CL" sz="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L" altLang="es-CL" sz="1100" b="0" i="0" u="none" strike="noStrike" cap="none" normalizeH="0" baseline="0" dirty="0">
                <a:ln>
                  <a:noFill/>
                </a:ln>
                <a:solidFill>
                  <a:schemeClr val="tx1"/>
                </a:solidFill>
                <a:effectLst/>
                <a:latin typeface="Arial" panose="020B0604020202020204" pitchFamily="34" charset="0"/>
                <a:ea typeface="Calibri" panose="020F0502020204030204" pitchFamily="34" charset="0"/>
              </a:rPr>
              <a:t>☐ </a:t>
            </a:r>
            <a:r>
              <a:rPr kumimoji="0" lang="es-CL" altLang="es-CL" sz="1100" b="0" i="0" u="none" strike="noStrike" cap="none" normalizeH="0" baseline="0" dirty="0" err="1">
                <a:ln>
                  <a:noFill/>
                </a:ln>
                <a:solidFill>
                  <a:schemeClr val="tx1"/>
                </a:solidFill>
                <a:effectLst/>
                <a:latin typeface="Arial" panose="020B0604020202020204" pitchFamily="34" charset="0"/>
                <a:ea typeface="Calibri" panose="020F0502020204030204" pitchFamily="34" charset="0"/>
              </a:rPr>
              <a:t>dsregcmd</a:t>
            </a:r>
            <a:r>
              <a:rPr kumimoji="0" lang="es-CL" altLang="es-CL" sz="1100" b="0" i="0" u="none" strike="noStrike" cap="none" normalizeH="0" baseline="0" dirty="0">
                <a:ln>
                  <a:noFill/>
                </a:ln>
                <a:solidFill>
                  <a:schemeClr val="tx1"/>
                </a:solidFill>
                <a:effectLst/>
                <a:latin typeface="Arial" panose="020B0604020202020204" pitchFamily="34" charset="0"/>
                <a:ea typeface="Calibri" panose="020F0502020204030204" pitchFamily="34" charset="0"/>
              </a:rPr>
              <a:t> /status muestra </a:t>
            </a:r>
            <a:r>
              <a:rPr kumimoji="0" lang="es-CL" altLang="es-CL" sz="1100" b="0" i="0" u="none" strike="noStrike" cap="none" normalizeH="0" baseline="0" dirty="0" err="1">
                <a:ln>
                  <a:noFill/>
                </a:ln>
                <a:solidFill>
                  <a:schemeClr val="tx1"/>
                </a:solidFill>
                <a:effectLst/>
                <a:latin typeface="Arial" panose="020B0604020202020204" pitchFamily="34" charset="0"/>
                <a:ea typeface="Calibri" panose="020F0502020204030204" pitchFamily="34" charset="0"/>
              </a:rPr>
              <a:t>DomainJoined</a:t>
            </a:r>
            <a:r>
              <a:rPr kumimoji="0" lang="es-CL" altLang="es-CL" sz="1100" b="0" i="0" u="none" strike="noStrike" cap="none" normalizeH="0" baseline="0" dirty="0">
                <a:ln>
                  <a:noFill/>
                </a:ln>
                <a:solidFill>
                  <a:schemeClr val="tx1"/>
                </a:solidFill>
                <a:effectLst/>
                <a:latin typeface="Arial" panose="020B0604020202020204" pitchFamily="34" charset="0"/>
                <a:ea typeface="Calibri" panose="020F0502020204030204" pitchFamily="34" charset="0"/>
              </a:rPr>
              <a:t> YES y </a:t>
            </a:r>
            <a:r>
              <a:rPr kumimoji="0" lang="es-CL" altLang="es-CL" sz="1100" b="0" i="0" u="none" strike="noStrike" cap="none" normalizeH="0" baseline="0" dirty="0" err="1">
                <a:ln>
                  <a:noFill/>
                </a:ln>
                <a:solidFill>
                  <a:schemeClr val="tx1"/>
                </a:solidFill>
                <a:effectLst/>
                <a:latin typeface="Arial" panose="020B0604020202020204" pitchFamily="34" charset="0"/>
                <a:ea typeface="Calibri" panose="020F0502020204030204" pitchFamily="34" charset="0"/>
              </a:rPr>
              <a:t>AzureAdJoined</a:t>
            </a:r>
            <a:r>
              <a:rPr kumimoji="0" lang="es-CL" altLang="es-CL" sz="1100" b="0" i="0" u="none" strike="noStrike" cap="none" normalizeH="0" baseline="0" dirty="0">
                <a:ln>
                  <a:noFill/>
                </a:ln>
                <a:solidFill>
                  <a:schemeClr val="tx1"/>
                </a:solidFill>
                <a:effectLst/>
                <a:latin typeface="Arial" panose="020B0604020202020204" pitchFamily="34" charset="0"/>
                <a:ea typeface="Calibri" panose="020F0502020204030204" pitchFamily="34" charset="0"/>
              </a:rPr>
              <a:t> YES, con el dispositivo en el inquilino correcto.</a:t>
            </a:r>
            <a:endParaRPr kumimoji="0" lang="es-CL" altLang="es-CL" sz="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L" altLang="es-CL" sz="1100" b="0" i="0" u="none" strike="noStrike" cap="none" normalizeH="0" baseline="0" dirty="0">
                <a:ln>
                  <a:noFill/>
                </a:ln>
                <a:solidFill>
                  <a:schemeClr val="tx1"/>
                </a:solidFill>
                <a:effectLst/>
                <a:latin typeface="Arial" panose="020B0604020202020204" pitchFamily="34" charset="0"/>
                <a:ea typeface="Calibri" panose="020F0502020204030204" pitchFamily="34" charset="0"/>
              </a:rPr>
              <a:t>☐ </a:t>
            </a:r>
            <a:r>
              <a:rPr kumimoji="0" lang="es-CL" altLang="es-CL" sz="1100" b="0" i="0" u="none" strike="noStrike" cap="none" normalizeH="0" baseline="0" dirty="0" err="1">
                <a:ln>
                  <a:noFill/>
                </a:ln>
                <a:solidFill>
                  <a:schemeClr val="tx1"/>
                </a:solidFill>
                <a:effectLst/>
                <a:latin typeface="Arial" panose="020B0604020202020204" pitchFamily="34" charset="0"/>
                <a:ea typeface="Calibri" panose="020F0502020204030204" pitchFamily="34" charset="0"/>
              </a:rPr>
              <a:t>AzureAdPrt</a:t>
            </a:r>
            <a:r>
              <a:rPr kumimoji="0" lang="es-CL" altLang="es-CL" sz="1100" b="0" i="0" u="none" strike="noStrike" cap="none" normalizeH="0" baseline="0" dirty="0">
                <a:ln>
                  <a:noFill/>
                </a:ln>
                <a:solidFill>
                  <a:schemeClr val="tx1"/>
                </a:solidFill>
                <a:effectLst/>
                <a:latin typeface="Arial" panose="020B0604020202020204" pitchFamily="34" charset="0"/>
                <a:ea typeface="Calibri" panose="020F0502020204030204" pitchFamily="34" charset="0"/>
              </a:rPr>
              <a:t> YES en la sesión del usuario y OneDrive configurado sin pedir credenciales.</a:t>
            </a:r>
            <a:endParaRPr kumimoji="0" lang="es-CL" altLang="es-CL" sz="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L" altLang="es-CL" sz="1100" b="0" i="0" u="none" strike="noStrike" cap="none" normalizeH="0" baseline="0" dirty="0">
                <a:ln>
                  <a:noFill/>
                </a:ln>
                <a:solidFill>
                  <a:schemeClr val="tx1"/>
                </a:solidFill>
                <a:effectLst/>
                <a:latin typeface="Arial" panose="020B0604020202020204" pitchFamily="34" charset="0"/>
                <a:ea typeface="Calibri" panose="020F0502020204030204" pitchFamily="34" charset="0"/>
              </a:rPr>
              <a:t>☐ </a:t>
            </a:r>
            <a:r>
              <a:rPr kumimoji="0" lang="es-CL" altLang="es-CL" sz="1100" b="0" i="0" u="none" strike="noStrike" cap="none" normalizeH="0" baseline="0" dirty="0" err="1">
                <a:ln>
                  <a:noFill/>
                </a:ln>
                <a:solidFill>
                  <a:schemeClr val="tx1"/>
                </a:solidFill>
                <a:effectLst/>
                <a:latin typeface="Arial" panose="020B0604020202020204" pitchFamily="34" charset="0"/>
                <a:ea typeface="Calibri" panose="020F0502020204030204" pitchFamily="34" charset="0"/>
              </a:rPr>
              <a:t>gpresult</a:t>
            </a:r>
            <a:r>
              <a:rPr kumimoji="0" lang="es-CL" altLang="es-CL" sz="1100" b="0" i="0" u="none" strike="noStrike" cap="none" normalizeH="0" baseline="0" dirty="0">
                <a:ln>
                  <a:noFill/>
                </a:ln>
                <a:solidFill>
                  <a:schemeClr val="tx1"/>
                </a:solidFill>
                <a:effectLst/>
                <a:latin typeface="Arial" panose="020B0604020202020204" pitchFamily="34" charset="0"/>
                <a:ea typeface="Calibri" panose="020F0502020204030204" pitchFamily="34" charset="0"/>
              </a:rPr>
              <a:t> confirma las GPO previstas; Escritorio, Documentos e Imágenes aparecen protegidas.</a:t>
            </a:r>
            <a:endParaRPr kumimoji="0" lang="es-CL" altLang="es-CL" sz="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L" altLang="es-CL" sz="1100" b="0" i="0" u="none" strike="noStrike" cap="none" normalizeH="0" baseline="0" dirty="0">
                <a:ln>
                  <a:noFill/>
                </a:ln>
                <a:solidFill>
                  <a:schemeClr val="tx1"/>
                </a:solidFill>
                <a:effectLst/>
                <a:latin typeface="Arial" panose="020B0604020202020204" pitchFamily="34" charset="0"/>
                <a:ea typeface="Calibri" panose="020F0502020204030204" pitchFamily="34" charset="0"/>
              </a:rPr>
              <a:t>☐ Un archivo de prueba en cada carpeta aparece en OneDrive web sin errores de sincronización.</a:t>
            </a:r>
            <a:endParaRPr kumimoji="0" lang="es-CL" altLang="es-CL" sz="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L" altLang="es-CL" sz="1100" b="0" i="0" u="none" strike="noStrike" cap="none" normalizeH="0" baseline="0" dirty="0">
                <a:ln>
                  <a:noFill/>
                </a:ln>
                <a:solidFill>
                  <a:schemeClr val="tx1"/>
                </a:solidFill>
                <a:effectLst/>
                <a:latin typeface="Arial" panose="020B0604020202020204" pitchFamily="34" charset="0"/>
                <a:ea typeface="Calibri" panose="020F0502020204030204" pitchFamily="34" charset="0"/>
              </a:rPr>
              <a:t>☐ El usuario no puede detener la protección desde OneDrive, y se mantiene tras reiniciar.</a:t>
            </a:r>
            <a:endParaRPr kumimoji="0" lang="es-CL" altLang="es-CL" sz="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L" altLang="es-CL" sz="1100" b="0" i="0" u="none" strike="noStrike" cap="none" normalizeH="0" baseline="0" dirty="0">
                <a:ln>
                  <a:noFill/>
                </a:ln>
                <a:solidFill>
                  <a:schemeClr val="tx1"/>
                </a:solidFill>
                <a:effectLst/>
                <a:latin typeface="Arial" panose="020B0604020202020204" pitchFamily="34" charset="0"/>
                <a:ea typeface="Calibri" panose="020F0502020204030204" pitchFamily="34" charset="0"/>
              </a:rPr>
              <a:t>☐ Perfil, aplicaciones, unidades de red y recursos internos funcionan igual; la sincronización de usuarios sigue sin errores.</a:t>
            </a:r>
            <a:endParaRPr kumimoji="0" lang="es-CL" altLang="es-CL"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34941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52049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17636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TotalTime>
  <Words>2798</Words>
  <Application>Microsoft Office PowerPoint</Application>
  <PresentationFormat>Panorámica</PresentationFormat>
  <Paragraphs>263</Paragraphs>
  <Slides>16</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16</vt:i4>
      </vt:variant>
    </vt:vector>
  </HeadingPairs>
  <TitlesOfParts>
    <vt:vector size="20" baseType="lpstr">
      <vt:lpstr>Arial</vt:lpstr>
      <vt:lpstr>Calibri</vt:lpstr>
      <vt:lpstr>Calibri Light</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César Larios Jurado</dc:creator>
  <cp:lastModifiedBy>César Larios Jurado</cp:lastModifiedBy>
  <cp:revision>1</cp:revision>
  <dcterms:created xsi:type="dcterms:W3CDTF">2026-10-27T05:56:37Z</dcterms:created>
  <dcterms:modified xsi:type="dcterms:W3CDTF">2026-10-27T06:17:58Z</dcterms:modified>
</cp:coreProperties>
</file>