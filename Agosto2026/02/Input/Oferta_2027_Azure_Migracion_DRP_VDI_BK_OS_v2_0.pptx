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95" r:id="rId3"/>
    <p:sldId id="257" r:id="rId4"/>
    <p:sldId id="29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97" r:id="rId13"/>
    <p:sldId id="298" r:id="rId14"/>
    <p:sldId id="265" r:id="rId15"/>
    <p:sldId id="289" r:id="rId16"/>
    <p:sldId id="284" r:id="rId17"/>
    <p:sldId id="285" r:id="rId18"/>
    <p:sldId id="291" r:id="rId19"/>
    <p:sldId id="299" r:id="rId20"/>
    <p:sldId id="300" r:id="rId21"/>
    <p:sldId id="286" r:id="rId22"/>
    <p:sldId id="301" r:id="rId23"/>
    <p:sldId id="294" r:id="rId24"/>
    <p:sldId id="302" r:id="rId25"/>
    <p:sldId id="28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F9DF9-8B1A-4763-898F-A67A494DFC45}" v="34" dt="2026-07-27T15:09:22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915" autoAdjust="0"/>
  </p:normalViewPr>
  <p:slideViewPr>
    <p:cSldViewPr snapToGrid="0">
      <p:cViewPr varScale="1">
        <p:scale>
          <a:sx n="125" d="100"/>
          <a:sy n="125" d="100"/>
        </p:scale>
        <p:origin x="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Larios Jurado" userId="8f104481-d9ab-4cdc-ac3e-e12ab067789a" providerId="ADAL" clId="{FFC2E796-BF0A-4A02-9544-2D4D0A5B7518}"/>
    <pc:docChg chg="undo custSel addSld delSld modSld sldOrd modMainMaster">
      <pc:chgData name="Cesar Larios Jurado" userId="8f104481-d9ab-4cdc-ac3e-e12ab067789a" providerId="ADAL" clId="{FFC2E796-BF0A-4A02-9544-2D4D0A5B7518}" dt="2026-07-27T15:48:44.244" v="4736" actId="33524"/>
      <pc:docMkLst>
        <pc:docMk/>
      </pc:docMkLst>
      <pc:sldChg chg="modSp mod setBg">
        <pc:chgData name="Cesar Larios Jurado" userId="8f104481-d9ab-4cdc-ac3e-e12ab067789a" providerId="ADAL" clId="{FFC2E796-BF0A-4A02-9544-2D4D0A5B7518}" dt="2026-07-13T21:50:47.602" v="3473" actId="20577"/>
        <pc:sldMkLst>
          <pc:docMk/>
          <pc:sldMk cId="0" sldId="256"/>
        </pc:sldMkLst>
        <pc:spChg chg="mod">
          <ac:chgData name="Cesar Larios Jurado" userId="8f104481-d9ab-4cdc-ac3e-e12ab067789a" providerId="ADAL" clId="{FFC2E796-BF0A-4A02-9544-2D4D0A5B7518}" dt="2026-07-13T21:50:45.204" v="347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15.942" v="3448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0:47.602" v="347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19:08.816" v="191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 setBg">
        <pc:chgData name="Cesar Larios Jurado" userId="8f104481-d9ab-4cdc-ac3e-e12ab067789a" providerId="ADAL" clId="{FFC2E796-BF0A-4A02-9544-2D4D0A5B7518}" dt="2026-07-20T15:37:21.972" v="4601" actId="20577"/>
        <pc:sldMkLst>
          <pc:docMk/>
          <pc:sldMk cId="0" sldId="257"/>
        </pc:sldMkLst>
        <pc:spChg chg="mod">
          <ac:chgData name="Cesar Larios Jurado" userId="8f104481-d9ab-4cdc-ac3e-e12ab067789a" providerId="ADAL" clId="{FFC2E796-BF0A-4A02-9544-2D4D0A5B7518}" dt="2026-07-13T17:22:03.629" v="1967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2:16.958" v="2006" actId="1038"/>
          <ac:spMkLst>
            <pc:docMk/>
            <pc:sldMk cId="0" sldId="25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23:31.666" v="2013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0T15:37:21.972" v="460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3:22.254" v="355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48.869" v="3358" actId="10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4:13.655" v="3575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53.434" v="3368" actId="10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15.826" v="3346" actId="11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2:00.256" v="3379" actId="10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41:29.132" v="3348" actId="114"/>
          <ac:spMkLst>
            <pc:docMk/>
            <pc:sldMk cId="0" sldId="257"/>
            <ac:spMk id="16" creationId="{00000000-0000-0000-0000-000000000000}"/>
          </ac:spMkLst>
        </pc:spChg>
        <pc:picChg chg="mod">
          <ac:chgData name="Cesar Larios Jurado" userId="8f104481-d9ab-4cdc-ac3e-e12ab067789a" providerId="ADAL" clId="{FFC2E796-BF0A-4A02-9544-2D4D0A5B7518}" dt="2026-07-13T17:22:09.964" v="1968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add del mod setBg">
        <pc:chgData name="Cesar Larios Jurado" userId="8f104481-d9ab-4cdc-ac3e-e12ab067789a" providerId="ADAL" clId="{FFC2E796-BF0A-4A02-9544-2D4D0A5B7518}" dt="2026-07-13T21:55:15.246" v="3581" actId="20577"/>
        <pc:sldMkLst>
          <pc:docMk/>
          <pc:sldMk cId="0" sldId="258"/>
        </pc:sldMkLst>
        <pc:spChg chg="del">
          <ac:chgData name="Cesar Larios Jurado" userId="8f104481-d9ab-4cdc-ac3e-e12ab067789a" providerId="ADAL" clId="{FFC2E796-BF0A-4A02-9544-2D4D0A5B7518}" dt="2026-07-07T15:21:44.582" v="4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24:08.347" v="2047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21:55:15.246" v="3581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9.037" v="2494" actId="1076"/>
          <ac:spMkLst>
            <pc:docMk/>
            <pc:sldMk cId="0" sldId="258"/>
            <ac:spMk id="5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1:53.615" v="2492"/>
          <ac:spMkLst>
            <pc:docMk/>
            <pc:sldMk cId="0" sldId="258"/>
            <ac:spMk id="1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19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2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Cesar Larios Jurado" userId="8f104481-d9ab-4cdc-ac3e-e12ab067789a" providerId="ADAL" clId="{FFC2E796-BF0A-4A02-9544-2D4D0A5B7518}" dt="2026-07-07T15:22:06.292" v="8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14.945" v="2430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37:33.865" v="2452" actId="1035"/>
          <ac:spMkLst>
            <pc:docMk/>
            <pc:sldMk cId="0" sldId="258"/>
            <ac:spMk id="33" creationId="{00000000-0000-0000-0000-000000000000}"/>
          </ac:spMkLst>
        </pc:spChg>
        <pc:spChg chg="add mod">
          <ac:chgData name="Cesar Larios Jurado" userId="8f104481-d9ab-4cdc-ac3e-e12ab067789a" providerId="ADAL" clId="{FFC2E796-BF0A-4A02-9544-2D4D0A5B7518}" dt="2026-07-13T18:44:32.455" v="3432" actId="20577"/>
          <ac:spMkLst>
            <pc:docMk/>
            <pc:sldMk cId="0" sldId="258"/>
            <ac:spMk id="39" creationId="{B934EB02-72F4-0391-E055-96F5B71363B5}"/>
          </ac:spMkLst>
        </pc:spChg>
      </pc:sldChg>
      <pc:sldChg chg="modSp add del mod setBg">
        <pc:chgData name="Cesar Larios Jurado" userId="8f104481-d9ab-4cdc-ac3e-e12ab067789a" providerId="ADAL" clId="{FFC2E796-BF0A-4A02-9544-2D4D0A5B7518}" dt="2026-07-13T22:01:05.731" v="3648" actId="20577"/>
        <pc:sldMkLst>
          <pc:docMk/>
          <pc:sldMk cId="0" sldId="259"/>
        </pc:sldMkLst>
        <pc:spChg chg="mod">
          <ac:chgData name="Cesar Larios Jurado" userId="8f104481-d9ab-4cdc-ac3e-e12ab067789a" providerId="ADAL" clId="{FFC2E796-BF0A-4A02-9544-2D4D0A5B7518}" dt="2026-07-13T17:44:42.332" v="256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8:49.982" v="2649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31.790" v="3623" actId="6549"/>
          <ac:spMkLst>
            <pc:docMk/>
            <pc:sldMk cId="0" sldId="259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8:55.500" v="3624" actId="12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03.040" v="3630" actId="6549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47.991" v="3633" actId="2057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1:59:55.017" v="3634" actId="120"/>
          <ac:spMkLst>
            <pc:docMk/>
            <pc:sldMk cId="0" sldId="259"/>
            <ac:spMk id="2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7:49:41.703" v="2671" actId="1410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0:31.759" v="3635" actId="120"/>
          <ac:spMkLst>
            <pc:docMk/>
            <pc:sldMk cId="0" sldId="259"/>
            <ac:spMk id="3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1:05.731" v="3648" actId="20577"/>
          <ac:spMkLst>
            <pc:docMk/>
            <pc:sldMk cId="0" sldId="259"/>
            <ac:spMk id="36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2:52.683" v="3675" actId="20577"/>
        <pc:sldMkLst>
          <pc:docMk/>
          <pc:sldMk cId="0" sldId="260"/>
        </pc:sldMkLst>
        <pc:spChg chg="mod">
          <ac:chgData name="Cesar Larios Jurado" userId="8f104481-d9ab-4cdc-ac3e-e12ab067789a" providerId="ADAL" clId="{FFC2E796-BF0A-4A02-9544-2D4D0A5B7518}" dt="2026-07-13T22:02:52.683" v="3675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06.819" v="571" actId="20577"/>
          <ac:spMkLst>
            <pc:docMk/>
            <pc:sldMk cId="0" sldId="260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04:28.348" v="3710" actId="20577"/>
        <pc:sldMkLst>
          <pc:docMk/>
          <pc:sldMk cId="0" sldId="261"/>
        </pc:sldMkLst>
        <pc:spChg chg="mod">
          <ac:chgData name="Cesar Larios Jurado" userId="8f104481-d9ab-4cdc-ac3e-e12ab067789a" providerId="ADAL" clId="{FFC2E796-BF0A-4A02-9544-2D4D0A5B7518}" dt="2026-07-13T22:04:28.348" v="3710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2:56.264" v="590" actId="20577"/>
          <ac:spMkLst>
            <pc:docMk/>
            <pc:sldMk cId="0" sldId="261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27T15:01:55.181" v="4715" actId="20577"/>
        <pc:sldMkLst>
          <pc:docMk/>
          <pc:sldMk cId="0" sldId="262"/>
        </pc:sldMkLst>
        <pc:spChg chg="mod">
          <ac:chgData name="Cesar Larios Jurado" userId="8f104481-d9ab-4cdc-ac3e-e12ab067789a" providerId="ADAL" clId="{FFC2E796-BF0A-4A02-9544-2D4D0A5B7518}" dt="2026-07-27T15:01:55.181" v="4715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06.070" v="661" actId="205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3:16.657" v="599" actId="20577"/>
          <ac:spMkLst>
            <pc:docMk/>
            <pc:sldMk cId="0" sldId="262"/>
            <ac:spMk id="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07T15:57:15.387" v="689" actId="2"/>
        <pc:sldMkLst>
          <pc:docMk/>
          <pc:sldMk cId="0" sldId="263"/>
        </pc:sldMkLst>
        <pc:spChg chg="mod">
          <ac:chgData name="Cesar Larios Jurado" userId="8f104481-d9ab-4cdc-ac3e-e12ab067789a" providerId="ADAL" clId="{FFC2E796-BF0A-4A02-9544-2D4D0A5B7518}" dt="2026-07-07T15:57:15.387" v="689" actId="2"/>
          <ac:spMkLst>
            <pc:docMk/>
            <pc:sldMk cId="0" sldId="263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5:56:36.361" v="684" actId="20577"/>
          <ac:spMkLst>
            <pc:docMk/>
            <pc:sldMk cId="0" sldId="263"/>
            <ac:spMk id="7" creationId="{00000000-0000-0000-0000-000000000000}"/>
          </ac:spMkLst>
        </pc:spChg>
      </pc:sldChg>
      <pc:sldChg chg="delSp modSp add del mod setBg modNotesTx">
        <pc:chgData name="Cesar Larios Jurado" userId="8f104481-d9ab-4cdc-ac3e-e12ab067789a" providerId="ADAL" clId="{FFC2E796-BF0A-4A02-9544-2D4D0A5B7518}" dt="2026-07-13T22:10:50.616" v="3759" actId="20577"/>
        <pc:sldMkLst>
          <pc:docMk/>
          <pc:sldMk cId="0" sldId="264"/>
        </pc:sldMkLst>
        <pc:spChg chg="mod">
          <ac:chgData name="Cesar Larios Jurado" userId="8f104481-d9ab-4cdc-ac3e-e12ab067789a" providerId="ADAL" clId="{FFC2E796-BF0A-4A02-9544-2D4D0A5B7518}" dt="2026-07-13T22:08:02.997" v="3733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03.763" v="3750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09:46.846" v="3751" actId="20577"/>
          <ac:spMkLst>
            <pc:docMk/>
            <pc:sldMk cId="0" sldId="264"/>
            <ac:spMk id="12" creationId="{00000000-0000-0000-0000-000000000000}"/>
          </ac:spMkLst>
        </pc:spChg>
      </pc:sldChg>
      <pc:sldChg chg="delSp modSp add del mod setBg chgLayout">
        <pc:chgData name="Cesar Larios Jurado" userId="8f104481-d9ab-4cdc-ac3e-e12ab067789a" providerId="ADAL" clId="{FFC2E796-BF0A-4A02-9544-2D4D0A5B7518}" dt="2026-07-13T18:07:45.742" v="2780" actId="255"/>
        <pc:sldMkLst>
          <pc:docMk/>
          <pc:sldMk cId="0" sldId="265"/>
        </pc:sldMkLst>
        <pc:spChg chg="mod">
          <ac:chgData name="Cesar Larios Jurado" userId="8f104481-d9ab-4cdc-ac3e-e12ab067789a" providerId="ADAL" clId="{FFC2E796-BF0A-4A02-9544-2D4D0A5B7518}" dt="2026-07-13T18:07:45.742" v="2780" actId="255"/>
          <ac:spMkLst>
            <pc:docMk/>
            <pc:sldMk cId="0" sldId="265"/>
            <ac:spMk id="6" creationId="{00000000-0000-0000-0000-000000000000}"/>
          </ac:spMkLst>
        </pc:spChg>
      </pc:sldChg>
      <pc:sldChg chg="modSp add del mod setBg">
        <pc:chgData name="Cesar Larios Jurado" userId="8f104481-d9ab-4cdc-ac3e-e12ab067789a" providerId="ADAL" clId="{FFC2E796-BF0A-4A02-9544-2D4D0A5B7518}" dt="2026-07-13T22:12:57.812" v="3791" actId="1035"/>
        <pc:sldMkLst>
          <pc:docMk/>
          <pc:sldMk cId="0" sldId="284"/>
        </pc:sldMkLst>
        <pc:spChg chg="mod">
          <ac:chgData name="Cesar Larios Jurado" userId="8f104481-d9ab-4cdc-ac3e-e12ab067789a" providerId="ADAL" clId="{FFC2E796-BF0A-4A02-9544-2D4D0A5B7518}" dt="2026-07-13T15:12:56.632" v="1042" actId="20577"/>
          <ac:spMkLst>
            <pc:docMk/>
            <pc:sldMk cId="0" sldId="284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57.812" v="3791" actId="1035"/>
          <ac:spMkLst>
            <pc:docMk/>
            <pc:sldMk cId="0" sldId="284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2:26.589" v="83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4:11.667" v="2892" actId="20577"/>
          <ac:spMkLst>
            <pc:docMk/>
            <pc:sldMk cId="0" sldId="284"/>
            <ac:spMk id="11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19:52.123" v="3827" actId="6549"/>
        <pc:sldMkLst>
          <pc:docMk/>
          <pc:sldMk cId="0" sldId="285"/>
        </pc:sldMkLst>
        <pc:spChg chg="mod">
          <ac:chgData name="Cesar Larios Jurado" userId="8f104481-d9ab-4cdc-ac3e-e12ab067789a" providerId="ADAL" clId="{FFC2E796-BF0A-4A02-9544-2D4D0A5B7518}" dt="2026-07-13T18:14:54.898" v="2901" actId="1035"/>
          <ac:spMkLst>
            <pc:docMk/>
            <pc:sldMk cId="0" sldId="285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8:45.374" v="3807" actId="20577"/>
          <ac:spMkLst>
            <pc:docMk/>
            <pc:sldMk cId="0" sldId="285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9:52.123" v="3827" actId="6549"/>
          <ac:spMkLst>
            <pc:docMk/>
            <pc:sldMk cId="0" sldId="285"/>
            <ac:spMk id="1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17:41.174" v="2953" actId="20577"/>
          <ac:spMkLst>
            <pc:docMk/>
            <pc:sldMk cId="0" sldId="285"/>
            <ac:spMk id="17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22:28:42.022" v="4151" actId="20577"/>
        <pc:sldMkLst>
          <pc:docMk/>
          <pc:sldMk cId="0" sldId="286"/>
        </pc:sldMkLst>
        <pc:spChg chg="mod">
          <ac:chgData name="Cesar Larios Jurado" userId="8f104481-d9ab-4cdc-ac3e-e12ab067789a" providerId="ADAL" clId="{FFC2E796-BF0A-4A02-9544-2D4D0A5B7518}" dt="2026-07-13T18:22:11.790" v="3030" actId="20577"/>
          <ac:spMkLst>
            <pc:docMk/>
            <pc:sldMk cId="0" sldId="286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2:27.283" v="3044" actId="20577"/>
          <ac:spMkLst>
            <pc:docMk/>
            <pc:sldMk cId="0" sldId="286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7:11.453" v="3070" actId="207"/>
          <ac:spMkLst>
            <pc:docMk/>
            <pc:sldMk cId="0" sldId="286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5.932" v="856" actId="2"/>
          <ac:spMkLst>
            <pc:docMk/>
            <pc:sldMk cId="0" sldId="286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19.274" v="863" actId="2"/>
          <ac:spMkLst>
            <pc:docMk/>
            <pc:sldMk cId="0" sldId="28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2.602" v="865" actId="2"/>
          <ac:spMkLst>
            <pc:docMk/>
            <pc:sldMk cId="0" sldId="286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27.162" v="873" actId="2"/>
          <ac:spMkLst>
            <pc:docMk/>
            <pc:sldMk cId="0" sldId="286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16:14:30.972" v="877" actId="2"/>
          <ac:spMkLst>
            <pc:docMk/>
            <pc:sldMk cId="0" sldId="286"/>
            <ac:spMk id="1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8T19:36:19.718" v="928" actId="20577"/>
          <ac:spMkLst>
            <pc:docMk/>
            <pc:sldMk cId="0" sldId="286"/>
            <ac:spMk id="1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5:56.346" v="3047" actId="14100"/>
          <ac:spMkLst>
            <pc:docMk/>
            <pc:sldMk cId="0" sldId="286"/>
            <ac:spMk id="1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26:01.817" v="3048" actId="1076"/>
          <ac:spMkLst>
            <pc:docMk/>
            <pc:sldMk cId="0" sldId="286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8:42.022" v="4151" actId="20577"/>
          <ac:spMkLst>
            <pc:docMk/>
            <pc:sldMk cId="0" sldId="286"/>
            <ac:spMk id="20" creationId="{00000000-0000-0000-0000-000000000000}"/>
          </ac:spMkLst>
        </pc:spChg>
      </pc:sldChg>
      <pc:sldChg chg="delSp modSp add del mod setBg">
        <pc:chgData name="Cesar Larios Jurado" userId="8f104481-d9ab-4cdc-ac3e-e12ab067789a" providerId="ADAL" clId="{FFC2E796-BF0A-4A02-9544-2D4D0A5B7518}" dt="2026-07-13T18:30:21.029" v="3112" actId="20577"/>
        <pc:sldMkLst>
          <pc:docMk/>
          <pc:sldMk cId="0" sldId="287"/>
        </pc:sldMkLst>
        <pc:spChg chg="mod">
          <ac:chgData name="Cesar Larios Jurado" userId="8f104481-d9ab-4cdc-ac3e-e12ab067789a" providerId="ADAL" clId="{FFC2E796-BF0A-4A02-9544-2D4D0A5B7518}" dt="2026-07-07T16:16:56.745" v="897" actId="20577"/>
          <ac:spMkLst>
            <pc:docMk/>
            <pc:sldMk cId="0" sldId="28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1:43.822" v="916" actId="20577"/>
          <ac:spMkLst>
            <pc:docMk/>
            <pc:sldMk cId="0" sldId="287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07T23:52:00.714" v="925" actId="6549"/>
          <ac:spMkLst>
            <pc:docMk/>
            <pc:sldMk cId="0" sldId="287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30:21.029" v="3112" actId="20577"/>
          <ac:spMkLst>
            <pc:docMk/>
            <pc:sldMk cId="0" sldId="287"/>
            <ac:spMk id="15" creationId="{00000000-0000-0000-0000-000000000000}"/>
          </ac:spMkLst>
        </pc:spChg>
      </pc:sldChg>
      <pc:sldChg chg="delSp modSp add mod setBg modNotesTx">
        <pc:chgData name="Cesar Larios Jurado" userId="8f104481-d9ab-4cdc-ac3e-e12ab067789a" providerId="ADAL" clId="{FFC2E796-BF0A-4A02-9544-2D4D0A5B7518}" dt="2026-07-13T22:12:48.565" v="3776" actId="1035"/>
        <pc:sldMkLst>
          <pc:docMk/>
          <pc:sldMk cId="0" sldId="289"/>
        </pc:sldMkLst>
        <pc:spChg chg="mod">
          <ac:chgData name="Cesar Larios Jurado" userId="8f104481-d9ab-4cdc-ac3e-e12ab067789a" providerId="ADAL" clId="{FFC2E796-BF0A-4A02-9544-2D4D0A5B7518}" dt="2026-07-13T18:09:55.668" v="2831" actId="20577"/>
          <ac:spMkLst>
            <pc:docMk/>
            <pc:sldMk cId="0" sldId="289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1:50.416" v="3760" actId="20577"/>
          <ac:spMkLst>
            <pc:docMk/>
            <pc:sldMk cId="0" sldId="289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09:09.327" v="965" actId="20577"/>
          <ac:spMkLst>
            <pc:docMk/>
            <pc:sldMk cId="0" sldId="289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0:45.008" v="1037" actId="20577"/>
          <ac:spMkLst>
            <pc:docMk/>
            <pc:sldMk cId="0" sldId="289"/>
            <ac:spMk id="10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5:47.535" v="1074" actId="20577"/>
          <ac:spMkLst>
            <pc:docMk/>
            <pc:sldMk cId="0" sldId="289"/>
            <ac:spMk id="2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3:37.352" v="1048" actId="207"/>
          <ac:spMkLst>
            <pc:docMk/>
            <pc:sldMk cId="0" sldId="289"/>
            <ac:spMk id="2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1:35.434" v="1128" actId="20577"/>
          <ac:spMkLst>
            <pc:docMk/>
            <pc:sldMk cId="0" sldId="289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19:37.850" v="1106" actId="20577"/>
          <ac:spMkLst>
            <pc:docMk/>
            <pc:sldMk cId="0" sldId="289"/>
            <ac:spMk id="31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8:09:27.156" v="2818" actId="1036"/>
          <ac:spMkLst>
            <pc:docMk/>
            <pc:sldMk cId="0" sldId="289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12:48.565" v="3776" actId="1035"/>
          <ac:spMkLst>
            <pc:docMk/>
            <pc:sldMk cId="0" sldId="289"/>
            <ac:spMk id="33" creationId="{00000000-0000-0000-0000-000000000000}"/>
          </ac:spMkLst>
        </pc:spChg>
      </pc:sldChg>
      <pc:sldChg chg="addSp delSp modSp add mod setBg">
        <pc:chgData name="Cesar Larios Jurado" userId="8f104481-d9ab-4cdc-ac3e-e12ab067789a" providerId="ADAL" clId="{FFC2E796-BF0A-4A02-9544-2D4D0A5B7518}" dt="2026-07-17T00:34:40.565" v="4411" actId="20577"/>
        <pc:sldMkLst>
          <pc:docMk/>
          <pc:sldMk cId="0" sldId="291"/>
        </pc:sldMkLst>
        <pc:spChg chg="mod">
          <ac:chgData name="Cesar Larios Jurado" userId="8f104481-d9ab-4cdc-ac3e-e12ab067789a" providerId="ADAL" clId="{FFC2E796-BF0A-4A02-9544-2D4D0A5B7518}" dt="2026-07-13T15:25:50.335" v="1144" actId="207"/>
          <ac:spMkLst>
            <pc:docMk/>
            <pc:sldMk cId="0" sldId="291"/>
            <ac:spMk id="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0:49.392" v="3879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23.275" v="3883" actId="20577"/>
          <ac:spMkLst>
            <pc:docMk/>
            <pc:sldMk cId="0" sldId="291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3.904" v="1145" actId="207"/>
          <ac:spMkLst>
            <pc:docMk/>
            <pc:sldMk cId="0" sldId="291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5:57.077" v="1146" actId="207"/>
          <ac:spMkLst>
            <pc:docMk/>
            <pc:sldMk cId="0" sldId="291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30.616" v="3966" actId="114"/>
          <ac:spMkLst>
            <pc:docMk/>
            <pc:sldMk cId="0" sldId="291"/>
            <ac:spMk id="2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4:40.565" v="4411" actId="20577"/>
          <ac:spMkLst>
            <pc:docMk/>
            <pc:sldMk cId="0" sldId="291"/>
            <ac:spMk id="2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07.706" v="3963" actId="20577"/>
          <ac:spMkLst>
            <pc:docMk/>
            <pc:sldMk cId="0" sldId="291"/>
            <ac:spMk id="2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15:27:41.809" v="1203" actId="20577"/>
          <ac:spMkLst>
            <pc:docMk/>
            <pc:sldMk cId="0" sldId="291"/>
            <ac:spMk id="3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1:57.578" v="3884" actId="6549"/>
          <ac:spMkLst>
            <pc:docMk/>
            <pc:sldMk cId="0" sldId="291"/>
            <ac:spMk id="3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3T22:24:51.609" v="3969" actId="114"/>
          <ac:spMkLst>
            <pc:docMk/>
            <pc:sldMk cId="0" sldId="291"/>
            <ac:spMk id="34" creationId="{00000000-0000-0000-0000-000000000000}"/>
          </ac:spMkLst>
        </pc:spChg>
      </pc:sldChg>
      <pc:sldChg chg="modSp add mod">
        <pc:chgData name="Cesar Larios Jurado" userId="8f104481-d9ab-4cdc-ac3e-e12ab067789a" providerId="ADAL" clId="{FFC2E796-BF0A-4A02-9544-2D4D0A5B7518}" dt="2026-07-27T15:09:17.730" v="4735" actId="20577"/>
        <pc:sldMkLst>
          <pc:docMk/>
          <pc:sldMk cId="4011484309" sldId="294"/>
        </pc:sldMkLst>
        <pc:spChg chg="mod">
          <ac:chgData name="Cesar Larios Jurado" userId="8f104481-d9ab-4cdc-ac3e-e12ab067789a" providerId="ADAL" clId="{FFC2E796-BF0A-4A02-9544-2D4D0A5B7518}" dt="2026-07-13T22:34:27.628" v="4157" actId="113"/>
          <ac:spMkLst>
            <pc:docMk/>
            <pc:sldMk cId="4011484309" sldId="294"/>
            <ac:spMk id="5" creationId="{ED74A20D-3755-7053-A0FC-74636FE7B345}"/>
          </ac:spMkLst>
        </pc:spChg>
        <pc:spChg chg="mod">
          <ac:chgData name="Cesar Larios Jurado" userId="8f104481-d9ab-4cdc-ac3e-e12ab067789a" providerId="ADAL" clId="{FFC2E796-BF0A-4A02-9544-2D4D0A5B7518}" dt="2026-07-13T22:34:34.588" v="4158" actId="113"/>
          <ac:spMkLst>
            <pc:docMk/>
            <pc:sldMk cId="4011484309" sldId="294"/>
            <ac:spMk id="9" creationId="{8AEA6443-6D89-4D97-75F1-89D10328FCC5}"/>
          </ac:spMkLst>
        </pc:spChg>
        <pc:spChg chg="mod">
          <ac:chgData name="Cesar Larios Jurado" userId="8f104481-d9ab-4cdc-ac3e-e12ab067789a" providerId="ADAL" clId="{FFC2E796-BF0A-4A02-9544-2D4D0A5B7518}" dt="2026-07-13T22:34:42.329" v="4161" actId="1035"/>
          <ac:spMkLst>
            <pc:docMk/>
            <pc:sldMk cId="4011484309" sldId="294"/>
            <ac:spMk id="13" creationId="{93CDE8F6-2115-9E2C-BFE4-B19CB244D92B}"/>
          </ac:spMkLst>
        </pc:spChg>
        <pc:spChg chg="mod">
          <ac:chgData name="Cesar Larios Jurado" userId="8f104481-d9ab-4cdc-ac3e-e12ab067789a" providerId="ADAL" clId="{FFC2E796-BF0A-4A02-9544-2D4D0A5B7518}" dt="2026-07-13T22:35:29.712" v="4168" actId="113"/>
          <ac:spMkLst>
            <pc:docMk/>
            <pc:sldMk cId="4011484309" sldId="294"/>
            <ac:spMk id="17" creationId="{331DBF6C-4CEB-DAA8-F6DC-7FAB5281B649}"/>
          </ac:spMkLst>
        </pc:spChg>
        <pc:graphicFrameChg chg="mod modGraphic">
          <ac:chgData name="Cesar Larios Jurado" userId="8f104481-d9ab-4cdc-ac3e-e12ab067789a" providerId="ADAL" clId="{FFC2E796-BF0A-4A02-9544-2D4D0A5B7518}" dt="2026-07-13T22:39:06.562" v="4169" actId="113"/>
          <ac:graphicFrameMkLst>
            <pc:docMk/>
            <pc:sldMk cId="4011484309" sldId="294"/>
            <ac:graphicFrameMk id="3" creationId="{7C1D38A4-C5BE-AD5B-A27F-3AD6B5455A0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17.797" v="4172" actId="113"/>
          <ac:graphicFrameMkLst>
            <pc:docMk/>
            <pc:sldMk cId="4011484309" sldId="294"/>
            <ac:graphicFrameMk id="7" creationId="{A29AD682-970F-8C39-7CD0-84932514DE1B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13T22:39:35.745" v="4178" actId="113"/>
          <ac:graphicFrameMkLst>
            <pc:docMk/>
            <pc:sldMk cId="4011484309" sldId="294"/>
            <ac:graphicFrameMk id="11" creationId="{F5FE2E0E-6895-1241-CE2B-712D588A5B70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27T15:07:37.879" v="4734" actId="20577"/>
          <ac:graphicFrameMkLst>
            <pc:docMk/>
            <pc:sldMk cId="4011484309" sldId="294"/>
            <ac:graphicFrameMk id="15" creationId="{D22975B4-3E7A-3F3B-658A-EA8BA35A6D98}"/>
          </ac:graphicFrameMkLst>
        </pc:graphicFrameChg>
        <pc:graphicFrameChg chg="mod modGraphic">
          <ac:chgData name="Cesar Larios Jurado" userId="8f104481-d9ab-4cdc-ac3e-e12ab067789a" providerId="ADAL" clId="{FFC2E796-BF0A-4A02-9544-2D4D0A5B7518}" dt="2026-07-27T15:09:17.730" v="4735" actId="20577"/>
          <ac:graphicFrameMkLst>
            <pc:docMk/>
            <pc:sldMk cId="4011484309" sldId="294"/>
            <ac:graphicFrameMk id="19" creationId="{1837EAA0-BF72-681B-C42B-C7E73648A710}"/>
          </ac:graphicFrameMkLst>
        </pc:graphicFrameChg>
      </pc:sldChg>
      <pc:sldChg chg="modSp mod modShow">
        <pc:chgData name="Cesar Larios Jurado" userId="8f104481-d9ab-4cdc-ac3e-e12ab067789a" providerId="ADAL" clId="{FFC2E796-BF0A-4A02-9544-2D4D0A5B7518}" dt="2026-07-27T15:48:44.244" v="4736" actId="33524"/>
        <pc:sldMkLst>
          <pc:docMk/>
          <pc:sldMk cId="0" sldId="295"/>
        </pc:sldMkLst>
        <pc:spChg chg="mod">
          <ac:chgData name="Cesar Larios Jurado" userId="8f104481-d9ab-4cdc-ac3e-e12ab067789a" providerId="ADAL" clId="{FFC2E796-BF0A-4A02-9544-2D4D0A5B7518}" dt="2026-07-20T15:30:36.178" v="4568" actId="20577"/>
          <ac:spMkLst>
            <pc:docMk/>
            <pc:sldMk cId="0" sldId="295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0T15:31:39.032" v="4596" actId="27107"/>
          <ac:spMkLst>
            <pc:docMk/>
            <pc:sldMk cId="0" sldId="295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18:50.282" v="4179" actId="255"/>
          <ac:spMkLst>
            <pc:docMk/>
            <pc:sldMk cId="0" sldId="295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0T15:30:01.671" v="4525" actId="1037"/>
          <ac:spMkLst>
            <pc:docMk/>
            <pc:sldMk cId="0" sldId="295"/>
            <ac:spMk id="1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19:24.325" v="4186" actId="255"/>
          <ac:spMkLst>
            <pc:docMk/>
            <pc:sldMk cId="0" sldId="295"/>
            <ac:spMk id="1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7T15:48:44.244" v="4736" actId="33524"/>
          <ac:spMkLst>
            <pc:docMk/>
            <pc:sldMk cId="0" sldId="295"/>
            <ac:spMk id="16" creationId="{00000000-0000-0000-0000-000000000000}"/>
          </ac:spMkLst>
        </pc:spChg>
      </pc:sldChg>
      <pc:sldChg chg="modSp mod modShow">
        <pc:chgData name="Cesar Larios Jurado" userId="8f104481-d9ab-4cdc-ac3e-e12ab067789a" providerId="ADAL" clId="{FFC2E796-BF0A-4A02-9544-2D4D0A5B7518}" dt="2026-07-27T15:00:35.980" v="4705" actId="729"/>
        <pc:sldMkLst>
          <pc:docMk/>
          <pc:sldMk cId="0" sldId="296"/>
        </pc:sldMkLst>
        <pc:spChg chg="mod">
          <ac:chgData name="Cesar Larios Jurado" userId="8f104481-d9ab-4cdc-ac3e-e12ab067789a" providerId="ADAL" clId="{FFC2E796-BF0A-4A02-9544-2D4D0A5B7518}" dt="2026-07-17T00:22:19.392" v="4241" actId="27107"/>
          <ac:spMkLst>
            <pc:docMk/>
            <pc:sldMk cId="0" sldId="296"/>
            <ac:spMk id="6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22:26.980" v="4250" actId="1035"/>
          <ac:spMkLst>
            <pc:docMk/>
            <pc:sldMk cId="0" sldId="296"/>
            <ac:spMk id="7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23:11.325" v="4253" actId="255"/>
          <ac:spMkLst>
            <pc:docMk/>
            <pc:sldMk cId="0" sldId="296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23:26.930" v="4254" actId="255"/>
          <ac:spMkLst>
            <pc:docMk/>
            <pc:sldMk cId="0" sldId="296"/>
            <ac:spMk id="12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23:49.193" v="4255" actId="255"/>
          <ac:spMkLst>
            <pc:docMk/>
            <pc:sldMk cId="0" sldId="296"/>
            <ac:spMk id="15" creationId="{00000000-0000-0000-0000-000000000000}"/>
          </ac:spMkLst>
        </pc:spChg>
      </pc:sldChg>
      <pc:sldChg chg="modSp mod modShow">
        <pc:chgData name="Cesar Larios Jurado" userId="8f104481-d9ab-4cdc-ac3e-e12ab067789a" providerId="ADAL" clId="{FFC2E796-BF0A-4A02-9544-2D4D0A5B7518}" dt="2026-07-27T15:02:52.968" v="4716" actId="729"/>
        <pc:sldMkLst>
          <pc:docMk/>
          <pc:sldMk cId="0" sldId="297"/>
        </pc:sldMkLst>
        <pc:spChg chg="mod">
          <ac:chgData name="Cesar Larios Jurado" userId="8f104481-d9ab-4cdc-ac3e-e12ab067789a" providerId="ADAL" clId="{FFC2E796-BF0A-4A02-9544-2D4D0A5B7518}" dt="2026-07-17T00:27:35.340" v="4284" actId="20577"/>
          <ac:spMkLst>
            <pc:docMk/>
            <pc:sldMk cId="0" sldId="297"/>
            <ac:spMk id="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0:07.476" v="4304" actId="20577"/>
          <ac:spMkLst>
            <pc:docMk/>
            <pc:sldMk cId="0" sldId="297"/>
            <ac:spMk id="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0:35.026" v="4328" actId="20577"/>
          <ac:spMkLst>
            <pc:docMk/>
            <pc:sldMk cId="0" sldId="297"/>
            <ac:spMk id="1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1:00.178" v="4372" actId="20577"/>
          <ac:spMkLst>
            <pc:docMk/>
            <pc:sldMk cId="0" sldId="297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1:13.432" v="4374" actId="20577"/>
          <ac:spMkLst>
            <pc:docMk/>
            <pc:sldMk cId="0" sldId="297"/>
            <ac:spMk id="24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31:34.738" v="4390" actId="20577"/>
          <ac:spMkLst>
            <pc:docMk/>
            <pc:sldMk cId="0" sldId="297"/>
            <ac:spMk id="36" creationId="{00000000-0000-0000-0000-000000000000}"/>
          </ac:spMkLst>
        </pc:spChg>
      </pc:sldChg>
      <pc:sldChg chg="modSp mod modShow">
        <pc:chgData name="Cesar Larios Jurado" userId="8f104481-d9ab-4cdc-ac3e-e12ab067789a" providerId="ADAL" clId="{FFC2E796-BF0A-4A02-9544-2D4D0A5B7518}" dt="2026-07-24T19:06:43.638" v="4605" actId="20577"/>
        <pc:sldMkLst>
          <pc:docMk/>
          <pc:sldMk cId="0" sldId="298"/>
        </pc:sldMkLst>
        <pc:spChg chg="mod">
          <ac:chgData name="Cesar Larios Jurado" userId="8f104481-d9ab-4cdc-ac3e-e12ab067789a" providerId="ADAL" clId="{FFC2E796-BF0A-4A02-9544-2D4D0A5B7518}" dt="2026-07-24T19:06:25.066" v="4602" actId="20577"/>
          <ac:spMkLst>
            <pc:docMk/>
            <pc:sldMk cId="0" sldId="298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4T19:06:43.638" v="4605" actId="20577"/>
          <ac:spMkLst>
            <pc:docMk/>
            <pc:sldMk cId="0" sldId="298"/>
            <ac:spMk id="12" creationId="{00000000-0000-0000-0000-000000000000}"/>
          </ac:spMkLst>
        </pc:spChg>
      </pc:sldChg>
      <pc:sldChg chg="modSp mod modShow">
        <pc:chgData name="Cesar Larios Jurado" userId="8f104481-d9ab-4cdc-ac3e-e12ab067789a" providerId="ADAL" clId="{FFC2E796-BF0A-4A02-9544-2D4D0A5B7518}" dt="2026-07-27T15:05:08.942" v="4717" actId="729"/>
        <pc:sldMkLst>
          <pc:docMk/>
          <pc:sldMk cId="0" sldId="299"/>
        </pc:sldMkLst>
        <pc:spChg chg="mod">
          <ac:chgData name="Cesar Larios Jurado" userId="8f104481-d9ab-4cdc-ac3e-e12ab067789a" providerId="ADAL" clId="{FFC2E796-BF0A-4A02-9544-2D4D0A5B7518}" dt="2026-07-17T00:37:09.315" v="4449" actId="20577"/>
          <ac:spMkLst>
            <pc:docMk/>
            <pc:sldMk cId="0" sldId="299"/>
            <ac:spMk id="5" creationId="{00000000-0000-0000-0000-000000000000}"/>
          </ac:spMkLst>
        </pc:spChg>
      </pc:sldChg>
      <pc:sldChg chg="mod modShow">
        <pc:chgData name="Cesar Larios Jurado" userId="8f104481-d9ab-4cdc-ac3e-e12ab067789a" providerId="ADAL" clId="{FFC2E796-BF0A-4A02-9544-2D4D0A5B7518}" dt="2026-07-27T15:05:11.904" v="4718" actId="729"/>
        <pc:sldMkLst>
          <pc:docMk/>
          <pc:sldMk cId="0" sldId="300"/>
        </pc:sldMkLst>
      </pc:sldChg>
      <pc:sldChg chg="modSp mod modShow">
        <pc:chgData name="Cesar Larios Jurado" userId="8f104481-d9ab-4cdc-ac3e-e12ab067789a" providerId="ADAL" clId="{FFC2E796-BF0A-4A02-9544-2D4D0A5B7518}" dt="2026-07-27T15:05:25.685" v="4719" actId="729"/>
        <pc:sldMkLst>
          <pc:docMk/>
          <pc:sldMk cId="0" sldId="301"/>
        </pc:sldMkLst>
        <pc:spChg chg="mod">
          <ac:chgData name="Cesar Larios Jurado" userId="8f104481-d9ab-4cdc-ac3e-e12ab067789a" providerId="ADAL" clId="{FFC2E796-BF0A-4A02-9544-2D4D0A5B7518}" dt="2026-07-17T00:40:31.961" v="4450" actId="14100"/>
          <ac:spMkLst>
            <pc:docMk/>
            <pc:sldMk cId="0" sldId="301"/>
            <ac:spMk id="19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17T00:40:37.111" v="4451" actId="14100"/>
          <ac:spMkLst>
            <pc:docMk/>
            <pc:sldMk cId="0" sldId="301"/>
            <ac:spMk id="20" creationId="{00000000-0000-0000-0000-000000000000}"/>
          </ac:spMkLst>
        </pc:spChg>
      </pc:sldChg>
      <pc:sldChg chg="modSp mod modShow">
        <pc:chgData name="Cesar Larios Jurado" userId="8f104481-d9ab-4cdc-ac3e-e12ab067789a" providerId="ADAL" clId="{FFC2E796-BF0A-4A02-9544-2D4D0A5B7518}" dt="2026-07-27T15:06:03.392" v="4726" actId="729"/>
        <pc:sldMkLst>
          <pc:docMk/>
          <pc:sldMk cId="0" sldId="302"/>
        </pc:sldMkLst>
        <pc:spChg chg="mod">
          <ac:chgData name="Cesar Larios Jurado" userId="8f104481-d9ab-4cdc-ac3e-e12ab067789a" providerId="ADAL" clId="{FFC2E796-BF0A-4A02-9544-2D4D0A5B7518}" dt="2026-07-27T15:05:48.497" v="4725" actId="20577"/>
          <ac:spMkLst>
            <pc:docMk/>
            <pc:sldMk cId="0" sldId="302"/>
            <ac:spMk id="3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4T19:13:22.013" v="4636" actId="20577"/>
          <ac:spMkLst>
            <pc:docMk/>
            <pc:sldMk cId="0" sldId="302"/>
            <ac:spMk id="5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7T14:56:00.128" v="4647" actId="20577"/>
          <ac:spMkLst>
            <pc:docMk/>
            <pc:sldMk cId="0" sldId="302"/>
            <ac:spMk id="8" creationId="{00000000-0000-0000-0000-000000000000}"/>
          </ac:spMkLst>
        </pc:spChg>
        <pc:spChg chg="mod">
          <ac:chgData name="Cesar Larios Jurado" userId="8f104481-d9ab-4cdc-ac3e-e12ab067789a" providerId="ADAL" clId="{FFC2E796-BF0A-4A02-9544-2D4D0A5B7518}" dt="2026-07-27T14:57:58.234" v="4703" actId="20577"/>
          <ac:spMkLst>
            <pc:docMk/>
            <pc:sldMk cId="0" sldId="302"/>
            <ac:spMk id="10" creationId="{00000000-0000-0000-0000-000000000000}"/>
          </ac:spMkLst>
        </pc:spChg>
      </pc:sldChg>
      <pc:sldMasterChg chg="setBg delSldLayout modSldLayout">
        <pc:chgData name="Cesar Larios Jurado" userId="8f104481-d9ab-4cdc-ac3e-e12ab067789a" providerId="ADAL" clId="{FFC2E796-BF0A-4A02-9544-2D4D0A5B7518}" dt="2026-07-13T17:02:56.166" v="1597" actId="47"/>
        <pc:sldMasterMkLst>
          <pc:docMk/>
          <pc:sldMasterMk cId="191394448" sldId="2147483648"/>
        </pc:sldMasterMkLst>
        <pc:sldLayoutChg chg="setBg">
          <pc:chgData name="Cesar Larios Jurado" userId="8f104481-d9ab-4cdc-ac3e-e12ab067789a" providerId="ADAL" clId="{FFC2E796-BF0A-4A02-9544-2D4D0A5B7518}" dt="2026-07-07T16:17:48.574" v="899"/>
          <pc:sldLayoutMkLst>
            <pc:docMk/>
            <pc:sldMasterMk cId="191394448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43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 y SOAR</a:t>
            </a:r>
            <a:r>
              <a:rPr lang="es-MX" dirty="0"/>
              <a:t> son dos sistemas de ciberseguridad complementarios: </a:t>
            </a:r>
          </a:p>
          <a:p>
            <a:endParaRPr lang="es-MX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SIEM</a:t>
            </a:r>
            <a:r>
              <a:rPr lang="es-MX" dirty="0"/>
              <a:t> recopila y analiza datos para detectar amenazas,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dirty="0"/>
              <a:t>El </a:t>
            </a:r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SOAR</a:t>
            </a:r>
            <a:r>
              <a:rPr lang="es-MX" dirty="0"/>
              <a:t> automatiza la respuesta a incidentes y ambos trabajan juntos para optimizar el trabajo del equipo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s-MX" dirty="0"/>
              <a:t> (Capital </a:t>
            </a:r>
            <a:r>
              <a:rPr lang="es-MX" dirty="0" err="1"/>
              <a:t>Expenditure</a:t>
            </a:r>
            <a:r>
              <a:rPr lang="es-MX" dirty="0"/>
              <a:t>) es el gasto de capital que realiza una empresa para adquirir, mejorar o mantener activos físicos a largo plazo, </a:t>
            </a:r>
          </a:p>
          <a:p>
            <a:r>
              <a:rPr lang="es-MX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OPEX</a:t>
            </a:r>
            <a:r>
              <a:rPr lang="es-MX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(Gastos Operativos o de Operación) son los </a:t>
            </a:r>
            <a:r>
              <a:rPr lang="es-MX" dirty="0"/>
              <a:t>costos recurrentes que una empresa asume para mantener sus operaciones diarias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70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d163c78ac4ea79669d1e45591d23c5a0.jpg"/>
          <p:cNvPicPr>
            <a:picLocks noChangeAspect="1"/>
          </p:cNvPicPr>
          <p:nvPr/>
        </p:nvPicPr>
        <p:blipFill>
          <a:blip r:embed="rId3"/>
          <a:srcRect t="7038" b="703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81C36">
              <a:alpha val="82000"/>
            </a:srgbClr>
          </a:solidFill>
          <a:ln/>
        </p:spPr>
        <p:txBody>
          <a:bodyPr/>
          <a:lstStyle/>
          <a:p>
            <a:r>
              <a:rPr lang="es-MX" dirty="0"/>
              <a:t> </a:t>
            </a:r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81C36">
              <a:alpha val="62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02920" cy="6400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6" name="Text 3"/>
          <p:cNvSpPr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PREVENTA TÉCNICA  ·  PROPUESTA DE VALOR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19" y="1737360"/>
            <a:ext cx="790252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Azure: Servicios de Cloud | Migración | DRP | VDI | Backup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31012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se encuentran alineados al Cloud Adoption Framework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Estrategia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Adopción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| </a:t>
            </a:r>
            <a:r>
              <a:rPr lang="en-US" sz="1400" b="1" dirty="0" err="1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Gobierno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400" b="1" dirty="0">
                <a:solidFill>
                  <a:srgbClr val="6F94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 </a:t>
            </a:r>
            <a:r>
              <a:rPr lang="en-US" sz="14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Administración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EJECUTIVO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Los servicios de la nube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Vista Global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entrar al detalle: esto es lo que proponemos, cómo lo ejecutamos y qué se van a obtener. El resto de la sesión desarrolla cada uno de estos tres puntos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Frenar la fuga de agilidad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fuera de la nube cuesta más tiempo, más riesgo y más gasto fijo frente a quienes ya migraron.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543666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PROPUESTA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paquetes, 1 marco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Migración, DRP, VDI y Backup sobre Azure, ejecutados con el Cloud Adoption Framework de Microsoft.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RESULTADO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medible por ola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CAPEX/OPEX, continuidad garantizada y una base </a:t>
            </a:r>
            <a:r>
              <a:rPr lang="en-US" sz="1000" dirty="0" err="1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para-IA, visible desde los primeros 90 días.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3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CONTEXTO ACTUAL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La nube dejó de ser una tendencia. 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nueva base del negocio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645520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general las organizaciones que ya operan en la nube toman decisiones más rápido, protegen mejor su información y liberan a sus equipos de la carga administrativa para crear valor. Las que no, cada mes pierden terreno frente a las que sí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Velocidad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minutos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Aprovisionar ambientes, escalar y lanzar nuevos servicios. Antes: Se tardaban semanas o meses.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de 100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de cumplimiento internacional y una inversión de Microsoft superior a mil millones de dólares al año en ciberseguridad.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Inovación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Nativa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OpenAI, Copilot, análisis de datos y automatización listos para incorporarse al negocio.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6b36a59c4b2c67f23be3023b186b6909.jpg"/>
          <p:cNvPicPr>
            <a:picLocks noChangeAspect="1"/>
          </p:cNvPicPr>
          <p:nvPr/>
        </p:nvPicPr>
        <p:blipFill>
          <a:blip r:embed="rId2"/>
          <a:srcRect l="24222" r="24222"/>
          <a:stretch/>
        </p:blipFill>
        <p:spPr>
          <a:xfrm>
            <a:off x="5598232" y="0"/>
            <a:ext cx="354576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8232" y="0"/>
            <a:ext cx="3545767" cy="5143500"/>
          </a:xfrm>
          <a:prstGeom prst="rect">
            <a:avLst/>
          </a:prstGeom>
          <a:solidFill>
            <a:srgbClr val="081C36">
              <a:alpha val="65000"/>
            </a:srgbClr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4" name="Shape 1"/>
          <p:cNvSpPr/>
          <p:nvPr/>
        </p:nvSpPr>
        <p:spPr>
          <a:xfrm>
            <a:off x="5502508" y="0"/>
            <a:ext cx="91440" cy="5143500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5" name="Text 2"/>
          <p:cNvSpPr/>
          <p:nvPr/>
        </p:nvSpPr>
        <p:spPr>
          <a:xfrm>
            <a:off x="473278" y="24618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0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C3NTRO TELECOM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73277" y="569399"/>
            <a:ext cx="49736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No solo llevamos su carga a Azure. </a:t>
            </a:r>
          </a:p>
          <a:p>
            <a:pPr algn="just"/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200" i="1" u="sng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Respondemos por el resultado</a:t>
            </a:r>
            <a:r>
              <a:rPr lang="en-US" sz="2200" i="1" dirty="0">
                <a:solidFill>
                  <a:schemeClr val="bg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1549823"/>
            <a:ext cx="4843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3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un partner de nube es elegir quién responde cuando algo falla a las 3 de la mañana. Estas son las razones por las que otros comités ya confiaron su operación crítica a nuestro equipo</a:t>
            </a:r>
            <a:r>
              <a:rPr lang="en-US" sz="120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i="1" dirty="0">
              <a:solidFill>
                <a:srgbClr val="5C748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9" name="Text 6"/>
          <p:cNvSpPr/>
          <p:nvPr/>
        </p:nvSpPr>
        <p:spPr>
          <a:xfrm>
            <a:off x="713232" y="2570599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CERTIFICACIONES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286000" y="24414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Solutions Partner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y consultores con certificaciones vigentes en Azure, seguridad y modernización de datos.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3282696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2" name="Text 9"/>
          <p:cNvSpPr/>
          <p:nvPr/>
        </p:nvSpPr>
        <p:spPr>
          <a:xfrm>
            <a:off x="713232" y="33006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86000" y="3191256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en producción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Migraciones, DRP, VDI y Backup entregados en múltiples industrias, con cargas críticas operando 24x7.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032504"/>
            <a:ext cx="54864" cy="566928"/>
          </a:xfrm>
          <a:prstGeom prst="rect">
            <a:avLst/>
          </a:prstGeom>
          <a:solidFill>
            <a:srgbClr val="27C5E6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15" name="Text 12"/>
          <p:cNvSpPr/>
          <p:nvPr/>
        </p:nvSpPr>
        <p:spPr>
          <a:xfrm>
            <a:off x="713232" y="40490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C5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286000" y="4025748"/>
            <a:ext cx="3160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50" b="1" i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se mide con KPIs acordados desde la fase de Estrategia, no solo al cierre del contrato.</a:t>
            </a:r>
            <a:endParaRPr lang="en-US" sz="100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modelos de servicio de la nube.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97700"/>
            <a:ext cx="82981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ofrece los tres modelos de Servicio. Que se combinan según la necesidad: ¿Qué controlar?, ¿Qué evitar administrar? y ¿Cuánto valor extra recibiras? Combinado con los tres modelos de despliegue de computación: Nube privada, nube pública y nube híbrida.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8293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como Servicio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293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Servidores, redes y almacenamiento bajo demanda. Tú controlas S.O. y aplicaciones.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293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8293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rápida (lift &amp; shift)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control técnico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cambio de operación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8293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8293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administrar S.O. y parches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optimización de costo si no se ajusta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293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VMs, Virtual Network, Storage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4612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24612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41757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1757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como Servicio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757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administrados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ejecutar aplicaciones sin operar </a:t>
            </a:r>
            <a:r>
              <a:rPr lang="es-MX" sz="900" noProof="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757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41757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esfuerzo operativo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automática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innovación rápida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41757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41757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ajuste de aplicaciones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control sobre el runtime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41757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Services, Azure SQL, Functions, AKS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1638362"/>
            <a:ext cx="26289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080760" y="1638362"/>
            <a:ext cx="2628900" cy="61722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252210" y="170694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252210" y="1981262"/>
            <a:ext cx="22860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como Servicio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52210" y="2358452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listas para usar. Sin instalación, sin operación.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2210" y="290709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252210" y="31128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inmediato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automáticas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por usuario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252210" y="379863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Consideraciones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252210" y="4004372"/>
            <a:ext cx="2286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limitada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proveedor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252210" y="4415852"/>
            <a:ext cx="2286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7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365, Dynamics 365, Windows 365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934EB02-72F4-0391-E055-96F5B71363B5}"/>
              </a:ext>
            </a:extLst>
          </p:cNvPr>
          <p:cNvSpPr/>
          <p:nvPr/>
        </p:nvSpPr>
        <p:spPr>
          <a:xfrm>
            <a:off x="411480" y="4788368"/>
            <a:ext cx="8298180" cy="273842"/>
          </a:xfrm>
          <a:prstGeom prst="roundRect">
            <a:avLst>
              <a:gd name="adj" fmla="val 12500"/>
            </a:avLst>
          </a:prstGeom>
          <a:solidFill>
            <a:srgbClr val="13283F">
              <a:alpha val="88000"/>
            </a:srgbClr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r>
              <a:rPr lang="en-U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Nube Privada	| 	Nube Pública	 | 	Nube Híbrida</a:t>
            </a:r>
            <a:endParaRPr lang="es-MX" sz="14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Adoption Framework: Nuestro hilo conductor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proyecto de Azure sigue seis fases. Nuestra propuesta se estructura sobre el Marco teórico de Cloud Architect Framework de Microsoft para asegurar un camino ordenado, predecible y con resultados medibles.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73723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73723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porqué del negocio, factores claves y resultados esperados.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81737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1" name="Shape 9"/>
          <p:cNvSpPr/>
          <p:nvPr/>
        </p:nvSpPr>
        <p:spPr>
          <a:xfrm>
            <a:off x="214312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214312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Descubrimiento, business case y roadmap de migración.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2326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54901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54901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613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613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Landing Zone en Azure lista para recibir cargas.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2915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1" name="Shape 19"/>
          <p:cNvSpPr/>
          <p:nvPr/>
        </p:nvSpPr>
        <p:spPr>
          <a:xfrm>
            <a:off x="495490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2" name="Text 20"/>
          <p:cNvSpPr/>
          <p:nvPr/>
        </p:nvSpPr>
        <p:spPr>
          <a:xfrm>
            <a:off x="495490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3202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202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Migrar, modernizar e innovar aprovechando la nube.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3504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36079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36079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3791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91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control de costos, cumplimiento y buenas prácticas.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44093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31" name="Shape 29"/>
          <p:cNvSpPr/>
          <p:nvPr/>
        </p:nvSpPr>
        <p:spPr>
          <a:xfrm>
            <a:off x="776668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2" name="Text 30"/>
          <p:cNvSpPr/>
          <p:nvPr/>
        </p:nvSpPr>
        <p:spPr>
          <a:xfrm>
            <a:off x="776668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40930" y="291465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Administración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continua y operación gestionada 24/7.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11480" y="4766310"/>
            <a:ext cx="8298180" cy="27432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6" name="Text 34"/>
          <p:cNvSpPr/>
          <p:nvPr/>
        </p:nvSpPr>
        <p:spPr>
          <a:xfrm>
            <a:off x="480060" y="4766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se traduce en un paquete de servicios concreto que se le ofrece al cliente.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Estrategia: alinear la nube con el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ejecutivos para entender objetivos de negocio.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los factores claves: costo, agilidad, seguridad, IA.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indicadores de éxito (KPIs) y resultados esperados.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de riesgos y restricciones (regulatorias, técnicas, operativas).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inicial y definición de patrocinador ejecutivo.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nube con base en datos, no supuestos.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entre TI y negocio desde el día uno.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clara para presentar al comité directivo.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ejecutivos de estrategia cloud.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y roadmap de alto nivel.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ejecutivo (TCO / ROI preliminar).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Plan: descubrir, cuantificar y priorizar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automatizado con Azure Migrate.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entre servidores y aplicaciones.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por valor de negocio y complejidad técnica.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descrito con TCO vs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olas de migración y quick wins.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la estrategia por carga (rehost, refactor, replace, retire, </a:t>
            </a:r>
            <a:r>
              <a:rPr lang="es-MX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rebuild, rearchitect.</a:t>
            </a:r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reales para tomar decisiones sin apostar.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accionable, listo para ejecutar.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esfuerzo del proyecto claramente definidos.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técnico y de dependencias.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y comparativo TCO.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migración por olas.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Listo: Landing Zone para soportar todo lo demás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 en Azure.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identidad con Microsoft Entra ID.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híbrida (VPN Site-to-Site).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redes, segmentación y firewalls.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seguridad, cifrado y control de accesos (RBAC).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con Infrastructure as Code (Bicep /Plantilas ARM).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sólida, segura y estandarizada para toda la nube.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retrabajos futuros y sobrecostos.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 desde el arranque.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Landing Zone.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identidad y conectividad híbrida.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IaC y baseline de seguridad.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Adoptar: migrar, modernizar e innovar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hacemos en esta fase?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la migración por olas: rehost, refactor, replace.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a servicios PaaS y contenedores donde aplique.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funcionales, de rendimiento y de seguridad por ola.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controlado con plan de rollback.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al equipo de TI y transferencia de conocimiento.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con IA (Azure OpenAI, Copilot, Fabric).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nuestro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tangibles en cada ola (ahorro, agilidad, seguridad).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incorporar IA de negocio.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que entregamos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por olas (on-premises u otra nube).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de aplicaciones y bases de datos.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DRP y VDI (paquetes específicos).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05 + 06  ·  CAF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Gobierno, seguridad y administración: Operar de una forma controlada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4009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da resultados sostenibles solo si se opera con controlada y disciplinada. Estas fases son continuas y las cubrimos como servicio administrado.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uso con Azure Policy.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costos y FinOps.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identidades y accesos (RBAC).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cumplimiento y auditoría.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24612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1" name="Text 9"/>
          <p:cNvSpPr/>
          <p:nvPr/>
        </p:nvSpPr>
        <p:spPr>
          <a:xfrm>
            <a:off x="341757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186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(SIEM /SOAR con IA).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contra ransomware y phishing.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y Conditional Access.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8076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5" name="Text 13"/>
          <p:cNvSpPr/>
          <p:nvPr/>
        </p:nvSpPr>
        <p:spPr>
          <a:xfrm>
            <a:off x="625221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proactivo 24/7.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Parches, actualizaciones y hardening.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respaldos y DRP.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ESTIMADO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toma cada fase del proyecto?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Duraciones de referencia por fase del Cloud Adoption Framework. El tiempo real se ajusta al número de cargas, olas de migración y complejidad técnica de cada ambiente del cliente.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73723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73723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435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435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semana Uno.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181737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1" name="Shape 9"/>
          <p:cNvSpPr/>
          <p:nvPr/>
        </p:nvSpPr>
        <p:spPr>
          <a:xfrm>
            <a:off x="214312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214312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024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dos.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22326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6" name="Shape 14"/>
          <p:cNvSpPr/>
          <p:nvPr/>
        </p:nvSpPr>
        <p:spPr>
          <a:xfrm>
            <a:off x="354901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7" name="Text 15"/>
          <p:cNvSpPr/>
          <p:nvPr/>
        </p:nvSpPr>
        <p:spPr>
          <a:xfrm>
            <a:off x="354901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2613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613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4En la semana tres..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62915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1" name="Shape 19"/>
          <p:cNvSpPr/>
          <p:nvPr/>
        </p:nvSpPr>
        <p:spPr>
          <a:xfrm>
            <a:off x="495490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2" name="Text 20"/>
          <p:cNvSpPr/>
          <p:nvPr/>
        </p:nvSpPr>
        <p:spPr>
          <a:xfrm>
            <a:off x="495490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3202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202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semana cuatro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03504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26" name="Shape 24"/>
          <p:cNvSpPr/>
          <p:nvPr/>
        </p:nvSpPr>
        <p:spPr>
          <a:xfrm>
            <a:off x="636079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27" name="Text 25"/>
          <p:cNvSpPr/>
          <p:nvPr/>
        </p:nvSpPr>
        <p:spPr>
          <a:xfrm>
            <a:off x="636079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37910" y="2914650"/>
            <a:ext cx="10629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3791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desde el cierre de Adoptar.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440930" y="1988820"/>
            <a:ext cx="1268730" cy="267462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31" name="Shape 29"/>
          <p:cNvSpPr/>
          <p:nvPr/>
        </p:nvSpPr>
        <p:spPr>
          <a:xfrm>
            <a:off x="7766685" y="2194560"/>
            <a:ext cx="617220" cy="617220"/>
          </a:xfrm>
          <a:prstGeom prst="ellipse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2" name="Text 30"/>
          <p:cNvSpPr/>
          <p:nvPr/>
        </p:nvSpPr>
        <p:spPr>
          <a:xfrm>
            <a:off x="7766685" y="2194560"/>
            <a:ext cx="6172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40930" y="2914650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Administración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3291840"/>
            <a:ext cx="106299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Continuo, servicio administrado.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411480" y="4766310"/>
            <a:ext cx="8298180" cy="274320"/>
          </a:xfrm>
          <a:prstGeom prst="roundRect">
            <a:avLst>
              <a:gd name="adj" fmla="val 1250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6" name="Text 34"/>
          <p:cNvSpPr/>
          <p:nvPr/>
        </p:nvSpPr>
        <p:spPr>
          <a:xfrm>
            <a:off x="480060" y="476631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rangos consideran un alcance típico; en la sesión de alineación acordamos el cronograma específico para  cada  proyecto.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POR TIPO DE PROYECTO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el valor, una vez que el proyecto está en marcha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24009"/>
            <a:ext cx="8298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resultado típicos que hemos visto en proyectos comparables por tipo de necesidad. Los sustituimos por referencias verificables de su industria en la sesión de seguimiento.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58293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y auditoría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722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evidencia de auditoría dispersa en varios sistemas, semanas de preparación.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Landing Zone con RBAC, Azure Policy y Microsoft Sentinel centralizando el control.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tiempo de preparación de auditoría reducido de forma significativa.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cero incidentes de seguridad reportados tras la puesta en marcha.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24612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Shape 8"/>
          <p:cNvSpPr/>
          <p:nvPr/>
        </p:nvSpPr>
        <p:spPr>
          <a:xfrm>
            <a:off x="324612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1" name="Text 9"/>
          <p:cNvSpPr/>
          <p:nvPr/>
        </p:nvSpPr>
        <p:spPr>
          <a:xfrm>
            <a:off x="341757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de negocio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5186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centro de datos propio saturado, sin plan de continuidad ante fallas.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migración por olas más DRP con Azure Site Recovery y respaldo inmutable.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continuidad de negocio con un RTO acordado y probado en simulacro.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Ahorro: reducción relevante del gasto de capital en infraestructura física.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080760" y="1851660"/>
            <a:ext cx="2628900" cy="2948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1851660"/>
            <a:ext cx="2628900" cy="514350"/>
          </a:xfrm>
          <a:prstGeom prst="rect">
            <a:avLst/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5" name="Text 13"/>
          <p:cNvSpPr/>
          <p:nvPr/>
        </p:nvSpPr>
        <p:spPr>
          <a:xfrm>
            <a:off x="6252210" y="195453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híbrido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6500" y="2503170"/>
            <a:ext cx="2217420" cy="21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equipos híbridos sin acceso seguro y estandarizado a sus aplicaciones.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escritorios virtuales con AVD y Windows 365 integrados a Entra ID.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onboarding de nuevos colaboradores de días a minutos.</a:t>
            </a:r>
            <a:endParaRPr lang="en-US" sz="975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menor costo de endpoint por usuario, sin sacrificar seguridad.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-2057400"/>
            <a:ext cx="5486400" cy="54864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7063740" y="2400300"/>
            <a:ext cx="4800600" cy="48006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178308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21259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paquetes de servicios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80060" y="301752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paquetes concretos que podemos ofrecer a nuestros clientes en cualquier punto de su journey a la nube.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8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01  ·  MIGRACIÓN AAZURE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Migración a la nube: Diferentes orígenes, un mismo objetivo.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en la nube, movimiento desde otra nube o migración desde tu data center. El origen puede cambia; el destino y los beneficios son los mismos: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Modernizar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Costos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Ganar Agilidad</a:t>
            </a: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6" name="Shape 4"/>
          <p:cNvSpPr/>
          <p:nvPr/>
        </p:nvSpPr>
        <p:spPr>
          <a:xfrm>
            <a:off x="54864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54864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en la nube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870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primeras cargas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clientes que aún no están en la nube y quieren dar el primer paso con Landing Zone, cargas piloto e investigar los temas de nube.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323469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2" name="Shape 10"/>
          <p:cNvSpPr/>
          <p:nvPr/>
        </p:nvSpPr>
        <p:spPr>
          <a:xfrm>
            <a:off x="337185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37185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191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tu Data Center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191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on-premises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7185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con infraestructura propia que buscan modernizar y reducir CAPEX sin interrumpir el negocio.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6057900" y="1645920"/>
            <a:ext cx="2651760" cy="106299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8" name="Shape 16"/>
          <p:cNvSpPr/>
          <p:nvPr/>
        </p:nvSpPr>
        <p:spPr>
          <a:xfrm>
            <a:off x="6195060" y="1796796"/>
            <a:ext cx="377190" cy="377190"/>
          </a:xfrm>
          <a:prstGeom prst="ellipse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195060" y="1796796"/>
            <a:ext cx="37719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783080"/>
            <a:ext cx="18973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otra nube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2002536"/>
            <a:ext cx="1897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Privada, AWS, GCP o otras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95060" y="22631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buscan consolidar en el ecosistema Microsoft y aprovechar Azure Hybrid Benefit.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411480" y="291465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" y="3154680"/>
            <a:ext cx="41148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y análisis de dependencias (Azure Migrate).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detallado con possible TCO actual vs Azure.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Landing Zone.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migración por olas con quick wins de 90 días.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 la estrategia adecuada por carga (rehost, refactor, replace, retire Rs).</a:t>
            </a:r>
            <a:endParaRPr lang="en-US" sz="863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6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cutover, estabilización y optimización post-migración.</a:t>
            </a:r>
            <a:endParaRPr lang="en-US" sz="863" dirty="0"/>
          </a:p>
        </p:txBody>
      </p:sp>
      <p:sp>
        <p:nvSpPr>
          <p:cNvPr id="25" name="Shape 23"/>
          <p:cNvSpPr/>
          <p:nvPr/>
        </p:nvSpPr>
        <p:spPr>
          <a:xfrm>
            <a:off x="4800600" y="2914650"/>
            <a:ext cx="3909060" cy="181737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6" name="Text 24"/>
          <p:cNvSpPr/>
          <p:nvPr/>
        </p:nvSpPr>
        <p:spPr>
          <a:xfrm>
            <a:off x="4972050" y="299694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972050" y="3257550"/>
            <a:ext cx="36347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medible en CAPEX y OPEX.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Modernización sin detener la operación.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y agilidad para el negocio.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preparada para incorporar IA.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7205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7205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01–04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6858000" y="418338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58000" y="4375404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20524" y="4576387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50" dirty="0">
              <a:solidFill>
                <a:srgbClr val="00B0F0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11480" y="4764448"/>
            <a:ext cx="8298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cargas migradas  ·  Gestión de bases de datos  ·  FinOps (optimización continua del gasto)  ·  Reportes ejecutivos mensuales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02  ·  DRP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Disaster Recovery Plan sobre Azure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17789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garantizar continuidad de negocio sin invertir en un data center alterno físico.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Analysis (BIA) y definición de RTO / RPO.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DR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Site Recovery.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Azure Backup con respaldos inmutables.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documentados y automatizados.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failover no disruptivas.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Continuidad de Negocio (BCP) formal.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de DR operativo en Azure.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pruebas de recuperación.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garantizada con RTO/RPO medibles.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inversión en sitio alterno físico.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efectiva contra ransomware.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para la alineación con ISO y normativas locales.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replicaciones y respaldos.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DR periódicas (mínimo anuales).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continua del plan.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failover asistido ante incidentes reales.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0828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03  ·  VDI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Escritorios virtuales con Azure Virtual Desktop y Windows 365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que quieren habilitar trabajo híbrido seguro, reducir costos de endpoint y proteger la información sensible.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11480" y="17145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2023110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perfiles de usuario y aplicaciones.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arquitectura de VDI (AVD /Windows 365).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imágenes base de sistema y perfiles.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la integración con Microsoft Entra ID, Intune y Defender.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y despliegue por olas.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a usuarios y soporte inicial 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114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clave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7477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VDI en producción.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habilitados y capacitados.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operativa y de soporte.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4800600" y="1714500"/>
            <a:ext cx="3909060" cy="325755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4972050" y="181737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el cliente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972050" y="212598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híbrido seguro desde cualquier dispositivo.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resguardada en la nube (protección).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usuarios de horas en minutos.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TCO en el endpoint.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7205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7205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0" y="332613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58000" y="3531870"/>
            <a:ext cx="17145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2050" y="3840480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225" dirty="0">
                <a:solidFill>
                  <a:srgbClr val="0F4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72050" y="408051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imágenes y aplicaciones.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offboarding de usuarios.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de servicio a usuarios finales.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 costo por perfil.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 04  ·  BACKUP</a:t>
            </a:r>
            <a:endParaRPr lang="en-US" sz="9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respaldo integral para las Organizaciones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2981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 respaldo y restauración completo sobre Azure, diseñado para las organizaciones: Proteja sus máquinas virtuales, bases de datos, redes, cuentas de Microsoft 365 y archivos con un costo predecible y sin complejidad operativa.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411480" y="174879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protegemos?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7" name="Text 5"/>
          <p:cNvSpPr/>
          <p:nvPr/>
        </p:nvSpPr>
        <p:spPr>
          <a:xfrm>
            <a:off x="4800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Virtuales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en Azure y on-premises</a:t>
            </a:r>
            <a:endParaRPr lang="en-US" sz="713" dirty="0"/>
          </a:p>
        </p:txBody>
      </p:sp>
      <p:sp>
        <p:nvSpPr>
          <p:cNvPr id="9" name="Shape 7"/>
          <p:cNvSpPr/>
          <p:nvPr/>
        </p:nvSpPr>
        <p:spPr>
          <a:xfrm>
            <a:off x="18116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0" name="Text 8"/>
          <p:cNvSpPr/>
          <p:nvPr/>
        </p:nvSpPr>
        <p:spPr>
          <a:xfrm>
            <a:off x="18802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Discos y volúmenes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802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Disks y Azure Files</a:t>
            </a:r>
            <a:endParaRPr lang="en-US" sz="713" dirty="0"/>
          </a:p>
        </p:txBody>
      </p:sp>
      <p:sp>
        <p:nvSpPr>
          <p:cNvPr id="12" name="Shape 10"/>
          <p:cNvSpPr/>
          <p:nvPr/>
        </p:nvSpPr>
        <p:spPr>
          <a:xfrm>
            <a:off x="321183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3" name="Text 11"/>
          <p:cNvSpPr/>
          <p:nvPr/>
        </p:nvSpPr>
        <p:spPr>
          <a:xfrm>
            <a:off x="328041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8041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MySQL, PostgreSQL, MongoDB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461200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6" name="Text 14"/>
          <p:cNvSpPr/>
          <p:nvPr/>
        </p:nvSpPr>
        <p:spPr>
          <a:xfrm>
            <a:off x="468058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y VNets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058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Configuraciones, firewalls, NSGs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6012180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19" name="Text 17"/>
          <p:cNvSpPr/>
          <p:nvPr/>
        </p:nvSpPr>
        <p:spPr>
          <a:xfrm>
            <a:off x="6080760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Correo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80760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Buzones de Exchange Online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7412355" y="2023110"/>
            <a:ext cx="1297305" cy="9258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2" name="Text 20"/>
          <p:cNvSpPr/>
          <p:nvPr/>
        </p:nvSpPr>
        <p:spPr>
          <a:xfrm>
            <a:off x="7480935" y="2125980"/>
            <a:ext cx="11601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M365 – Archivos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80935" y="2503170"/>
            <a:ext cx="116014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OneDrive, SharePoint, Teams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411480" y="3120390"/>
            <a:ext cx="41148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incluye el servicio?</a:t>
            </a:r>
            <a:endParaRPr lang="en-US" sz="1125" dirty="0">
              <a:solidFill>
                <a:srgbClr val="00B0F0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360420"/>
            <a:ext cx="411480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respaldo por tipo de recurso (diaria, semanal, mensual).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flexible y cumplimiento de </a:t>
            </a:r>
            <a:r>
              <a:rPr lang="en-US" sz="825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normativas</a:t>
            </a: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cliente.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Respaldos inmutables: protección real contra ransomware.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restauración periódicas documentadas a demanda.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 ejecutivo mensual.</a:t>
            </a:r>
            <a:endParaRPr lang="en-US" sz="825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en la restauración cuando el cliente lo necesite.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800600" y="3120390"/>
            <a:ext cx="3909060" cy="161163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/>
          </a:p>
        </p:txBody>
      </p:sp>
      <p:sp>
        <p:nvSpPr>
          <p:cNvPr id="27" name="Text 25"/>
          <p:cNvSpPr/>
          <p:nvPr/>
        </p:nvSpPr>
        <p:spPr>
          <a:xfrm>
            <a:off x="4972050" y="3202686"/>
            <a:ext cx="36347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la organización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4972050" y="3463290"/>
            <a:ext cx="36347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predecible y accesible al presupuesto de una orgnización empresarial.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Tranquilidad: La información está protegida ante fallas, errores y ataques.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equipo técnico interno especializado.</a:t>
            </a:r>
            <a:endParaRPr lang="en-US" sz="825" dirty="0"/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825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sencillo con auditorías y clientes.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7205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CAF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72050" y="4491990"/>
            <a:ext cx="1714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03–06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6858000" y="4320540"/>
            <a:ext cx="17145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kern="0" spc="225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58000" y="4491990"/>
            <a:ext cx="18516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24x7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" y="4661062"/>
            <a:ext cx="82981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0" b="1" kern="0" spc="225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asociados</a:t>
            </a:r>
            <a:endParaRPr lang="en-US" sz="1130" dirty="0">
              <a:solidFill>
                <a:srgbClr val="00B0F0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91384" y="4859302"/>
            <a:ext cx="82981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diario de respaldos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Restauración asistida bajo demanda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Pruebas de recuperación periódicas  </a:t>
            </a:r>
            <a:r>
              <a:rPr lang="en-US" sz="788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r>
              <a:rPr lang="en-US" sz="788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 mensual de cumplimiento y salud del backup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y modelo comercial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Rangos de inversión por paquete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Azure: Rango medio-alto, según número de cargas y olas de migración.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DRP en Azure: Rango medio, en función del RTO/RPO objetivo y el volumen a proteger.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con Azure: Rango bajo-medio, cotizado por usuario al mes.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integral: rango bajo, cotizado por volumen de datos protegido.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exactas se entregan tras el Assessment de la Fase 2.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comercial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por consumo (OPEX) o suscripción mensual predecible.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Compromisos de 12 o 24 meses con condiciones preferenciales.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y programas de Microsoft que pueden reducir la inversión inicial.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determina el rango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y complejidad de las cargas a migrar o proteger.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soporte elegido: horario hábil vs. 24x7.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entrega: recursos propios, mixto o servicio administrado.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riesgos y mitigación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identificados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 del equipo de TI interno ante nuevas herramientas y procesos.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Sobrecostos por recursos mal dimensionados o encendidos sin optimizar.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Interrupción del negocio durante ventanas de migración o cutover.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 sensibles durante el movimiento entre entornos.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excesiva de un solo proveedor o arquitecto clave.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los mitigamos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transferencia de conocimiento incluida en cada fase.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y monitoreo continuo de costos desde el primer día en producción.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documentado y pruebas de cutover no disruptivas antes del corte final.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adicionales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 y en reposo, con control de accesos RBAC desde el Landing Zone.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y equipo ampliado, no dependiente de una sola persona.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mensuales para visibilidad temprana de cualquier desviación.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ENTREGA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en C3NTRO TELECOM.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total: Elegimos en conjunto con nuestro cliente el modelo que mejor se ajusta a su ritmo, presupuesto y criticidad operativa.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propios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Consultores y arquitectos certificados en Azure.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dedicado a tu proyecto con trato directo.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Cercanía, agilidad y acompañamiento constante.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9" name="Text 7"/>
          <p:cNvSpPr/>
          <p:nvPr/>
        </p:nvSpPr>
        <p:spPr>
          <a:xfrm>
            <a:off x="341757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tercerizado / mixto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186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tecnológicos especializados bajo nuestra gestión.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Escalamos el equipo según la demanda del proyecto.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perfiles muy específicos o proyectos grandes.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625221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administrados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650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continua con SLAs por severidad.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suscripción mensual predecible.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ejecutivos y mejora continua.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Esquemas de soporte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11480" y="4046220"/>
            <a:ext cx="8298180" cy="788670"/>
          </a:xfrm>
          <a:prstGeom prst="rect">
            <a:avLst/>
          </a:prstGeom>
          <a:solidFill>
            <a:srgbClr val="FFFFFF"/>
          </a:solidFill>
          <a:ln w="1905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0409" y="4149090"/>
            <a:ext cx="7146381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continua todos los días,  SLAs por severidad y guardias activas. Recomendado para cargas operativas críticas.  Todo desarrollado y alineado a los frameworks de Microsoft con base en las mejores prácticas de la industria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CUMPLIMIENTO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ejecuta el proyecto y bajo qué estándares.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68730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i="1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certificado y un marco de cumplimiento verificable respaldan cada fase del proyecto.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41148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6" name="Text 4"/>
          <p:cNvSpPr/>
          <p:nvPr/>
        </p:nvSpPr>
        <p:spPr>
          <a:xfrm>
            <a:off x="58293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Arquitectos 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Landing Zone, redes e identidad.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Microsoft Azure Solutions Architect Expert.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contacto técnico durante todo el proyecto.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9" name="Text 7"/>
          <p:cNvSpPr/>
          <p:nvPr/>
        </p:nvSpPr>
        <p:spPr>
          <a:xfrm>
            <a:off x="341757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Especialistas en Seguridad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186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Zero Trust y respuesta a incidentes.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Microsoft Security Operations Analyst (SC-200).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Microsoft Defender for Cloud y Sentinel.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17370"/>
            <a:ext cx="2628900" cy="171450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6252210" y="1954530"/>
            <a:ext cx="2286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Manager &amp; FinOps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6500" y="2331720"/>
            <a:ext cx="22174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del proyecto, riesgos y reportes ejecutivos.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continua del gasto en la nube (FinOps).</a:t>
            </a:r>
            <a:endParaRPr lang="en-US" sz="900" dirty="0"/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KPIs acordados desde la fase de Estrategia.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149090"/>
            <a:ext cx="8229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11480" y="4046220"/>
            <a:ext cx="8298180" cy="788670"/>
          </a:xfrm>
          <a:prstGeom prst="rect">
            <a:avLst/>
          </a:prstGeom>
          <a:solidFill>
            <a:srgbClr val="FFFFFF"/>
          </a:solidFill>
          <a:ln w="1905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9" name="Text 17"/>
          <p:cNvSpPr/>
          <p:nvPr/>
        </p:nvSpPr>
        <p:spPr>
          <a:xfrm>
            <a:off x="685800" y="4149090"/>
            <a:ext cx="1479884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Normativo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69432" y="4149090"/>
            <a:ext cx="653735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alineadas a ISO 27001, NIST CSF y los más de 100 estándares de cumplimiento de Azure. Adaptamos el diseño a la normativa específica de su industria, con base en las mejores prácticas de la industria 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288CBE-B812-46D7-00B1-868C34C11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C1D38A4-C5BE-AD5B-A27F-3AD6B5455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43506"/>
              </p:ext>
            </p:extLst>
          </p:nvPr>
        </p:nvGraphicFramePr>
        <p:xfrm>
          <a:off x="1141082" y="-2771"/>
          <a:ext cx="6977172" cy="9021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977172">
                  <a:extLst>
                    <a:ext uri="{9D8B030D-6E8A-4147-A177-3AD203B41FA5}">
                      <a16:colId xmlns:a16="http://schemas.microsoft.com/office/drawing/2014/main" val="1627321394"/>
                    </a:ext>
                  </a:extLst>
                </a:gridCol>
              </a:tblGrid>
              <a:tr h="902140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PROPUESTA DE SERVICIOS</a:t>
                      </a: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800" b="1" dirty="0">
                          <a:solidFill>
                            <a:schemeClr val="accent1"/>
                          </a:solidFill>
                          <a:effectLst/>
                        </a:rPr>
                        <a:t>Microsoft Azure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800" b="1" i="1" dirty="0">
                          <a:effectLst/>
                        </a:rPr>
                        <a:t>Servicios alineados al Cloud Adoption Framework (CAF).</a:t>
                      </a:r>
                      <a:endParaRPr lang="es-MX" sz="700" b="1" i="1" dirty="0"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lang="es-MX" sz="600" dirty="0">
                          <a:effectLst/>
                        </a:rPr>
                        <a:t>Estrategia | Plan | Listo | Adopción | Gobierno | Administración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52400" marR="152400" marT="95417" marB="95417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87078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ED74A20D-3755-7053-A0FC-74636FE7B345}"/>
              </a:ext>
            </a:extLst>
          </p:cNvPr>
          <p:cNvSpPr txBox="1"/>
          <p:nvPr/>
        </p:nvSpPr>
        <p:spPr>
          <a:xfrm>
            <a:off x="1074360" y="892332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¿POR QUÉ AZURE?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A29AD682-970F-8C39-7CD0-84932514D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954266"/>
              </p:ext>
            </p:extLst>
          </p:nvPr>
        </p:nvGraphicFramePr>
        <p:xfrm>
          <a:off x="1147856" y="1081245"/>
          <a:ext cx="6981757" cy="773689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80566">
                  <a:extLst>
                    <a:ext uri="{9D8B030D-6E8A-4147-A177-3AD203B41FA5}">
                      <a16:colId xmlns:a16="http://schemas.microsoft.com/office/drawing/2014/main" val="1894141603"/>
                    </a:ext>
                  </a:extLst>
                </a:gridCol>
                <a:gridCol w="205575">
                  <a:extLst>
                    <a:ext uri="{9D8B030D-6E8A-4147-A177-3AD203B41FA5}">
                      <a16:colId xmlns:a16="http://schemas.microsoft.com/office/drawing/2014/main" val="2891747635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340390749"/>
                    </a:ext>
                  </a:extLst>
                </a:gridCol>
                <a:gridCol w="234484">
                  <a:extLst>
                    <a:ext uri="{9D8B030D-6E8A-4147-A177-3AD203B41FA5}">
                      <a16:colId xmlns:a16="http://schemas.microsoft.com/office/drawing/2014/main" val="3079344742"/>
                    </a:ext>
                  </a:extLst>
                </a:gridCol>
                <a:gridCol w="2180566">
                  <a:extLst>
                    <a:ext uri="{9D8B030D-6E8A-4147-A177-3AD203B41FA5}">
                      <a16:colId xmlns:a16="http://schemas.microsoft.com/office/drawing/2014/main" val="2287198491"/>
                    </a:ext>
                  </a:extLst>
                </a:gridCol>
              </a:tblGrid>
              <a:tr h="773689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Velocidad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Minutos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Aprovisionar ambientes, escalar y lanzar servicios. Antes se desarrollaban en semanas o meses.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Seguridad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100" b="1" dirty="0">
                          <a:solidFill>
                            <a:schemeClr val="accent1"/>
                          </a:solidFill>
                          <a:effectLst/>
                        </a:rPr>
                        <a:t>Más de 100 Certificaciones</a:t>
                      </a: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Cumplimiento internacional y una inversión de Microsoft, mayor a 1,000 M USD/año en ciberseguridad.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700" b="1" dirty="0">
                          <a:effectLst/>
                        </a:rPr>
                        <a:t>Innovación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1300" b="1" dirty="0">
                          <a:solidFill>
                            <a:schemeClr val="accent1"/>
                          </a:solidFill>
                          <a:effectLst/>
                        </a:rPr>
                        <a:t>IA Nativa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8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Azure OpenAI, Copilot, análisis de datos y automatización listos para 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66792" marB="66792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50216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8AEA6443-6D89-4D97-75F1-89D10328FCC5}"/>
              </a:ext>
            </a:extLst>
          </p:cNvPr>
          <p:cNvSpPr txBox="1"/>
          <p:nvPr/>
        </p:nvSpPr>
        <p:spPr>
          <a:xfrm>
            <a:off x="1087515" y="1837056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 MARCO METODOLÓGICO  </a:t>
            </a:r>
            <a:r>
              <a:rPr lang="es-MX" sz="900" b="1" dirty="0">
                <a:latin typeface="Calibri" panose="020F0502020204030204" pitchFamily="34" charset="0"/>
                <a:ea typeface="Calibri" panose="020F0502020204030204" pitchFamily="34" charset="0"/>
              </a:rPr>
              <a:t>|</a:t>
            </a: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CLOUD ADOPTION FRAMEWORK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5FE2E0E-6895-1241-CE2B-712D588A5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57243"/>
              </p:ext>
            </p:extLst>
          </p:nvPr>
        </p:nvGraphicFramePr>
        <p:xfrm>
          <a:off x="1141083" y="2009679"/>
          <a:ext cx="6981758" cy="51472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94293">
                  <a:extLst>
                    <a:ext uri="{9D8B030D-6E8A-4147-A177-3AD203B41FA5}">
                      <a16:colId xmlns:a16="http://schemas.microsoft.com/office/drawing/2014/main" val="5502600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7491010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21372229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10937144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105824937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9503824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53546061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66917767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42615725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18708458"/>
                    </a:ext>
                  </a:extLst>
                </a:gridCol>
                <a:gridCol w="994293">
                  <a:extLst>
                    <a:ext uri="{9D8B030D-6E8A-4147-A177-3AD203B41FA5}">
                      <a16:colId xmlns:a16="http://schemas.microsoft.com/office/drawing/2014/main" val="3307841198"/>
                    </a:ext>
                  </a:extLst>
                </a:gridCol>
              </a:tblGrid>
              <a:tr h="514726"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01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Estrategia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Alinear la nube con los objetivos del negocio.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02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Plan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Descubrimiento, business case y roadmap.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03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Listo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Landing Zone lista para recibir cargas.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04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Adoptar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Migrar, modernizar e innovar.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05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Gobierno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Políticas, control de costos, cumplimiento.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800" b="1" dirty="0">
                          <a:solidFill>
                            <a:schemeClr val="accent1"/>
                          </a:solidFill>
                          <a:effectLst/>
                        </a:rPr>
                        <a:t>06</a:t>
                      </a:r>
                      <a:endParaRPr lang="es-MX" sz="700" b="1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Seguridad y Administración</a:t>
                      </a:r>
                      <a:endParaRPr lang="es-MX" sz="700" b="1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s-MX" sz="500" dirty="0">
                          <a:effectLst/>
                        </a:rPr>
                        <a:t>Seguridad y operación 24/7.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8100" marR="38100" marT="47708" marB="47708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677421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CDE8F6-2115-9E2C-BFE4-B19CB244D92B}"/>
              </a:ext>
            </a:extLst>
          </p:cNvPr>
          <p:cNvSpPr txBox="1"/>
          <p:nvPr/>
        </p:nvSpPr>
        <p:spPr>
          <a:xfrm>
            <a:off x="1080783" y="2476700"/>
            <a:ext cx="60948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NUESTROS PAQUETES DE SERVICIOS C3NTRO TELECOM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D22975B4-3E7A-3F3B-658A-EA8BA35A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638012"/>
              </p:ext>
            </p:extLst>
          </p:nvPr>
        </p:nvGraphicFramePr>
        <p:xfrm>
          <a:off x="1147856" y="2646228"/>
          <a:ext cx="6981758" cy="165026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4042018893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3155009033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1146325721"/>
                    </a:ext>
                  </a:extLst>
                </a:gridCol>
              </a:tblGrid>
              <a:tr h="866148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01  ·  MIGRACIÓN A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Onboarding, desde on-premises o desde otra nube. Un mismo destino.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Assessment, business case y roadmap por olas.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Landing Zone segura y estandarizada.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Ejecución rehost /refactor /replace / retire </a:t>
                      </a:r>
                      <a:r>
                        <a:rPr lang="es-MX" sz="5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/rebuild /rearchitect.</a:t>
                      </a: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Optimización continua post-migración (FinOps).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chemeClr val="accent1"/>
                          </a:solidFill>
                          <a:effectLst/>
                        </a:rPr>
                        <a:t>PAQUETE 02  ·  DRP EN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Continuidad garantizada de acuerdo a los alcances,  sin data center alterno físico.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BIA, definición de RTO/RPO por servicio.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Azure Site Recovery  /Azure Backup inmutable.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Runbooks y pruebas de failover no disruptivas.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Protección real contra ransomware.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790902"/>
                  </a:ext>
                </a:extLst>
              </a:tr>
              <a:tr h="773403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03  ·  VDI CON AZURE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Trabajo híbrido seguro con AVD y Windows 365.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Diseño e implementación de escritorios virtuales.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Integración con Entra ID, Intune y Defender.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Copilot y Microsoft 365 optimizados nativamente.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Onboarding de usuarios en minutos.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PAQUETE 04  ·  BACKUP PARA PYME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Respaldo integral con costo predecible y sin complejidad.</a:t>
                      </a:r>
                      <a:endParaRPr lang="es-MX" sz="700" b="1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VMs, discos, bases de datos, redes y VNets.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M365: buzones, OneDrive, SharePoint, Teams.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Respaldos inmutables anti-ransomware.</a:t>
                      </a:r>
                      <a:endParaRPr lang="es-MX" sz="700" dirty="0">
                        <a:effectLst/>
                      </a:endParaRPr>
                    </a:p>
                    <a:p>
                      <a:pPr marL="127000" indent="-127000"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• Restauración asistida y pruebas periódicas.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14300" marR="1143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78015"/>
                  </a:ext>
                </a:extLst>
              </a:tr>
            </a:tbl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331DBF6C-4CEB-DAA8-F6DC-7FAB5281B649}"/>
              </a:ext>
            </a:extLst>
          </p:cNvPr>
          <p:cNvSpPr txBox="1"/>
          <p:nvPr/>
        </p:nvSpPr>
        <p:spPr>
          <a:xfrm>
            <a:off x="1072416" y="4274127"/>
            <a:ext cx="60967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buNone/>
            </a:pPr>
            <a:r>
              <a:rPr lang="es-MX" sz="9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CÓMO TRABAJAMOS CONTIGO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1837EAA0-BF72-681B-C42B-C7E73648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595353"/>
              </p:ext>
            </p:extLst>
          </p:nvPr>
        </p:nvGraphicFramePr>
        <p:xfrm>
          <a:off x="1147856" y="4486791"/>
          <a:ext cx="6981758" cy="55551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87479">
                  <a:extLst>
                    <a:ext uri="{9D8B030D-6E8A-4147-A177-3AD203B41FA5}">
                      <a16:colId xmlns:a16="http://schemas.microsoft.com/office/drawing/2014/main" val="2575173590"/>
                    </a:ext>
                  </a:extLst>
                </a:gridCol>
                <a:gridCol w="206800">
                  <a:extLst>
                    <a:ext uri="{9D8B030D-6E8A-4147-A177-3AD203B41FA5}">
                      <a16:colId xmlns:a16="http://schemas.microsoft.com/office/drawing/2014/main" val="679785069"/>
                    </a:ext>
                  </a:extLst>
                </a:gridCol>
                <a:gridCol w="3387479">
                  <a:extLst>
                    <a:ext uri="{9D8B030D-6E8A-4147-A177-3AD203B41FA5}">
                      <a16:colId xmlns:a16="http://schemas.microsoft.com/office/drawing/2014/main" val="855308820"/>
                    </a:ext>
                  </a:extLst>
                </a:gridCol>
              </a:tblGrid>
              <a:tr h="537605"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Cómo entregamos</a:t>
                      </a: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b="1" dirty="0">
                          <a:effectLst/>
                        </a:rPr>
                        <a:t>Recursos propios: Consultores y arquitectos certificados en Azure, dedicados a tu proyecto.</a:t>
                      </a:r>
                      <a:endParaRPr lang="es-MX" sz="700" b="1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s-MX" sz="500" dirty="0">
                          <a:effectLst/>
                        </a:rPr>
                        <a:t>Modelo mixto: Partner bajo nuestra gestión cuando el proyecto lo requiere.</a:t>
                      </a:r>
                      <a:endParaRPr lang="es-MX" sz="7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500" dirty="0">
                          <a:effectLst/>
                        </a:rPr>
                        <a:t>Servicios administrados: operación continua con SLAs y reportes ejecutivos mensuales.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700" dirty="0">
                          <a:effectLst/>
                        </a:rPr>
                        <a:t> </a:t>
                      </a:r>
                      <a:endParaRPr lang="es-MX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88900" marR="88900" marT="47708" marB="47708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4000"/>
                        </a:lnSpc>
                        <a:spcAft>
                          <a:spcPts val="300"/>
                        </a:spcAft>
                        <a:buNone/>
                      </a:pPr>
                      <a:r>
                        <a:rPr lang="es-MX" sz="500" b="1" dirty="0">
                          <a:solidFill>
                            <a:srgbClr val="0070C0"/>
                          </a:solidFill>
                          <a:effectLst/>
                        </a:rPr>
                        <a:t>Esquemas de soporte</a:t>
                      </a: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endParaRPr lang="es-MX" sz="600" dirty="0">
                        <a:effectLst/>
                      </a:endParaRPr>
                    </a:p>
                    <a:p>
                      <a:pPr>
                        <a:lnSpc>
                          <a:spcPct val="104000"/>
                        </a:lnSpc>
                        <a:buNone/>
                      </a:pPr>
                      <a:r>
                        <a:rPr lang="es-MX" sz="600" b="1" dirty="0">
                          <a:effectLst/>
                        </a:rPr>
                        <a:t>24x7 </a:t>
                      </a:r>
                      <a:r>
                        <a:rPr lang="es-MX" sz="500" b="1" dirty="0">
                          <a:effectLst/>
                        </a:rPr>
                        <a:t>Atención continua con SLAs por severidad y guardias activas. Cargas críticas.</a:t>
                      </a:r>
                      <a:endParaRPr lang="es-MX" sz="7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127000" marR="127000" marT="76334" marB="76334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7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484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0030"/>
            <a:ext cx="82296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13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822960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nos han preguntado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139B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seguridad y control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41148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hay una falla en Azure? El SLA de Microsoft supera 99.9% por servicio.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 dueño de los datos? Siempre el cliente(Ustedes); nosotros solo operamos.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auditar el ambiente? Sí, con acceso de solo lectura y reportes mensuales.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queremos salir de Azure? Hay plan de portabilidad; sin cláusulas de bloqueo.</a:t>
            </a:r>
            <a:endParaRPr lang="en-US" sz="1050" dirty="0"/>
          </a:p>
          <a:p>
            <a:pPr marL="257175" indent="-257175"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protegen la información al migrar? Cifrado en tránsito y en reposo, con ventanas validadas.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0600" y="1303020"/>
            <a:ext cx="3909060" cy="322326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 sz="1350" dirty="0"/>
          </a:p>
        </p:txBody>
      </p:sp>
      <p:sp>
        <p:nvSpPr>
          <p:cNvPr id="7" name="Text 5"/>
          <p:cNvSpPr/>
          <p:nvPr/>
        </p:nvSpPr>
        <p:spPr>
          <a:xfrm>
            <a:off x="4972050" y="140589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costos y operación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2050" y="171450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costo puede dispararse? FinOps y alertas de presupuesto evitan sorpresas en la factura.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que crecer el equipo de TI interno? No necesariamente; el servicio administrado cubre la operación.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el proyecto se detiene a medio camino? Cada fase se entrega valor por sí misma.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72050" y="298323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el arranque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72050" y="3291840"/>
            <a:ext cx="36347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tardamos en ver resultados? Los primeros quick wins llegan en un período aproximado de 90 días.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¿Podemos empezar con un piloto? Sí, todos los paquetes admiten un alcance piloto, finaciado de mutuo acuerdo</a:t>
            </a:r>
            <a:endParaRPr lang="en-US" sz="975" dirty="0"/>
          </a:p>
          <a:p>
            <a:pPr marL="257175" indent="-257175"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1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preparamos para la primera sesión? Solo su disponibilidad; nosotros llevamos la agenda.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435340" y="4869180"/>
            <a:ext cx="4800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dirty="0">
                <a:solidFill>
                  <a:srgbClr val="5C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57400" y="2400300"/>
            <a:ext cx="5486400" cy="5486400"/>
          </a:xfrm>
          <a:prstGeom prst="ellipse">
            <a:avLst/>
          </a:prstGeom>
          <a:solidFill>
            <a:srgbClr val="139BBE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3" name="Shape 1"/>
          <p:cNvSpPr/>
          <p:nvPr/>
        </p:nvSpPr>
        <p:spPr>
          <a:xfrm>
            <a:off x="6377940" y="-2057400"/>
            <a:ext cx="4800600" cy="4800600"/>
          </a:xfrm>
          <a:prstGeom prst="ellipse">
            <a:avLst/>
          </a:prstGeom>
          <a:solidFill>
            <a:srgbClr val="27C5E6">
              <a:alpha val="20000"/>
            </a:srgbClr>
          </a:solidFill>
          <a:ln w="12700">
            <a:solidFill>
              <a:srgbClr val="081C36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4" name="Text 2"/>
          <p:cNvSpPr/>
          <p:nvPr/>
        </p:nvSpPr>
        <p:spPr>
          <a:xfrm>
            <a:off x="480060" y="82296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450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060" y="1165860"/>
            <a:ext cx="8229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Empecemos.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480060" y="21259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CF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paquete es una puerta de entrada válida. Elegimos juntos por dónde empezar.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8" name="Text 6"/>
          <p:cNvSpPr/>
          <p:nvPr/>
        </p:nvSpPr>
        <p:spPr>
          <a:xfrm>
            <a:off x="582930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Sesión inicial de alineación.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6032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0" name="Text 8"/>
          <p:cNvSpPr/>
          <p:nvPr/>
        </p:nvSpPr>
        <p:spPr>
          <a:xfrm>
            <a:off x="2648902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Selección del paquete de arranque.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2005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2" name="Text 10"/>
          <p:cNvSpPr/>
          <p:nvPr/>
        </p:nvSpPr>
        <p:spPr>
          <a:xfrm>
            <a:off x="4714875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Kickoff del proyecto o assessment.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7977" y="2811780"/>
            <a:ext cx="1963103" cy="411480"/>
          </a:xfrm>
          <a:prstGeom prst="roundRect">
            <a:avLst>
              <a:gd name="adj" fmla="val 13333"/>
            </a:avLst>
          </a:prstGeom>
          <a:solidFill>
            <a:srgbClr val="139BBE"/>
          </a:solidFill>
          <a:ln w="12700">
            <a:solidFill>
              <a:srgbClr val="139BBE"/>
            </a:solidFill>
            <a:prstDash val="solid"/>
          </a:ln>
        </p:spPr>
        <p:txBody>
          <a:bodyPr/>
          <a:lstStyle/>
          <a:p>
            <a:endParaRPr lang="es-MX" sz="1350" dirty="0"/>
          </a:p>
        </p:txBody>
      </p:sp>
      <p:sp>
        <p:nvSpPr>
          <p:cNvPr id="14" name="Text 12"/>
          <p:cNvSpPr/>
          <p:nvPr/>
        </p:nvSpPr>
        <p:spPr>
          <a:xfrm>
            <a:off x="6780847" y="2811780"/>
            <a:ext cx="175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Resultados y decisión de siguientes olas.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nube no es el destino. Es el camino para que tú negocio continue siendo relevante.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0060" y="440055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7C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[Nombre del responsable comercial]  ·  [correo]@c3ntrotelecom.com  ·  [teléfono]  ·  c3ntrotelecom.com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4162</Words>
  <Application>Microsoft Office PowerPoint</Application>
  <PresentationFormat>Presentación en pantalla (16:9)</PresentationFormat>
  <Paragraphs>557</Paragraphs>
  <Slides>25</Slides>
  <Notes>18</Notes>
  <HiddenSlides>8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Israel Lagler Delgado</dc:creator>
  <cp:lastModifiedBy>Cesar Larios Jurado</cp:lastModifiedBy>
  <cp:revision>2</cp:revision>
  <dcterms:created xsi:type="dcterms:W3CDTF">2026-06-24T19:16:52Z</dcterms:created>
  <dcterms:modified xsi:type="dcterms:W3CDTF">2026-07-27T15:48:55Z</dcterms:modified>
</cp:coreProperties>
</file>