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560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Cumplimiento Normativo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76072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de seguridad requeridos para la implementación de SQL Always On en MUFG Bank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76072" y="694944"/>
            <a:ext cx="1280160" cy="27432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C3NTRO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862072" cy="150876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2862072" cy="50292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143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en tránsito (TLS)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389888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TLS 1.2+ en todos los endpoints de Always On (puerto 5022). Certificados emitidos por la CA interna de MUFG Bank o CA de confianza.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078992"/>
            <a:ext cx="2862072" cy="150876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78992"/>
            <a:ext cx="2862072" cy="50292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143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del S.O.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9856" y="1389888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CIS Benchmark para Windows Server 2022 en todos los nodos. Deshabilitar servicios innecesarios, firewall habilitado con reglas mínimas.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078992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78992"/>
            <a:ext cx="2788920" cy="50292"/>
          </a:xfrm>
          <a:prstGeom prst="rect">
            <a:avLst/>
          </a:prstGeom>
          <a:solidFill>
            <a:srgbClr val="FF9E02"/>
          </a:solidFill>
          <a:ln w="12700">
            <a:solidFill>
              <a:srgbClr val="FF9E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14300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de servicio 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5936" y="1389888"/>
            <a:ext cx="25328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cuenta de dominio dedicada con principio de mínimo privilegio. Nunca usar cuenta de Administrador local ni SYSTEM para el servicio SQL.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2862072" cy="150876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43200"/>
            <a:ext cx="2862072" cy="50292"/>
          </a:xfrm>
          <a:prstGeom prst="rect">
            <a:avLst/>
          </a:prstGeom>
          <a:solidFill>
            <a:srgbClr val="FF9E02"/>
          </a:solidFill>
          <a:ln w="12700">
            <a:solidFill>
              <a:srgbClr val="FF9E0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8072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de auditoría 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" y="3054096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SQL Server Audit para logins fallidos, cambios de esquema y acceso a datos sensibles. Retención de logs según políticas de MUFG Bank / CNBV.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2743200"/>
            <a:ext cx="2862072" cy="150876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743200"/>
            <a:ext cx="2862072" cy="50292"/>
          </a:xfrm>
          <a:prstGeom prst="rect">
            <a:avLst/>
          </a:prstGeom>
          <a:solidFill>
            <a:srgbClr val="815BFF"/>
          </a:solidFill>
          <a:ln w="12700">
            <a:solidFill>
              <a:srgbClr val="815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28072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accesos (IAM)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9856" y="3054096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 SQL Server alineados a grupos de AD. Revisión periódica de permisos. Separar acceso entre DBA operativo, DBA de emergencia y equipos de aplicación.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74320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743200"/>
            <a:ext cx="2788920" cy="50292"/>
          </a:xfrm>
          <a:prstGeom prst="rect">
            <a:avLst/>
          </a:prstGeom>
          <a:solidFill>
            <a:srgbClr val="815BFF"/>
          </a:solidFill>
          <a:ln w="12700">
            <a:solidFill>
              <a:srgbClr val="815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280720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regulatorio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5936" y="3054096"/>
            <a:ext cx="25328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 CNBV (Circular Única de Bancos), SOX y mejores prácticas DBAN. Evidencias de configuración segura como parte de los entregables del proyecto.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370832"/>
            <a:ext cx="8412480" cy="475488"/>
          </a:xfrm>
          <a:prstGeom prst="rect">
            <a:avLst/>
          </a:prstGeom>
          <a:solidFill>
            <a:srgbClr val="1A1F26"/>
          </a:solidFill>
          <a:ln w="12700">
            <a:solidFill>
              <a:srgbClr val="1A1F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407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Los entregables de seguridad incluyen: documento de hardening aplicado, evidencia de cifrado TLS activo, script de auditoría SQL configurado y matriz de permisos revisada y firmada.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3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560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de Almacenamiento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76072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volúmenes recomendado para optimizar el rendimiento del AG y separar cargas de I/O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76072" y="694944"/>
            <a:ext cx="1280160" cy="27432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C3NTRO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29184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280160"/>
                <a:gridCol w="1280160"/>
                <a:gridCol w="3154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 recomendada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disco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 estimado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Observación clave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(.mdf / .ndf)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D:\SQLDATA\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SSD SATA/NVMe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TB por nodo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Separado del LOG para evitar contención de I/O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de trans. (.ldf)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L:\SQLLOG\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SSD / NVMe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GB por nodo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Componente más crítico del AG. Latencia &lt; 1 ms requerida.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T:\SQLTEMPDB\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SSD dedicado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GB por nodo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archivo por núcleo lógico (máx. 8). Volumen exclusivo.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3C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B:\SQLBACKUP\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HDD / 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3x tamaño BDs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Backups en réplica secundaria preferida (fn_hadr_backup_is_preferred_replica).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S.O. / Binarios SQL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C:\ (Sistema)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SSD 500 GB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GB por nodo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mezclar con datos SQL. Incluye logs del S.O. y pagefile.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370832"/>
            <a:ext cx="8412480" cy="475488"/>
          </a:xfrm>
          <a:prstGeom prst="rect">
            <a:avLst/>
          </a:prstGeom>
          <a:solidFill>
            <a:srgbClr val="1A1F26"/>
          </a:solidFill>
          <a:ln w="12700">
            <a:solidFill>
              <a:srgbClr val="1A1F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407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NUNCA compartir el volumen del LOG (.ldf) con datos, TempDB o backups. La latencia de escritura en el LOG impacta directamente el throughput de replicación del AG.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3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560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RACI — Responsabilidades del Proyecto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76072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Responsable  |  A = Aprobador  |  C = Consultado  |  I = Informado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76072" y="694944"/>
            <a:ext cx="1280160" cy="27432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C3NTRO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Responsable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Aprobador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Consultado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9601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 Informado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3529584"/>
        </p:xfrm>
        <a:graphic>
          <a:graphicData uri="http://schemas.openxmlformats.org/drawingml/2006/table">
            <a:tbl>
              <a:tblPr/>
              <a:tblGrid>
                <a:gridCol w="3474720"/>
                <a:gridCol w="1005840"/>
                <a:gridCol w="1005840"/>
                <a:gridCol w="1005840"/>
                <a:gridCol w="96012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 del Proyecto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DBA / Arq. SQL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Líder TI / PMO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Infraestructura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/ Apps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/ Tester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Planeación e inventario AS-IS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 arquitectura AlwaysOn TO-BE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Aprovisionamiento infraestructura / WSFC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Instalación SQL Server Enterprise 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 AG, Listener y Read-Only Routing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Migración de BDs al AG (seed + sincronización)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Actualización de cadenas de conexión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 funcionales y de failover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Cutover a producción (ventana mantenimiento)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Monitoreo post-migración (30 días)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6C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442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3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560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Destino (TO-BE) — SQL Server 2022 Always 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76072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nodos Enterprise  |  Site A: Nodo Primario + Nodo Síncrono  |  Site DRP: Réplica Asíncrona  |  IPs MUFG Bank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76072" y="694944"/>
            <a:ext cx="1280160" cy="27432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C3NTRO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303520" cy="3520440"/>
          </a:xfrm>
          <a:prstGeom prst="rect">
            <a:avLst/>
          </a:prstGeom>
          <a:solidFill>
            <a:srgbClr val="1A2332"/>
          </a:solidFill>
          <a:ln w="19050">
            <a:solidFill>
              <a:srgbClr val="07BD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B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Datos Principal — Site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960120"/>
            <a:ext cx="2971800" cy="3520440"/>
          </a:xfrm>
          <a:prstGeom prst="rect">
            <a:avLst/>
          </a:prstGeom>
          <a:solidFill>
            <a:srgbClr val="1A2332"/>
          </a:solidFill>
          <a:ln w="19050">
            <a:solidFill>
              <a:srgbClr val="FF9E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1005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DRP — Site 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207008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Failover Cluster (WSFC)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1490472"/>
            <a:ext cx="2304288" cy="1188720"/>
          </a:xfrm>
          <a:prstGeom prst="roundRect">
            <a:avLst>
              <a:gd name="adj" fmla="val 5385"/>
            </a:avLst>
          </a:prstGeom>
          <a:solidFill>
            <a:srgbClr val="1E3A5F"/>
          </a:solidFill>
          <a:ln w="19050">
            <a:solidFill>
              <a:srgbClr val="07BD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36192"/>
            <a:ext cx="2048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 1 — PRIMARIO (R/W)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2022 Enterprise
</a:t>
            </a:r>
            <a:pPr indent="0" marL="0">
              <a:buNone/>
            </a:pPr>
            <a:r>
              <a:rPr lang="en-US" sz="850" dirty="0">
                <a:solidFill>
                  <a:srgbClr val="07B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10.97.38.42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Automático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= 0 | RTO &lt; 30 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490472"/>
            <a:ext cx="2304288" cy="1188720"/>
          </a:xfrm>
          <a:prstGeom prst="roundRect">
            <a:avLst>
              <a:gd name="adj" fmla="val 5385"/>
            </a:avLst>
          </a:prstGeom>
          <a:solidFill>
            <a:srgbClr val="1A3A2A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1536192"/>
            <a:ext cx="2048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 2 — SECUNDARIO (R/O)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2022 Enterprise
</a:t>
            </a:r>
            <a:pPr indent="0" marL="0">
              <a:buNone/>
            </a:pPr>
            <a:r>
              <a:rPr lang="en-US" sz="85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10.97.38.43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Secondary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preferidos aquí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88336" y="2029968"/>
            <a:ext cx="237744" cy="0"/>
          </a:xfrm>
          <a:prstGeom prst="line">
            <a:avLst/>
          </a:prstGeom>
          <a:noFill/>
          <a:ln w="25400">
            <a:solidFill>
              <a:srgbClr val="07BD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9659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7B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◄► Síncrono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41248" y="2798064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2D1F4E"/>
          </a:solidFill>
          <a:ln w="19050">
            <a:solidFill>
              <a:srgbClr val="815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834640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Listener — Punto de conexión unificado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Listener: 10.97.38.239  |  Puerto: 1433  |  Read-Only Routing activo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36192" y="2679192"/>
            <a:ext cx="0" cy="118872"/>
          </a:xfrm>
          <a:prstGeom prst="line">
            <a:avLst/>
          </a:prstGeom>
          <a:noFill/>
          <a:ln w="12700">
            <a:solidFill>
              <a:srgbClr val="815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78224" y="2679192"/>
            <a:ext cx="0" cy="118872"/>
          </a:xfrm>
          <a:prstGeom prst="line">
            <a:avLst/>
          </a:prstGeom>
          <a:noFill/>
          <a:ln w="12700">
            <a:solidFill>
              <a:srgbClr val="815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3493008"/>
            <a:ext cx="2743200" cy="475488"/>
          </a:xfrm>
          <a:prstGeom prst="roundRect">
            <a:avLst>
              <a:gd name="adj" fmla="val 13462"/>
            </a:avLst>
          </a:prstGeom>
          <a:solidFill>
            <a:srgbClr val="2D3748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511296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Contabilidad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Cadena: Server=AG-LISTENER,1433;MultiSubnetFailover=True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51760" y="3364992"/>
            <a:ext cx="0" cy="128016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61888" y="1490472"/>
            <a:ext cx="2633472" cy="1188720"/>
          </a:xfrm>
          <a:prstGeom prst="roundRect">
            <a:avLst>
              <a:gd name="adj" fmla="val 5385"/>
            </a:avLst>
          </a:prstGeom>
          <a:solidFill>
            <a:srgbClr val="3A1A00"/>
          </a:solidFill>
          <a:ln w="19050">
            <a:solidFill>
              <a:srgbClr val="FF9E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15361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 3 — DRP (Asíncrono)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2022 Enterprise
</a:t>
            </a:r>
            <a:pPr indent="0" marL="0">
              <a:buNone/>
            </a:pPr>
            <a:r>
              <a:rPr lang="en-US" sz="850" dirty="0">
                <a:solidFill>
                  <a:srgbClr val="FF9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10.97.39.34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DRP: 10.97.39.239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manual | RPO &gt; 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1993392"/>
            <a:ext cx="384048" cy="0"/>
          </a:xfrm>
          <a:prstGeom prst="line">
            <a:avLst/>
          </a:prstGeom>
          <a:noFill/>
          <a:ln w="19050">
            <a:solidFill>
              <a:srgbClr val="FF9E02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486400" y="19202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9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Asíncrono ► ►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961888" y="2798064"/>
            <a:ext cx="2633472" cy="566928"/>
          </a:xfrm>
          <a:prstGeom prst="roundRect">
            <a:avLst>
              <a:gd name="adj" fmla="val 11290"/>
            </a:avLst>
          </a:prstGeom>
          <a:solidFill>
            <a:srgbClr val="3A2800"/>
          </a:solidFill>
          <a:ln w="12700">
            <a:solidFill>
              <a:srgbClr val="FF9E0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2834640"/>
            <a:ext cx="2633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DRP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10.97.39.239  |  Puerto: 1433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4407408"/>
            <a:ext cx="146304" cy="109728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389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Repl. síncrona (RPO=0)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0" y="4407408"/>
            <a:ext cx="146304" cy="109728"/>
          </a:xfrm>
          <a:prstGeom prst="rect">
            <a:avLst/>
          </a:prstGeom>
          <a:solidFill>
            <a:srgbClr val="FF9E02"/>
          </a:solidFill>
          <a:ln w="12700">
            <a:solidFill>
              <a:srgbClr val="FF9E0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4389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Repl. asíncrona (DRP)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36592" y="4407408"/>
            <a:ext cx="146304" cy="109728"/>
          </a:xfrm>
          <a:prstGeom prst="rect">
            <a:avLst/>
          </a:prstGeom>
          <a:solidFill>
            <a:srgbClr val="815BFF"/>
          </a:solidFill>
          <a:ln w="12700">
            <a:solidFill>
              <a:srgbClr val="815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389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Listener / Routing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12864" y="4407408"/>
            <a:ext cx="146304" cy="10972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95744" y="4389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Secondary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33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560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— SQL Server 2022 + Always 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76072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técnicas para garantizar rendimiento, estabilidad y seguridad del ambiente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76072" y="694944"/>
            <a:ext cx="1280160" cy="27432"/>
          </a:xfrm>
          <a:prstGeom prst="rect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C3NTRO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" cy="274320"/>
          </a:xfrm>
          <a:prstGeom prst="ellipse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06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06070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Edition obligatorio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27101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Standard no soporta AG completo. Usar Enterprise en todos los nodos para habilitar réplicas de lectura, Read-Only Routing y hasta 9 réplicas.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65376"/>
            <a:ext cx="274320" cy="274320"/>
          </a:xfrm>
          <a:prstGeom prst="ellipse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74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828800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volúmenes de disco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203911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(D:), LOG (L:), TempDB (T:) y BACKUP (B:) en discos dedicados. El LOG requiere SSD/NVMe con latencia &lt; 1 ms para no degradar la replicación.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33472"/>
            <a:ext cx="274320" cy="274320"/>
          </a:xfrm>
          <a:prstGeom prst="ellipse">
            <a:avLst/>
          </a:prstGeom>
          <a:solidFill>
            <a:srgbClr val="07BDFA"/>
          </a:solidFill>
          <a:ln w="12700">
            <a:solidFill>
              <a:srgbClr val="07BD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42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2596896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TempDB optimizado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280720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1 archivo por núcleo lógico (máximo 8) en SSD dedicado. Misma configuración en todos los nodos del AG para comportamiento uniforme en failover.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01568"/>
            <a:ext cx="274320" cy="274320"/>
          </a:xfrm>
          <a:prstGeom prst="ellipse">
            <a:avLst/>
          </a:prstGeom>
          <a:solidFill>
            <a:srgbClr val="FF9E02"/>
          </a:solidFill>
          <a:ln w="12700">
            <a:solidFill>
              <a:srgbClr val="FF9E0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107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36499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FULL antes de incorporar al 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57530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BD debe estar en modo de recuperación FULL y contar con un backup base tomado ANTES de agregar al Availability Group.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059936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69664"/>
            <a:ext cx="274320" cy="274320"/>
          </a:xfrm>
          <a:prstGeom prst="ellipse">
            <a:avLst/>
          </a:prstGeom>
          <a:solidFill>
            <a:srgbClr val="FF9E02"/>
          </a:solidFill>
          <a:ln w="12700">
            <a:solidFill>
              <a:srgbClr val="FF9E0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788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4133088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Store habilitado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43434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Query Store en todas las BDs antes de migrar. Permite detectar regresiones de planes de ejecución post-migración y facilita el ajuste con el QTA.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1097280"/>
            <a:ext cx="274320" cy="274320"/>
          </a:xfrm>
          <a:prstGeom prst="ellipse">
            <a:avLst/>
          </a:prstGeom>
          <a:solidFill>
            <a:srgbClr val="815BFF"/>
          </a:solidFill>
          <a:ln w="12700">
            <a:solidFill>
              <a:srgbClr val="815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106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4064" y="106070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iguales en todos los nodos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4064" y="127101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réplica secundaria DEBE tener los mismos CPU y RAM que el primario. Degradar recursos en secundaria genera caídas de rendimiento durante el failover.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36592" y="1755648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1865376"/>
            <a:ext cx="274320" cy="274320"/>
          </a:xfrm>
          <a:prstGeom prst="ellipse">
            <a:avLst/>
          </a:prstGeom>
          <a:solidFill>
            <a:srgbClr val="815BFF"/>
          </a:solidFill>
          <a:ln w="12700">
            <a:solidFill>
              <a:srgbClr val="815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1874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84064" y="1828800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en réplica secundaria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84064" y="203911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AUTOMATED_BACKUP_PREFERENCE=SECONDARY. Usar sys.fn_hadr_backup_is_preferred_replica() en el SQL Agent Job para no impactar al primario.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36592" y="2523744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2633472"/>
            <a:ext cx="274320" cy="274320"/>
          </a:xfrm>
          <a:prstGeom prst="ellipse">
            <a:avLst/>
          </a:prstGeom>
          <a:solidFill>
            <a:srgbClr val="815BFF"/>
          </a:solidFill>
          <a:ln w="12700">
            <a:solidFill>
              <a:srgbClr val="815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642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84064" y="2596896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MultiSubnetFailover=True obligatorio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84064" y="280720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cadena de conexión debe incluir MultiSubnetFailover=True y ApplicationIntent (ReadOnly / ReadWrite) para aprovechar el AG Listener y el routing automático.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36592" y="3291840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6592" y="3401568"/>
            <a:ext cx="274320" cy="274320"/>
          </a:xfrm>
          <a:prstGeom prst="ellipse">
            <a:avLst/>
          </a:prstGeom>
          <a:solidFill>
            <a:srgbClr val="FF2744"/>
          </a:solidFill>
          <a:ln w="12700">
            <a:solidFill>
              <a:srgbClr val="FF2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4107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84064" y="336499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replicación dedicada (10 Gbps)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84064" y="357530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separada para el endpoint del AG (puerto 5022). Nunca mezclar con tráfico de aplicación. Habilitar Jumbo Frames (MTU 9000) para reducir overhead de CPU.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36592" y="4059936"/>
            <a:ext cx="4114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36592" y="4169664"/>
            <a:ext cx="274320" cy="274320"/>
          </a:xfrm>
          <a:prstGeom prst="ellipse">
            <a:avLst/>
          </a:prstGeom>
          <a:solidFill>
            <a:srgbClr val="FF2744"/>
          </a:solidFill>
          <a:ln w="12700">
            <a:solidFill>
              <a:srgbClr val="FF27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41788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84064" y="4133088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Sincronizar objetos de instancia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84064" y="43434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Logins, SQL Agent Jobs, Linked Servers y credenciales NO se replican con el AG. Deben recrearse manualmente en todos los nodos antes del cutover a producción.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80560" y="987552"/>
            <a:ext cx="0" cy="3858768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MUFG Bank - Secciones Adicionales SQL AlwaysOn</dc:title>
  <dc:subject>PptxGenJS Presentation</dc:subject>
  <dc:creator>PptxGenJS</dc:creator>
  <cp:lastModifiedBy>PptxGenJS</cp:lastModifiedBy>
  <cp:revision>1</cp:revision>
  <dcterms:created xsi:type="dcterms:W3CDTF">2026-05-19T05:26:38Z</dcterms:created>
  <dcterms:modified xsi:type="dcterms:W3CDTF">2026-05-19T05:26:38Z</dcterms:modified>
</cp:coreProperties>
</file>