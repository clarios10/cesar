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114800"/>
            <a:ext cx="5486400" cy="5486400"/>
          </a:xfrm>
          <a:prstGeom prst="ellipse">
            <a:avLst/>
          </a:prstGeom>
          <a:solidFill>
            <a:srgbClr val="0F6CBD">
              <a:alpha val="25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50292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SERVICIOS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alineados al Cloud Adoption Framework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274320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· Plan · Listo · Adopción · Gobierno · Administración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para: [Nombre del Cliente]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por: [Nombre de tu Empresa]  ·  Junio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nube dejó de ser una tendencia. Es la nueva base del negocio.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que ya operan en la nube toman decisiones más rápido, protegen mejor su información y liberan a sus equipos para crear valor. Las que no, cada mes pierden terreno frente a las que sí.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474720" cy="3200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Aprovisionar ambientes, escalar y lanzar nuevos servicios. Antes: semanas o meses.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474720" cy="3200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17720" y="4572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de cumplimiento internacional y una inversión de Microsoft superior a mil millones de dólares al año en ciberseguridad.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474720" cy="3200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nativa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412480" y="4572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Copilot, análisis de datos y automatización listos para incorporarse al negocio.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modelos de servicio de la nube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ofrece los tres modelos. Se combinan según la necesidad: qué controlas, qué te evitas administrar y cuánto valor extra recibes.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05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3505200" cy="82296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Servicio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redes y almacenamiento bajo demanda. Tú controlas S.O. y aplicaciones.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rápida (lift &amp; shift)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control técnico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cambio de operación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532120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administrar S.O. y parches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optimización de costo si no se ajusta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608076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VMs, Virtual Network, Storage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28160" y="2377440"/>
            <a:ext cx="3505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8160" y="2377440"/>
            <a:ext cx="3505200" cy="82296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6760" y="2468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56760" y="283464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como Servicio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6760" y="33375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administrados para ejecutar aplicaciones sin operar infraestructura.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56760" y="406908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56760" y="43434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esfuerzo operativo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automática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innovación rápida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6760" y="525780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6760" y="5532120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ajuste de aplicaciones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control sobre el runtime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56760" y="608076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Services, Azure SQL, Functions, AKS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7680" y="2377440"/>
            <a:ext cx="3505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07680" y="2377440"/>
            <a:ext cx="3505200" cy="82296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6280" y="2468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36280" y="283464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como Servicio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6280" y="33375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listas para usar. Sin instalación, sin operación.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36280" y="406908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36280" y="43434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inmediato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por usuario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36280" y="525780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6280" y="5532120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limitada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proveedor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6280" y="608076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365, Dynamics 365, Windows 365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Adoption Framework: nuestro hilo conductor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proyecto de Azure sigue seis fases. Nuestra propuesta se estructura sobre este marco de Microsoft para asegurar un camino ordenado, predecible y con resultados medibles.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691640" cy="35661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2980" y="2926080"/>
            <a:ext cx="822960" cy="82296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298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38912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porqué del negocio, drivers, resultados esperados.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651760"/>
            <a:ext cx="1691640" cy="35661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57500" y="2926080"/>
            <a:ext cx="822960" cy="82296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3886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438912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Descubrimiento, business case y roadmap de migración.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651760"/>
            <a:ext cx="1691640" cy="35661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2020" y="2926080"/>
            <a:ext cx="822960" cy="82296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202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34840" y="3886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438912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Landing Zone en Azure lista para recibir cargas.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2651760"/>
            <a:ext cx="1691640" cy="35661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06540" y="2926080"/>
            <a:ext cx="822960" cy="82296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654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3886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438912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Migrar, modernizar e innovar aprovechando la nube.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2651760"/>
            <a:ext cx="1691640" cy="35661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81060" y="2926080"/>
            <a:ext cx="822960" cy="82296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106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83880" y="3886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83880" y="438912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control de costos, cumplimiento y buenas prácticas.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21240" y="2651760"/>
            <a:ext cx="1691640" cy="35661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55580" y="2926080"/>
            <a:ext cx="822960" cy="82296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5558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058400" y="3886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Seg. y Admin.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continua y operación gestionada 24/7.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355080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se traduce en un paquete de servicios concreto que ofrecemos al cliente.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  ·  CAF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Estrategia: alinear la nube con el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ejecutivos para entender objetivos de negocio.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drivers: costo, agilidad, seguridad, 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indicadores de éxito (KPIs) y resultados esperados.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riesgos y restricciones (regulatorias, técnicas, operativas).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inicial y definición de patrocinador ejecutivo.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nube con base en datos, no supuestos.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entre TI y negocio desde el día uno.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clara para presentar al comité directivo.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ejecutivos de estrategia cloud.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visión y roadmap de alto nivel.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ejecutivo (TCO / ROI preliminar).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  ·  CAF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Plan: descubrir, cuantificar y priorizar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automatizado con Azure Migrate.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entre servidores y aplicaciones.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valor de negocio y complejidad técnica.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con TCO actual vs Azure.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olas de migración y quick wins de 90 días.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la estrategia por carga (rehost, refactor, replace, retire).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reales para tomar decisiones sin apostar.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accionable, listo para ejecutar.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esfuerzo del proyecto claramente definidos.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técnico y de dependencias.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y comparativo TCO.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migración por olas.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  ·  CAF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Listo: la Landing Zone que soporta todo lo demás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 en Azure.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identidad con Microsoft Entra ID.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híbrida (VPN Site-to-Site o ExpressRoute).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redes, segmentación y firewalls.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seguridad, cifrado y control de accesos (RBAC).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Infrastructure as Code (Bicep / Terraform).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sólida, segura y estandarizada para toda la nube.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retrabajos futuros y sobrecostos.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desde el arranque.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Landing Zone.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identidad y conectividad híbrida.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IaC y baseline de seguridad.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  ·  CAF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Adoptar: migrar, modernizar e innovar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la migración por olas: rehost, refactor, replace.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a servicios PaaS y contenedores donde aplique.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funcionales, de rendimiento y de seguridad por ola.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controlado con plan de rollback.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 TI y transferencia de conocimiento.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con IA (Azure OpenAI, Copilot, Fabric).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tangibles en cada ola (ahorro, agilidad, seguridad).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incorporar IA de negocio.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por olas (on-premises u otra nube).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de aplicaciones y bases de datos.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DRP y VDI (paquetes específicos).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05 + 06  ·  CAF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Gobierno, seguridad y administración: operar con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da resultados sostenibles solo si se opera con disciplina. Estas fases son continuas y las cubrimos como servicio administrado.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05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68880"/>
            <a:ext cx="3505200" cy="6858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56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uso con Azure Policy.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costos y FinOps.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identidades y accesos (RBAC).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cumplimiento y auditoría.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2468880"/>
            <a:ext cx="3505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8160" y="2468880"/>
            <a:ext cx="3505200" cy="6858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6760" y="26060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2480" y="3337560"/>
            <a:ext cx="2956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(SIEM/SOAR con IA).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ransomware y phishing.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y Conditional Access.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7680" y="2468880"/>
            <a:ext cx="3505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7680" y="2468880"/>
            <a:ext cx="3505200" cy="6858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6280" y="26060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82000" y="3337560"/>
            <a:ext cx="2956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proactivo 24/7.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Parches, actualizaciones y hardening.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respaldos y DRP.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F6CBD">
              <a:alpha val="20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3200400"/>
            <a:ext cx="6400800" cy="64008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Nuestros paquetes de servicios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paquetes concretos que puedes ofrecer al cliente en cualquier punto de su journey a la nube.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01  · 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en la nube: primeras cargas en Azure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aún no están en la nube y quieren dar el primer paso con bajo riesgo y resultados visibles rápidamente.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ejecutivo de 4 semanas.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automatizado con Azure Migrate.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 base.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piloto de 3 a 5 cargas de bajo riesgo.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 TI y guía de operación.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en Azure operativa.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piloto migradas y operando.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validado con datos reales.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para siguientes olas.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12080" cy="4343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victorias rápidas para justificar la inversión.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gobierno lista para escalar sin retrabajos.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del comité directivo con resultados tangibles.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01–04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5440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la Landing Zone.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respaldos de las cargas piloto.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costos post-onboarding.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02  ·  MIGRACIÓN ON-PREMISES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desde tu Data Center a Azure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con infraestructura propia que buscan modernizar, reducir CAPEX y ganar agilidad sin interrumpir el negocio.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y análisis de dependencias.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con TCO y ROI.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por olas con quick wins.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estrategias rehost, refactor, replace y retire.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cutover y estabilización por ola.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post-migración (rightsizing, reservas).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migradas y operando en Azure.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arquitectura destino.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ahorro y aprovechamiento.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12080" cy="4343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medible en CAPEX y OPEX.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a la obsolescencia tecnológica.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para picos estacionales.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preparada para incorporar IA.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02–04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5440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las cargas migradas.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bases de datos (Azure SQL, PostgreSQL).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FinOps: optimización continua del gasto.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03  ·  MIGRACIÓN ENTRE NUBES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de cargas desde otras nubes a Azure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ya están en la nube (AWS, GCP u otras) y buscan consolidar, optimizar costos o aprovechar el ecosistema Microsoft.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ambiente actual y de equivalencias en Azure.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comparativo (nube actual vs Azure).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 destino con optimizaciones.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cargas (VMs, bases de datos, contenedores).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Reconfiguración de identidad, redes y seguridad.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Aprovechamiento de Azure Hybrid Benefit.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operando en Azure con arquitectura optimizada.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ordenado del ambiente en la nube origen.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ahorros y beneficios logrados.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12080" cy="4343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con el ecosistema Microsoft.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Aprovechamiento de licencias existentes (Hybrid Benefit).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complejidad multi-nube.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IA nativa de Azure (OpenAI, Copilot).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02–04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5440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end-to-end de las cargas migradas.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control de costos en Azure.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servicios Microsoft 365 y Dynamics.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04  ·  DRP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 Plan sobre Azure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garantizar continuidad de negocio sin invertir en un data center alterno físico.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 (BIA) y definición de RTO / RPO.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DR en Azure.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Site Recovery.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Backup con respaldos inmutables.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documentados y automatizados.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failover no disruptivas.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Continuidad de Negocio (BCP) formal.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de DR operativo en Azure.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pruebas de recuperación.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12080" cy="4343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garantizada con RTO/RPO medibles.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 en sitio alterno físico.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efectiva contra ransomware.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con ISO 22301 y normativas locales.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5440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replicaciones y respaldos.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DR periódicas (mínimo anuales).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continua del plan.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failover asistido ante incidentes reales.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05  ·  VDI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Escritorios virtuales con Azure Virtual Desktop y Windows 365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habilitar trabajo híbrido seguro, reducir costos de endpoint y proteger la información sensible.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perfiles de usuario y aplicaciones.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VDI (AVD o Windows 365).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imágenes doradas y perfiles.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Microsoft Entra ID, Intune y Defender.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 y despliegue por olas.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usuarios y soporte inicial dedicado.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VDI en producción.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habilitados y capacitados.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operativa y de soporte.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12080" cy="4343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híbrido seguro desde cualquier dispositivo.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resguardada en la nube (protección real).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usuarios en minutos.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TCO en el endpoint.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5440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imágenes y aplicaciones.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offboarding de usuarios.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servicio a usuarios finales (opcional).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de costo por perfil.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ENTREGA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contigo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total: elegimos con el cliente el modelo que mejor se ajusta a su ritmo, presupuesto y criticidad operativa.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05200" cy="22860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06040"/>
            <a:ext cx="304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propios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y arquitectos certificados en Azure.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dedicado a tu proyecto con trato directo.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Cercanía, agilidad y acompañamiento constante.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8160" y="2423160"/>
            <a:ext cx="3505200" cy="22860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6760" y="2606040"/>
            <a:ext cx="304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tercerizado / mixto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2480" y="310896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tecnológicos especializados bajo nuestra gestión.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Escalamos el equipo según la demanda del proyecto.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perfiles muy específicos o proyectos grandes.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7680" y="2423160"/>
            <a:ext cx="3505200" cy="22860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6280" y="2606040"/>
            <a:ext cx="304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administrados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10896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continua con SLAs por severidad.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por suscripción mensual predecible.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y mejora continua.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Esquemas de soporte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5321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55321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de oficina, canal de tickets, mesa de ayuda. Ideal para ambientes no críticos 24/7.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539496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5321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98080" y="55321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continua todos los días con SLAs por severidad y guardias activas. Recomendado para cargas críticas.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7315200" cy="73152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2743200"/>
            <a:ext cx="6400800" cy="6400800"/>
          </a:xfrm>
          <a:prstGeom prst="ellipse">
            <a:avLst/>
          </a:prstGeom>
          <a:solidFill>
            <a:srgbClr val="0F6CBD">
              <a:alpha val="20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 juntos.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 es una puerta de entrada válida. Elegimos juntos por dónde empezar.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617470" cy="54864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4904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Sesión inicial de alineación (45 min).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4710" y="3749040"/>
            <a:ext cx="2617470" cy="54864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1870" y="374904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Selección del paquete de arranque.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9340" y="3749040"/>
            <a:ext cx="2617470" cy="54864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374904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Kickoff del proyecto o assessment.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03970" y="3749040"/>
            <a:ext cx="2617470" cy="54864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1130" y="374904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Resultados y decisión de siguientes olas.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nube no es el destino. Es el camino para que tu negocio siga siendo relevante.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 tu Empresa]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ejecutivo]  ·  [correo]  ·  [teléfono]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- Cloud Adoption Framework</dc:title>
  <dc:subject>PptxGenJS Presentation</dc:subject>
  <dc:creator>Propuesta Comercial</dc:creator>
  <cp:lastModifiedBy>Propuesta Comercial</cp:lastModifiedBy>
  <cp:revision>1</cp:revision>
  <dcterms:created xsi:type="dcterms:W3CDTF">2026-07-07T05:35:51Z</dcterms:created>
  <dcterms:modified xsi:type="dcterms:W3CDTF">2026-07-07T05:35:51Z</dcterms:modified>
</cp:coreProperties>
</file>