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5029200" cy="22860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645920"/>
            <a:ext cx="4114800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solidFill>
            <a:srgbClr val="0078D4"/>
          </a:solidFill>
          <a:ln w="25400">
            <a:solidFill>
              <a:srgbClr val="50B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57200"/>
            <a:ext cx="1645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☁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TÉCNICA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Capacidad: 20 GB  |  Evaluación y Habilitación de Almacenamiento en la Nube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10160">
            <a:solidFill>
              <a:srgbClr val="50B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4005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490118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preparada para: Cliente  |  Por: Equipo de Arquitectura Cloud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buscamos lograr?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Discovery – Propuesta Técnica  |  Confidencial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1234440"/>
            <a:ext cx="8321040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261872"/>
            <a:ext cx="8046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Descubrir, analizar y habilitar el uso óptimo de Azure Storage con una capacidad inicial de 20 GB, garantizando la correcta configuración de seguridad, rendimiento, redundancia y cumplimiento normativo, para servir como base de la estrategia de almacenamiento en la nube de la organización.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286000"/>
            <a:ext cx="54864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Diagnóstico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670048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estado actual del almacenamiento on-premise e identificar datos candidatos a migración.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286000"/>
            <a:ext cx="54864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377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Habilitación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670048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Aprovisionar y configurar cuentas de almacenamiento Azure dentro del límite de 20 GB.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38328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383280"/>
            <a:ext cx="54864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Seguridad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3767328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controles de acceso, cifrado y políticas de retención desde el primer día.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38328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383280"/>
            <a:ext cx="54864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474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Visibilidad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767328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un mapa de datos y tablero de monitoreo para la toma de decisiones.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Propuesta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y componentes clave de Azure Storage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Discovery – Propuesta Técnica  |  Confidencial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417320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0515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65960" y="1353312"/>
            <a:ext cx="25603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94560" y="1051560"/>
            <a:ext cx="1417320" cy="68580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94560" y="10515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/ AzCopy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1353312"/>
            <a:ext cx="25603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051560"/>
            <a:ext cx="1417320" cy="685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10515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(20 GB)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57800" y="1353312"/>
            <a:ext cx="25603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051560"/>
            <a:ext cx="141732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0515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/ ADLS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1353312"/>
            <a:ext cx="256032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78040" y="1051560"/>
            <a:ext cx="141732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10515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1920240"/>
            <a:ext cx="7772400" cy="502920"/>
          </a:xfrm>
          <a:prstGeom prst="rect">
            <a:avLst/>
          </a:prstGeom>
          <a:solidFill>
            <a:srgbClr val="E8F4FF"/>
          </a:solidFill>
          <a:ln w="10160">
            <a:solidFill>
              <a:srgbClr val="50B4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Azure Active Directory  |  RBAC  |  Cifrado AES-256  |  Azure Monitor  |  Lifecycle Policies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260604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2606040"/>
            <a:ext cx="54864" cy="960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2990088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de objetos para datos no estructurados. Tier Hot/Cool/Archive según frecuencia de acceso.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60604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606040"/>
            <a:ext cx="54864" cy="96012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697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Files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2990088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compartidos de archivos SMB/NFS totalmente administrados. Ideal para workloads legacy.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" y="370332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3703320"/>
            <a:ext cx="54864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Redundancia LRS/GRS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087368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copias locales (LRS) o replicación geográfica (GRS) para alta disponibilidad y DR.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70332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A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703320"/>
            <a:ext cx="54864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92040" y="4087368"/>
            <a:ext cx="38404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automáticas para mover o eliminar blobs según edad y último acceso.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Alcances del Proyecto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incluye esta propuesta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Discovery – Propuesta Técnica  |  Confidencial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1161288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0332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estado actual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34416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datos existentes, análisis de volumen, clasificación de activos de información y mapeo de dependencias.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161288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103327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Aprovisionamiento de recursos Azure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40680" y="134416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y configuración de Subscription, Resource Group, Storage Account y contenedores con límite de 20 GB.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258568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" y="2459736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459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piloto de datos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264261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controlada de datos representativos usando AzCopy / Azure Data Factory con validación de integridad.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54880" y="2258568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2459736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459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40680" y="23317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seguridad y accesos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40680" y="2642616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RBAC, políticas de acceso, cifrado en reposo y en tránsito, y Microsoft Defender for Storage.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2920" y="3557016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3758184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88720" y="3630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alertas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394106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Azure Monitor, Log Analytics y alertas de capacidad, latencia y accesos no autorizados.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54880" y="3557016"/>
            <a:ext cx="4023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758184"/>
            <a:ext cx="502920" cy="5029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36301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entregables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40680" y="3941064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arquitectura, runbooks operativos, informe de discovery y plan de escalamiento hacia producción.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Exclusiones de esta propuesta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Discovery – Propuesta Técnica  |  Confidencial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8138160" cy="457200"/>
          </a:xfrm>
          <a:prstGeom prst="rect">
            <a:avLst/>
          </a:prstGeom>
          <a:solidFill>
            <a:srgbClr val="FFF3E0"/>
          </a:solidFill>
          <a:ln w="10160">
            <a:solidFill>
              <a:srgbClr val="FF8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98755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Las siguientes actividades quedan excluidas del presente alcance y deberán ser cubiertas en fases posteriores o contratos separados.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FFD0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00200"/>
            <a:ext cx="54864" cy="9601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6733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superior a 20 GB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19659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aprovisionamiento adicional de almacenamiento que supere el límite acordado de 20 GB requiere modificación de scope.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160020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FFD0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00200"/>
            <a:ext cx="54864" cy="9601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6733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masiva de datos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96596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migración completa del inventario de datos de producción, incluyendo bases de datos relacionales o data warehouses.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269748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FFD0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2697480"/>
            <a:ext cx="54864" cy="9601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7706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aplicaciones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0632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o modificación de aplicaciones de negocio que consuman el servicio de almacenamiento.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269748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FFD0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697480"/>
            <a:ext cx="54864" cy="9601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77063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sistemas legacy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0632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o sincronización con sistemas ERP/CRM on-premise no contemplados en el inventario inicial.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" y="37947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FFD0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794760"/>
            <a:ext cx="54864" cy="9601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8679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post-entrega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1605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operativo continuo, gestión de incidentes o SLA de operación tras la entrega de los entregables.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3794760"/>
            <a:ext cx="402336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FFD0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94760"/>
            <a:ext cx="54864" cy="9601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679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83B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Multi-región / DR avanzado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416052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estrategias de recuperación ante desastres en múltiples regiones de Azure.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previos y condiciones para la ejecución del proyecto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Discovery – Propuesta Técnica  |  Confidencial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96012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960120"/>
            <a:ext cx="4023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y Permisos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1344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Suscripción activa de Azure con permisos Owner o Contributor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" y="1746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Acceso a Azure Active Directory para gestión de identidades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2148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VPN o ExpressRoute activo hacia el entorno on-premise (si aplica)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960120"/>
            <a:ext cx="4023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960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del Cliente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344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Inventario de datos a migrar (tipo, volumen, sensibilidad)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46320" y="1746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Clasificación de datos por criticidad y regulaciones aplicables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46320" y="2148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Contacto técnico designado con disponibilidad mínima 50%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2920" y="283464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834640"/>
            <a:ext cx="4023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218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Conectividad a Internet ≥ 100 Mbps en sitio de origen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36210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Servidor o equipo para instalar herramientas de discovery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4360" y="4023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Acceso a switches/firewalls para reglas de red necesarias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2834640"/>
            <a:ext cx="40233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834640"/>
            <a:ext cx="40233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834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Normativo / Legal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21868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Acuerdos de confidencialidad (NDA) firmados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846320" y="36210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Políticas internas de clasificación de información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846320" y="4023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Requisitos de cumplimiento: GDPR, ISO 27001, PCI-DSS (según aplique)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Técnicos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y herramientas de Azure requeridas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Discovery – Propuesta Técnica  |  Confidencial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74904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371600"/>
                <a:gridCol w="2194560"/>
                <a:gridCol w="1645920"/>
              </a:tblGrid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/ SKU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/ Límite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Propósito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Est. (USD/mes)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Storage Account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StorageV2 (GPv2)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cuenta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Almacenamiento principal del proyecto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$0.018/GB → ~$0.36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Blob Container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/ Cool Tier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contenedores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Organización de datos por categoría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Analytics WS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workspace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Métricas, logs y alertas de storage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~$2.76/GB ingestado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 Factory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Auto-Resolve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instancia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 de ingesta y migración de datos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~$1.00/pipeline run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Active Directory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(si se requiere)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Según usuarios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RBAC, autenticación y acceso condicional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~$6/usuario/mes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Defender for Storage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estándar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Storage Acct.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Detección de amenazas y anomalías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~$10/mes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Key Vault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vault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claves y secretos de cifrado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~$0.03/10K ops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/ Private Endpoint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Link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endpoints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 privado sin exposición a Internet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~$7.30/endpoint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Humanos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 y responsabilidades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Discovery – Propuesta Técnica  |  Confidencial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749040"/>
        </p:xfrm>
        <a:graphic>
          <a:graphicData uri="http://schemas.openxmlformats.org/drawingml/2006/table">
            <a:tbl>
              <a:tblPr/>
              <a:tblGrid>
                <a:gridCol w="1691640"/>
                <a:gridCol w="1737360"/>
                <a:gridCol w="1325880"/>
                <a:gridCol w="2468880"/>
                <a:gridCol w="822960"/>
              </a:tblGrid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Perfil / Certificación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Dedicación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Responsabilidades Clave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Arquitecto Cloud (Lead)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Solutions Architect Expert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– 3 semanas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Diseño de arquitectura, decisiones técnicas, revisión de entregables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Ingeniero de Storage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AZ-104 / AZ-305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– 4 semanas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Aprovisionamiento, configuración de cuentas y políticas de storage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Especialista en Seguridad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SC-900 / AZ-500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– 3 semanas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RBAC, Defender, Key Vault, cumplimiento normativo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Ing. de Datos / Migración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DP-203 / ADF Expert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– 2 semanas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Pipelines de migración, validación de integridad y pruebas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 de Redes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AZ-700 o equivalente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– 1 semana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Configuración de VPN, Private Endpoints y reglas de firewall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/ Coordinador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PMP o Scrum Master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– 4 semanas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Gestión de cronograma, riesgos, comunicación con stakeholders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QA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ISTQB Foundation o equiv.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– 2 semanas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Validación de entregables, pruebas de aceptación y UAT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4, 5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Proyecto – Fases y Cronograma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estimada: 5 semanas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Discovery – Propuesta Técnica  |  Confidencial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8321040" cy="164592"/>
          </a:xfrm>
          <a:prstGeom prst="rect">
            <a:avLst/>
          </a:prstGeom>
          <a:solidFill>
            <a:srgbClr val="D0DFF0"/>
          </a:solidFill>
          <a:ln w="12700">
            <a:solidFill>
              <a:srgbClr val="D0DF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536192"/>
            <a:ext cx="292608" cy="292608"/>
          </a:xfrm>
          <a:prstGeom prst="ellipse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920240"/>
            <a:ext cx="1691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" y="1920240"/>
            <a:ext cx="1691640" cy="502920"/>
          </a:xfrm>
          <a:prstGeom prst="rect">
            <a:avLst/>
          </a:prstGeom>
          <a:solidFill>
            <a:srgbClr val="008080"/>
          </a:solidFill>
          <a:ln w="12700">
            <a:solidFill>
              <a:srgbClr val="0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" y="1920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7784" y="24871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Assessment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7784" y="297180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Inventario, entrevistas, análisis de datos actuales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880360" y="1536192"/>
            <a:ext cx="292608" cy="29260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13432" y="1920240"/>
            <a:ext cx="1691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313432" y="1920240"/>
            <a:ext cx="1691640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86584" y="1920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86584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386584" y="24871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&amp; Aprovisionamiento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86584" y="297180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creación de recursos en Azure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1536192"/>
            <a:ext cx="292608" cy="29260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42232" y="1920240"/>
            <a:ext cx="1691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42232" y="1920240"/>
            <a:ext cx="169164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15384" y="1920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215384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15384" y="24871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Piloto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15384" y="297180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 de datos, pipelines, validación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537960" y="1536192"/>
            <a:ext cx="292608" cy="29260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71032" y="1920240"/>
            <a:ext cx="1691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71032" y="1920240"/>
            <a:ext cx="169164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44184" y="1920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44184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44184" y="24871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&amp; Monitoreo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44184" y="297180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Defender, Monitor, Key Vault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366760" y="1536192"/>
            <a:ext cx="292608" cy="292608"/>
          </a:xfrm>
          <a:prstGeom prst="ellipse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99832" y="1920240"/>
            <a:ext cx="16916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799832" y="1920240"/>
            <a:ext cx="1691640" cy="50292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72984" y="19202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872984" y="2167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872984" y="24871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&amp; Entregables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872984" y="2971800"/>
            <a:ext cx="1600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Documentación, UAT, handoff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y Riesgos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del proyecto y factores de riesgo identificados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Discovery – Propuesta Técnica  |  Confidencial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4114800" cy="365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417320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447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El cliente cuenta con suscripción de Azure activa y con saldo/crédito suficiente.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892808"/>
            <a:ext cx="4114800" cy="429768"/>
          </a:xfrm>
          <a:prstGeom prst="rect">
            <a:avLst/>
          </a:prstGeom>
          <a:solidFill>
            <a:srgbClr val="EAF4FD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202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El presupuesto cubre los costos de Azure correspondientes a 20 GB y servicios asociados.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368296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9572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El personal técnico del cliente está disponible para validaciones y aprobaciones.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843784"/>
            <a:ext cx="4114800" cy="429768"/>
          </a:xfrm>
          <a:prstGeom prst="rect">
            <a:avLst/>
          </a:prstGeom>
          <a:solidFill>
            <a:srgbClr val="EAF4FD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7121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Los datos a migrar han sido previamente clasificados y autorizados para subir a la nube.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3319272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46704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La conectividad de red entre el sitio del cliente y Azure es estable y suficiente.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4114800" cy="429768"/>
          </a:xfrm>
          <a:prstGeom prst="rect">
            <a:avLst/>
          </a:prstGeom>
          <a:solidFill>
            <a:srgbClr val="EAF4FD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El ambiente de desarrollo/prueba quedará separado del de producción.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4270248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F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97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 utilizará la región Azure Mexico Central o East US como región primaria.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IDENTIFICADOS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FFD0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417320"/>
            <a:ext cx="502920" cy="4297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141732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230368" y="143560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no clasificados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748272" y="143560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Realizar taller de clasificación previo al inicio.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663440" y="1892808"/>
            <a:ext cx="4114800" cy="429768"/>
          </a:xfrm>
          <a:prstGeom prst="rect">
            <a:avLst/>
          </a:prstGeom>
          <a:solidFill>
            <a:srgbClr val="FFF5F0"/>
          </a:solidFill>
          <a:ln w="6350">
            <a:solidFill>
              <a:srgbClr val="FFD0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892808"/>
            <a:ext cx="502920" cy="429768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189280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230368" y="19110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 issues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48272" y="191109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Prueba de conectividad en semana 1 y plan alterno.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663440" y="2368296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FFD0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2368296"/>
            <a:ext cx="502920" cy="429768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236829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230368" y="238658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Sobrecosto de storage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748272" y="23865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Alertas de presupuesto en Azure Cost Management.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663440" y="2843784"/>
            <a:ext cx="4114800" cy="429768"/>
          </a:xfrm>
          <a:prstGeom prst="rect">
            <a:avLst/>
          </a:prstGeom>
          <a:solidFill>
            <a:srgbClr val="FFF5F0"/>
          </a:solidFill>
          <a:ln w="6350">
            <a:solidFill>
              <a:srgbClr val="FFD0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2843784"/>
            <a:ext cx="502920" cy="4297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2843784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230368" y="28620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scope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748272" y="28620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Control de cambios formal con CR firmado.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63440" y="3319272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FFD0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0" y="3319272"/>
            <a:ext cx="502920" cy="4297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3319272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230368" y="33375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bloqueado a AD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748272" y="33375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Coordinar permisos con admin de tenant semana 0.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63440" y="3794760"/>
            <a:ext cx="4114800" cy="429768"/>
          </a:xfrm>
          <a:prstGeom prst="rect">
            <a:avLst/>
          </a:prstGeom>
          <a:solidFill>
            <a:srgbClr val="FFF5F0"/>
          </a:solidFill>
          <a:ln w="6350">
            <a:solidFill>
              <a:srgbClr val="FFD0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3794760"/>
            <a:ext cx="502920" cy="4297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63440" y="3794760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30368" y="381304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sin cifrar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748272" y="381304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Validar políticas de cifrado antes de migración.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63440" y="4270248"/>
            <a:ext cx="41148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FFD0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4270248"/>
            <a:ext cx="502920" cy="429768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63440" y="4270248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230368" y="428853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de personal clave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748272" y="4288536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Documentación continua y backup de conocimiento.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del Proyecto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y artefactos que se entregarán al cliente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Storage Discovery – Propuesta Técnica  |  Confidencial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987552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87552"/>
            <a:ext cx="2029968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Discovery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1901952"/>
            <a:ext cx="1920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detallado con inventario de datos, análisis de volumen, clasificación y recomendaciones de arquitectura.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2468880" y="987552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987552"/>
            <a:ext cx="2029968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Fase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32888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Arquitectura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32888" y="1901952"/>
            <a:ext cx="1920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arquitectura Azure con descripción de componentes, flujos de datos y decisiones de diseño.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617720" y="987552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987552"/>
            <a:ext cx="2029968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Fase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1728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de Aprovisionamiento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81728" y="1901952"/>
            <a:ext cx="1920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ARM / Bicep / Terraform para reproducir el ambiente de storage de forma automatizada.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766560" y="987552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987552"/>
            <a:ext cx="2029968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0568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Fase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30568" y="15361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Migración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30568" y="1901952"/>
            <a:ext cx="1920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 migración exitosa: checksums, logs de transferencia y validación de integridad por contenedor.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320040" y="2953512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953512"/>
            <a:ext cx="2029968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2971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Fase 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4048" y="3502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Seguridad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4048" y="3867912"/>
            <a:ext cx="1920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revisión de configuraciones de seguridad, RBAC aplicado y hallazgos de Defender for Storage.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2468880" y="2953512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68880" y="2953512"/>
            <a:ext cx="2029968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32888" y="2971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Fase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532888" y="3502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Monitoreo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532888" y="3867912"/>
            <a:ext cx="1920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Azure Monitor configurado con KPIs: capacidad usada, latencia, transacciones y alertas.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4617720" y="2953512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17720" y="2953512"/>
            <a:ext cx="2029968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81728" y="2971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Fase 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81728" y="3502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Operativo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81728" y="3867912"/>
            <a:ext cx="1920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con procedimientos para gestión, escalamiento, backup y recuperación del ambiente de storage.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6766560" y="2953512"/>
            <a:ext cx="2029968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C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66560" y="2953512"/>
            <a:ext cx="2029968" cy="5029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30568" y="29718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Fase 5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830568" y="35021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de Transferencia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30568" y="3867912"/>
            <a:ext cx="1920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2 horas con el equipo técnico del cliente para transferencia de conocimiento y handoff.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554480"/>
            <a:ext cx="9144000" cy="21031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0"/>
            <a:ext cx="9144000" cy="14859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Azure Storage Discovery?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base sólida para su estrategia de almacenamiento en la nube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inicial controlada y escalable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6974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Sem.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9748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implementación ágil y predecible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7548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cifrados y bajo control de acceso RBAC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12280" y="1691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12280" y="2286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documentados para el equipo del cliente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Revisión y aprobación de esta propuesta   →   2. Firma de acuerdos y NDA   →   3. Kick-off Semana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0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contacto@equipocloud.com  |  +52 55 0000-0000  |  linkedin.com/in/equipocloud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Azure Storage Discovery – 20 GB</dc:title>
  <dc:subject>PptxGenJS Presentation</dc:subject>
  <dc:creator>PptxGenJS</dc:creator>
  <cp:lastModifiedBy>PptxGenJS</cp:lastModifiedBy>
  <cp:revision>1</cp:revision>
  <dcterms:created xsi:type="dcterms:W3CDTF">2026-03-13T03:46:37Z</dcterms:created>
  <dcterms:modified xsi:type="dcterms:W3CDTF">2026-03-13T03:46:37Z</dcterms:modified>
</cp:coreProperties>
</file>